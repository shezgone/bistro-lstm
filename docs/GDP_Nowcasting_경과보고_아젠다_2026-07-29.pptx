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689"/>
  </p:normalViewPr>
  <p:slideViewPr>
    <p:cSldViewPr snapToGrid="0" snapToObjects="1">
      <p:cViewPr varScale="1">
        <p:scale>
          <a:sx n="92" d="100"/>
          <a:sy n="92" d="100"/>
        </p:scale>
        <p:origin x="1512" y="184"/>
      </p:cViewPr>
      <p:guideLst>
        <p:guide orient="horz" pos="2160"/>
        <p:guide pos="2880"/>
      </p:guideLst>
    </p:cSldViewPr>
  </p:slideViewPr>
  <p:notesTextViewPr>
    <p:cViewPr>
      <p:scale>
        <a:sx n="100" d="100"/>
        <a:sy n="100" d="100"/>
      </p:scale>
      <p:origin x="0" y="-10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47139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목적]</a:t>
            </a:r>
          </a:p>
          <a:p>
            <a:r>
              <a:t>협업 시작(2026년 6월) 이후 수행한 모든 검증 작업과, 그 결과 도출된 제안을 공식 아젠다 논의용으로 정리한 자료입니다.</a:t>
            </a:r>
          </a:p>
          <a:p>
            <a:endParaRPr/>
          </a:p>
          <a:p>
            <a:r>
              <a:t>[전체 이야기 구조 — 5부]</a:t>
            </a:r>
          </a:p>
          <a:p>
            <a:r>
              <a:t>1) 검증 체계: 모든 실험에 공통 적용한 '공정한 채점 규칙'을 먼저 정의합니다. 규칙이 같아야 서로 다른 모델의 점수를 비교할 수 있기 때문입니다.</a:t>
            </a:r>
          </a:p>
          <a:p>
            <a:r>
              <a:t>2) 경과 총괄: 지금까지 진행한 4개 작업 트랙(기준선 구축 → 국면 조건부 연구 → 딥러닝 전수 검증 → 예측 불변 부가 레이어)의 흐름과 각 트랙의 결론.</a:t>
            </a:r>
          </a:p>
          <a:p>
            <a:r>
              <a:t>3) 검증 결과: 시도한 모든 모델 구성의 성적표와, 그중 유의미한 발견 2가지(사전학습 딥러닝의 유효성, 상시 결합의 개선).</a:t>
            </a:r>
          </a:p>
          <a:p>
            <a:r>
              <a:t>4) 부가가치 제안: 현행 예측을 전혀 바꾸지 않으면서 가치를 더하는 fan chart(예측구간) 제안.</a:t>
            </a:r>
          </a:p>
          <a:p>
            <a:r>
              <a:t>5) 논의 안건: 한은 측 의사결정이 필요한 항목 목록.</a:t>
            </a:r>
          </a:p>
          <a:p>
            <a:endParaRPr/>
          </a:p>
          <a:p>
            <a:r>
              <a:t>[발표 시 유의]</a:t>
            </a:r>
          </a:p>
          <a:p>
            <a:r>
              <a:t>이 자료의 모든 숫자는 '실시간 재현' 기준입니다. 즉 2020년 3분기를 예측할 때는 2020년 여름에 실제로 존재했던 데이터만 사용해 계산했습니다. 사후에 확정된 데이터로 계산한 점수보다 항상 나쁘게 나오지만, 실제 운영 상황을 정직하게 반영하는 방식입니다.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슬라이드가 왜 첫 장인가]</a:t>
            </a:r>
          </a:p>
          <a:p>
            <a:r>
              <a:t>서로 다른 모델의 점수는 채점 규칙이 같을 때만 비교 가능합니다. 이후 나오는 모든 숫자(0.865, 0.765, 0.746 등)는 전부 이 규칙 하나로 채점한 것입니다.</a:t>
            </a:r>
          </a:p>
          <a:p>
            <a:endParaRPr/>
          </a:p>
          <a:p>
            <a:r>
              <a:t>[용어를 처음 보는 분을 위한 설명]</a:t>
            </a:r>
          </a:p>
          <a:p>
            <a:r>
              <a:t>· 빈티지(vintage): 특정 날짜에 존재했던 데이터 전체의 스냅샷. 경제 통계는 발표 후에도 계속 개정되기 때문에, "2020년 8월 15일의 빈티지"와 "지금 보는 데이터"는 같은 지표라도 값이 다릅니다. 지금 데이터로 과거를 '예측'하면 미래 정보가 몰래 섞여(look-ahead bias) 성능이 부풀려집니다. 그래서 모든 실험은 당시 빈티지만 사용합니다.</a:t>
            </a:r>
          </a:p>
          <a:p>
            <a:r>
              <a:t>· 속보치(flash/advance): 분기가 끝나고 약 4주 뒤 최초로 발표되는 GDP 성장률. 이후 잠정치·확정치로 개정되지만, 나우캐스팅의 실무 목표는 속보치를 미리 맞히는 것이므로 속보치를 정답으로 삼습니다.</a:t>
            </a:r>
          </a:p>
          <a:p>
            <a:r>
              <a:t>· w[-19,-1]: 속보 발표 시점을 0으로 놓고, 19주 전(w=-19)부터 1주 전(w=-1)까지 매주 한 번씩 예측한다는 뜻. 분기 시작 2주 전 + 분기 자체 13주 + 분기 종료 후 발표 대기 4주 = 총 19주.</a:t>
            </a:r>
          </a:p>
          <a:p>
            <a:r>
              <a:t>· RMSE(평균제곱근오차): 오차를 제곱해 평균 낸 뒤 제곱근. 오차 1%p는 벌점 1, 오차 2%p는 벌점 4가 되어 '크게 틀리는 것'에 더 민감한 지표입니다.</a:t>
            </a:r>
          </a:p>
          <a:p>
            <a:endParaRPr/>
          </a:p>
          <a:p>
            <a:r>
              <a:t>[기준선 숫자 읽기]</a:t>
            </a:r>
          </a:p>
          <a:p>
            <a:r>
              <a:t>DFM 단독이 0.865, 여기에 XGBoost 보정을 결합한 현행 구성이 0.765. 즉 현행 시스템은 이미 머신러닝 보정으로 12% 가량 개선되어 있는 상태이고, 우리의 모든 실험은 '0.765보다 나은가'를 묻는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[4개 트랙을 시간 순서로 풀어 쓰면]</a:t>
            </a:r>
          </a:p>
          <a:p>
            <a:r>
              <a:t>T1 (6월 말~7월 초): 먼저 한은의 현행 시스템을 우리 환경에서 그대로 재현하고, 실시간 빈티지 기준으로 채점했습니다. 이게 없으면 "우리 모델이 좋아졌다"는 말 자체가 불가능합니다.</a:t>
            </a:r>
          </a:p>
          <a:p>
            <a:endParaRPr/>
          </a:p>
          <a:p>
            <a:r>
              <a:t>T2 (7월 초~중순): 경기 국면(급변기/안정기/반등기)에 따라 서로 다른 모델을 쓰는 '국면 조건부 결합'을 연구했습니다. 성능 자체는 전체 실험 중 최고(0.718)였으나, 7/9 회의에서 "현재 시점에 국면을 단정하는 것이 맞는가"라는 방법론적 문제 제기가 있었고, 이를 타당한 지적으로 수용해 예측 경로로의 채택은 보류했습니다. 다만 이 연구에서 검증된 부품들 — 반등 국면에서 사전학습 모델이 강하다는 사실, 심리지표 저점 통과 신호 — 은 이후 트랙에서 재사용되고 있습니다.</a:t>
            </a:r>
          </a:p>
          <a:p>
            <a:endParaRPr/>
          </a:p>
          <a:p>
            <a:r>
              <a:t>T3 (7월 중순~하순): "딥러닝으로 GDP 나우캐스팅이 가능한가"를 체계적으로 검증했습니다. 결론은 '방식에 따라 갈린다'입니다. 우리 데이터(월 140개 관측치)로 신경망을 처음부터 학습시키는 방식은 전부 실패했고(과적합), 대규모 외부 시계열로 미리 학습된 모델(파운데이션 모델)을 가져다 쓰는 방식은 유효했습니다. 상세는 5번 슬라이드.</a:t>
            </a:r>
          </a:p>
          <a:p>
            <a:endParaRPr/>
          </a:p>
          <a:p>
            <a:r>
              <a:t>T4 (7월 하순~현재): 전략 전환의 산물입니다. 점 예측의 정확도 경쟁은 32개 분기 표본으로는 통계적 입증이 어렵다는 판단에 따라, 예측값은 건드리지 않고 그 위에 가치를 더하는 레이어(예측구간, 설명 리포트, 개정 예측)로 방향을 잡았습니다.</a:t>
            </a:r>
          </a:p>
          <a:p>
            <a:endParaRPr/>
          </a:p>
          <a:p>
            <a:r>
              <a:t>[인턴을 위한 맥락]</a:t>
            </a:r>
          </a:p>
          <a:p>
            <a:r>
              <a:t>'연구 보류'는 실패가 아닙니다. 성능이 가장 좋았음에도 방법론적 수용성(현재 국면을 실시간으로 단정할 수 있는가)이 확보되지 않으면 운영 시스템에 넣지 않는다는 원칙적 결정입니다.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[막대 하나하나 설명 — 위에서 아래로]</a:t>
            </a:r>
          </a:p>
          <a:p>
            <a:r>
              <a:t>· 국면 조건부 결합 v3 (0.718, 회색): T2 연구의 최종 성능. 회색으로 표시한 이유는 '연구 보류' 상태이기 때문 — 참고용 기록입니다.</a:t>
            </a:r>
          </a:p>
          <a:p>
            <a:r>
              <a:t>· 상시 3자 결합 (0.746, 진한 파랑): DFM, XGBoost, Chronos-2f 세 모델 예측값의 단순 평균. 국면 판단 없이 항상 같은 공식을 쓰는 '상시' 구성 중 유일하게 현행을 넘습니다. 상세는 6번 슬라이드.</a:t>
            </a:r>
          </a:p>
          <a:p>
            <a:r>
              <a:t>· 현행 시스템 (0.765): DFM과 XGBoost 예측의 평균. 우리의 비교 기준선.</a:t>
            </a:r>
          </a:p>
          <a:p>
            <a:r>
              <a:t>· Chronos-2 + 일별신호 (0.808): 아마존이 공개한 사전학습 시계열 모델에 일별 금융지표를 공변량으로 넣은 구성. 우리 데이터로 학습 과정 없이(zero-shot) 이 성능.</a:t>
            </a:r>
          </a:p>
          <a:p>
            <a:r>
              <a:t>· DFM+TabPFN (0.815): 독일 프라이부르크대의 사전학습 표 데이터 모델을 DFM과 결합.</a:t>
            </a:r>
          </a:p>
          <a:p>
            <a:r>
              <a:t>· Chronos-2 기본형 (0.836), TTM few-shot (0.854): 각각 공변량 없는 기본형, IBM의 경량 사전학습 모델을 소량 미세조정한 것.</a:t>
            </a:r>
          </a:p>
          <a:p>
            <a:r>
              <a:t>· DFM 단독 (0.865): 요인모형만 사용한 경우.</a:t>
            </a:r>
          </a:p>
          <a:p>
            <a:endParaRPr/>
          </a:p>
          <a:p>
            <a:r>
              <a:t>[모델 용어 쉬운 설명]</a:t>
            </a:r>
          </a:p>
          <a:p>
            <a:r>
              <a:t>· DFM(동적 요인모형): 34개 경제지표의 공통 움직임을 소수의 '요인'으로 압축해 월별 GDP를 추정하는 전통 계량모형. 현행 시스템의 중심.</a:t>
            </a:r>
          </a:p>
          <a:p>
            <a:r>
              <a:t>· XGBoost: 의사결정나무 기반 머신러닝. DFM의 추정치를 입력받아 비선형 패턴을 보정.</a:t>
            </a:r>
          </a:p>
          <a:p>
            <a:r>
              <a:t>· 사전학습(pre-trained) 모델: 남의 데이터(전 세계 수백만 개 시계열)로 미리 학습을 끝낸 모델. 우리 데이터에는 학습 없이 적용(zero-shot)하거나 소량만 추가 학습(few-shot).</a:t>
            </a:r>
          </a:p>
          <a:p>
            <a:endParaRPr/>
          </a:p>
          <a:p>
            <a:r>
              <a:t>[막대에 없는 것들]</a:t>
            </a:r>
          </a:p>
          <a:p>
            <a:r>
              <a:t>LSTM, Neural CDE 등 우리 데이터로 직접 학습시킨 신경망 4종은 전부 0.87~1.1로 현행에 크게 미달해 차트에서 제외했습니다. 월 단위 140개 관측치는 신경망을 처음부터 학습시키기에 절대적으로 부족하다는 것이 일관된 결론입니다.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슬라이드의 핵심 주장]</a:t>
            </a:r>
          </a:p>
          <a:p>
            <a:r>
              <a:t>"딥러닝이 되느냐"가 아니라 "어떤 방식의 딥러닝이 되느냐"가 올바른 질문이었습니다. 답은: 우리 데이터로 처음부터 학습(from scratch)은 실패, 사전학습 모델의 활용은 성공.</a:t>
            </a:r>
          </a:p>
          <a:p>
            <a:endParaRPr/>
          </a:p>
          <a:p>
            <a:r>
              <a:t>[왜 직접학습은 실패하는가]</a:t>
            </a:r>
          </a:p>
          <a:p>
            <a:r>
              <a:t>GDP 나우캐스팅의 학습 데이터는 월 단위 약 140개 행(12년치)입니다. 수백만 개 파라미터를 가진 신경망이 140개 사례에서 일반 규칙을 배우는 것은 원리적으로 어렵고, 실제로 LSTM 계열·Neural CDE·오토인코더 요인모형 등 시도한 모든 직접학습 구성이 현행보다 나빴습니다.</a:t>
            </a:r>
          </a:p>
          <a:p>
            <a:endParaRPr/>
          </a:p>
          <a:p>
            <a:r>
              <a:t>[사전학습 모델이란 — 비유]</a:t>
            </a:r>
          </a:p>
          <a:p>
            <a:r>
              <a:t>바둑을 책 한 권(우리 데이터)으로 배운 사람과, 전 세계 기보 수백만 판을 먼저 공부하고 온 사람의 차이입니다. Chronos-2(아마존, 2025년 공개)는 전 세계 다양한 시계열 수백만 개로 미리 학습되어, 처음 보는 한국 GDP 시계열에도 '시계열의 일반 문법'을 적용할 수 있습니다. 우리 데이터로는 학습을 전혀 하지 않고 예측만 시켰는데(zero-shot) 0.836이 나왔습니다.</a:t>
            </a:r>
          </a:p>
          <a:p>
            <a:endParaRPr/>
          </a:p>
          <a:p>
            <a:r>
              <a:t>[일별 신호(빠른 신호)란]</a:t>
            </a:r>
          </a:p>
          <a:p>
            <a:r>
              <a:t>공식 경제지표는 해당 월이 끝나고 1~2개월 뒤에 발표되지만, 주가와 환율은 당일 확정되고 이후 절대 수정되지 않습니다(무개정). 그래서 실시간 재현 검증에서도 미래 정보 유출 걱정 없이 쓸 수 있습니다. Chronos-2에 일별 KOSPI·원달러 수익률과 ESI 원지수를 보조 입력(공변량)으로 넣자 0.836→0.808로 개선됐습니다.</a:t>
            </a:r>
          </a:p>
          <a:p>
            <a:endParaRPr/>
          </a:p>
          <a:p>
            <a:r>
              <a:t>[오른쪽 차트 읽기 — 2020년 사례]</a:t>
            </a:r>
          </a:p>
          <a:p>
            <a:r>
              <a:t>위 패널: KOSPI 월간 수익률. 3월 -12% 폭락 후 4월 +11%로 반전, 이후 4개월 연속 상승. 아래 패널: 경제심리지수(ESI)는 4월 55.7로 바닥, 여름까지도 70선. 즉 금융시장은 4월부터 회복을 가격에 반영했지만 공식 심리지표는 반 박자 늦었습니다. 2020년 3분기 실제 성장률은 +1.9%(V자 반등)였는데, 일별 신호를 본 모델이 이 반등을 더 일찍 감지했습니다. 하단 각주처럼 이런 반등 분기 6개 평균에서 사전학습+일별신호 구성이 DFM을 처음으로 앞섰습니다.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[한 문장 요약]</a:t>
            </a:r>
          </a:p>
          <a:p>
            <a:r>
              <a:t>세 모델 예측값의 단순 평균이라는 가장 단순한 방법이, 국면 판단 없이 현행 대비 2.5% 개선을 보였습니다.</a:t>
            </a:r>
          </a:p>
          <a:p>
            <a:endParaRPr/>
          </a:p>
          <a:p>
            <a:r>
              <a:t>[구성 방법 — 그대로 재현 가능한 수준으로]</a:t>
            </a:r>
          </a:p>
          <a:p>
            <a:r>
              <a:t>매주 예측 시점마다 ① 현행 DFM 예측값 ② 현행 XGBoost 예측값 ③ Chronos-2f(사전학습 모델 + 일별 신호) 예측값을 구하고, 세 숫자를 그냥 평균 냅니다. 가중치도, 국면 판단도, 추가 학습도 없습니다.</a:t>
            </a:r>
          </a:p>
          <a:p>
            <a:endParaRPr/>
          </a:p>
          <a:p>
            <a:r>
              <a:t>[왼쪽 점검표를 하나씩]</a:t>
            </a:r>
          </a:p>
          <a:p>
            <a:r>
              <a:t>· 분기별 승패 20/32: 개선이 특정 시기(예: 코로나)에 몰려 있지 않고 2018·2019·2023 같은 평상시에도 나타납니다. 평균의 착시가 아니라는 뜻.</a:t>
            </a:r>
          </a:p>
          <a:p>
            <a:r>
              <a:t>· 가중치 민감도: "세 번째 모델을 30%만 섞든 70%를 섞든" 전부 현행보다 좋았습니다. 우리가 운 좋은 가중치 하나를 골라낸 게 아니라, 결합 자체가 이득이라는 증거입니다.</a:t>
            </a:r>
          </a:p>
          <a:p>
            <a:r>
              <a:t>· 반등 분기: 6번 슬라이드의 반등 국면 강점이 결합에도 그대로 이전됩니다.</a:t>
            </a:r>
          </a:p>
          <a:p>
            <a:r>
              <a:t>· 통계적 유의성 p=0.37: Diebold-Mariano 검정은 "두 모델의 오차 차이가 우연일 확률"을 계산합니다. p=0.37은 우연일 가능성을 배제할 수 없다는 뜻입니다. 다만 이는 개선폭이 작아서라기보다 표본이 32개 분기뿐이어서입니다 — 이 표본에서는 6% 개선도 유의성이 나오지 않는다는 것을 별도 검정력 분석으로 확인했습니다. 그래서 '비열등 확인 + 개선 방향'이라는 정직한 수위로 보고드립니다.</a:t>
            </a:r>
          </a:p>
          <a:p>
            <a:endParaRPr/>
          </a:p>
          <a:p>
            <a:r>
              <a:t>[오른쪽 아래 상자 — 부수 확인 사항]</a:t>
            </a:r>
          </a:p>
          <a:p>
            <a:r>
              <a:t>① 더 많은 모델을 섞거나(4자·5자), 과거 성적에 따라 가중치를 자동 조절하는 방식은 전부 단순 균등 3자보다 나빴습니다. 표본이 작을 때는 정교함이 오히려 과적합을 부릅니다.</a:t>
            </a:r>
          </a:p>
          <a:p>
            <a:r>
              <a:t>② 한은 빈티지 파일의 73개 지표 중 현행 스펙에 없는 39개를 전부 검정한 결과, 현행 34종이 이미 담지 못한 유의한 정보는 없었습니다. 즉 현행 지표 선정은 통계적으로도 타당했습니다. 유일한 보완 여지가 '일별 주기의 빠른 신호'였고, 그것이 Chronos-2f에 들어간 KOSPI·원달러·ESI 원지수입니다.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제안의 철학]</a:t>
            </a:r>
          </a:p>
          <a:p>
            <a:r>
              <a:t>현행 시스템의 점 예측(한 개의 숫자)은 한 글자도 바꾸지 않습니다. 그 위에 "이 예측이 얼마나 확실한가"를 나타내는 구간을 얹는 것이 전부입니다. 영란은행(BoE) Inflation Report의 fan chart와 같은 커뮤니케이션 형식입니다.</a:t>
            </a:r>
          </a:p>
          <a:p>
            <a:endParaRPr/>
          </a:p>
          <a:p>
            <a:r>
              <a:t>[컨포멀 예측이란 — 쉬운 설명]</a:t>
            </a:r>
          </a:p>
          <a:p>
            <a:r>
              <a:t>"이 시스템이 과거에 비슷한 시점(예: 발표 16주 전)에 냈던 예측들이 실제와 얼마나 벌어졌었는지"를 모아, 그 오차들의 경험적 분포에서 구간을 만듭니다. 예를 들어 과거 오차의 10%~90% 분위수가 [-1.2, +0.9]였다면, 이번 점 예측에 그 폭을 그대로 얹어 80% 구간으로 제시합니다. 정규분포 같은 가정이 전혀 없고, 방법이 단순해 설명과 검증이 쉽습니다.</a:t>
            </a:r>
          </a:p>
          <a:p>
            <a:endParaRPr/>
          </a:p>
          <a:p>
            <a:r>
              <a:t>[구간의 성질]</a:t>
            </a:r>
          </a:p>
          <a:p>
            <a:r>
              <a:t>· 전망주차별 차등: 발표 19주 전에는 정보가 적어 구간이 넓고, 발표 직전에는 좁아집니다. "확신의 정도"가 주차마다 수치로 표현됩니다.</a:t>
            </a:r>
          </a:p>
          <a:p>
            <a:r>
              <a:t>· release-safe: 어떤 분기의 구간을 계산할 때, 그 시점에 아직 속보가 발표되지 않은 분기의 오차는 쓰지 않습니다. 백테스트에 미래 정보가 새는 것을 원천 차단.</a:t>
            </a:r>
          </a:p>
          <a:p>
            <a:r>
              <a:t>· 조기 주차 하이브리드: 발표 19~14주 전 구간만은 사전학습 모델(Chronos-2f)의 예측 분포를 같은 컨포멀 방식으로 보정해 씁니다. 이는 '전망 시계(얼마나 먼 미래인가)에 따른 조건화'로, 국면 판단과는 무관한 예측 실무의 표준 관행입니다.</a:t>
            </a:r>
          </a:p>
          <a:p>
            <a:endParaRPr/>
          </a:p>
          <a:p>
            <a:r>
              <a:t>[검증 숫자 읽기]</a:t>
            </a:r>
          </a:p>
          <a:p>
            <a:r>
              <a:t>· 커버리지 81%: "80% 구간"이라고 주장한 구간에 실제 속보치가 81% 들어왔다는 뜻 — 주장과 실측이 일치하면 잘 보정된(calibrated) 구간입니다. 코로나 3개 분기를 제외하면 87%.</a:t>
            </a:r>
          </a:p>
          <a:p>
            <a:r>
              <a:t>· Winkler 점수: 구간의 품질 지표로, 구간이 좁을수록 좋지만 실제값이 구간을 벗어나면 큰 벌점을 받습니다. 딥러닝 하이브리드가 현행 오차만으로 만든 구간보다 5.5% 우수했습니다.</a:t>
            </a:r>
          </a:p>
          <a:p>
            <a:endParaRPr/>
          </a:p>
          <a:p>
            <a:r>
              <a:t>[오른쪽 그림]</a:t>
            </a:r>
          </a:p>
          <a:p>
            <a:r>
              <a:t>2025년 2분기(반등기)와 3분기(안정기)를 실시간 재현한 fan chart입니다. 진한 띠가 50% 구간, 옅은 띠가 80% 구간, 점선이 이후 발표된 실제 속보치. 반등 국면에서도 구간이 리스크를 사전에 포괄했음을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r>
            <a:r>
              <a:rPr dirty="0" err="1"/>
              <a:t>안건별</a:t>
            </a:r>
            <a:r>
              <a:rPr dirty="0"/>
              <a:t> </a:t>
            </a:r>
            <a:r>
              <a:rPr dirty="0" err="1"/>
              <a:t>배경</a:t>
            </a:r>
            <a:r>
              <a:rPr dirty="0"/>
              <a:t> </a:t>
            </a:r>
            <a:r>
              <a:rPr dirty="0" err="1"/>
              <a:t>설명</a:t>
            </a:r>
            <a:r>
              <a:rPr dirty="0"/>
              <a:t>]</a:t>
            </a:r>
          </a:p>
          <a:p>
            <a:endParaRPr dirty="0"/>
          </a:p>
          <a:p>
            <a:r>
              <a:rPr dirty="0"/>
              <a:t>A1. Fan chart </a:t>
            </a:r>
            <a:r>
              <a:rPr dirty="0" err="1"/>
              <a:t>시범</a:t>
            </a:r>
            <a:r>
              <a:rPr dirty="0"/>
              <a:t> </a:t>
            </a:r>
            <a:r>
              <a:rPr dirty="0" err="1"/>
              <a:t>도입</a:t>
            </a:r>
            <a:r>
              <a:rPr dirty="0"/>
              <a:t> (</a:t>
            </a:r>
            <a:r>
              <a:rPr dirty="0" err="1"/>
              <a:t>결정</a:t>
            </a:r>
            <a:r>
              <a:rPr dirty="0"/>
              <a:t> </a:t>
            </a:r>
            <a:r>
              <a:rPr dirty="0" err="1"/>
              <a:t>요청</a:t>
            </a:r>
            <a:r>
              <a:rPr dirty="0"/>
              <a:t>)</a:t>
            </a:r>
          </a:p>
          <a:p>
            <a:r>
              <a:rPr dirty="0"/>
              <a:t>7번 </a:t>
            </a:r>
            <a:r>
              <a:rPr dirty="0" err="1"/>
              <a:t>슬라이드에서</a:t>
            </a:r>
            <a:r>
              <a:rPr dirty="0"/>
              <a:t> </a:t>
            </a:r>
            <a:r>
              <a:rPr dirty="0" err="1"/>
              <a:t>설명한</a:t>
            </a:r>
            <a:r>
              <a:rPr dirty="0"/>
              <a:t> </a:t>
            </a:r>
            <a:r>
              <a:rPr dirty="0" err="1"/>
              <a:t>예측구간입니다</a:t>
            </a:r>
            <a:r>
              <a:rPr dirty="0"/>
              <a:t>. </a:t>
            </a:r>
            <a:r>
              <a:rPr dirty="0" err="1"/>
              <a:t>검증이</a:t>
            </a:r>
            <a:r>
              <a:rPr dirty="0"/>
              <a:t> </a:t>
            </a:r>
            <a:r>
              <a:rPr dirty="0" err="1"/>
              <a:t>완료되어</a:t>
            </a:r>
            <a:r>
              <a:rPr dirty="0"/>
              <a:t> </a:t>
            </a:r>
            <a:r>
              <a:rPr dirty="0" err="1"/>
              <a:t>있고</a:t>
            </a:r>
            <a:r>
              <a:rPr dirty="0"/>
              <a:t>, </a:t>
            </a:r>
            <a:r>
              <a:rPr dirty="0" err="1"/>
              <a:t>기존</a:t>
            </a:r>
            <a:r>
              <a:rPr dirty="0"/>
              <a:t> </a:t>
            </a:r>
            <a:r>
              <a:rPr dirty="0" err="1"/>
              <a:t>시스템</a:t>
            </a:r>
            <a:r>
              <a:rPr dirty="0"/>
              <a:t> </a:t>
            </a:r>
            <a:r>
              <a:rPr dirty="0" err="1"/>
              <a:t>수정이</a:t>
            </a:r>
            <a:r>
              <a:rPr dirty="0"/>
              <a:t> </a:t>
            </a:r>
            <a:r>
              <a:rPr dirty="0" err="1"/>
              <a:t>전혀</a:t>
            </a:r>
            <a:r>
              <a:rPr dirty="0"/>
              <a:t> </a:t>
            </a:r>
            <a:r>
              <a:rPr dirty="0" err="1"/>
              <a:t>없으며</a:t>
            </a:r>
            <a:r>
              <a:rPr dirty="0"/>
              <a:t>, </a:t>
            </a:r>
            <a:r>
              <a:rPr dirty="0" err="1"/>
              <a:t>주간</a:t>
            </a:r>
            <a:r>
              <a:rPr dirty="0"/>
              <a:t> </a:t>
            </a:r>
            <a:r>
              <a:rPr dirty="0" err="1"/>
              <a:t>보고서에</a:t>
            </a:r>
            <a:r>
              <a:rPr dirty="0"/>
              <a:t> </a:t>
            </a:r>
            <a:r>
              <a:rPr dirty="0" err="1"/>
              <a:t>그림</a:t>
            </a:r>
            <a:r>
              <a:rPr dirty="0"/>
              <a:t> 1장을 </a:t>
            </a:r>
            <a:r>
              <a:rPr dirty="0" err="1"/>
              <a:t>추가하는</a:t>
            </a:r>
            <a:r>
              <a:rPr dirty="0"/>
              <a:t> </a:t>
            </a:r>
            <a:r>
              <a:rPr dirty="0" err="1"/>
              <a:t>형태라</a:t>
            </a:r>
            <a:r>
              <a:rPr dirty="0"/>
              <a:t> </a:t>
            </a:r>
            <a:r>
              <a:rPr dirty="0" err="1"/>
              <a:t>도입</a:t>
            </a:r>
            <a:r>
              <a:rPr dirty="0"/>
              <a:t> </a:t>
            </a:r>
            <a:r>
              <a:rPr dirty="0" err="1"/>
              <a:t>부담이</a:t>
            </a:r>
            <a:r>
              <a:rPr dirty="0"/>
              <a:t> </a:t>
            </a:r>
            <a:r>
              <a:rPr dirty="0" err="1"/>
              <a:t>가장</a:t>
            </a:r>
            <a:r>
              <a:rPr dirty="0"/>
              <a:t> </a:t>
            </a:r>
            <a:r>
              <a:rPr dirty="0" err="1"/>
              <a:t>작습니다</a:t>
            </a:r>
            <a:r>
              <a:rPr dirty="0"/>
              <a:t>. </a:t>
            </a:r>
            <a:r>
              <a:rPr dirty="0" err="1"/>
              <a:t>이번</a:t>
            </a:r>
            <a:r>
              <a:rPr dirty="0"/>
              <a:t> </a:t>
            </a:r>
            <a:r>
              <a:rPr dirty="0" err="1"/>
              <a:t>회의에서</a:t>
            </a:r>
            <a:r>
              <a:rPr dirty="0"/>
              <a:t> </a:t>
            </a:r>
            <a:r>
              <a:rPr dirty="0" err="1"/>
              <a:t>도입</a:t>
            </a:r>
            <a:r>
              <a:rPr dirty="0"/>
              <a:t> </a:t>
            </a:r>
            <a:r>
              <a:rPr dirty="0" err="1"/>
              <a:t>여부와</a:t>
            </a:r>
            <a:r>
              <a:rPr dirty="0"/>
              <a:t> </a:t>
            </a:r>
            <a:r>
              <a:rPr dirty="0" err="1"/>
              <a:t>형식</a:t>
            </a:r>
            <a:r>
              <a:rPr dirty="0"/>
              <a:t>(</a:t>
            </a:r>
            <a:r>
              <a:rPr dirty="0" err="1"/>
              <a:t>그림</a:t>
            </a:r>
            <a:r>
              <a:rPr dirty="0"/>
              <a:t> </a:t>
            </a:r>
            <a:r>
              <a:rPr dirty="0" err="1"/>
              <a:t>양식</a:t>
            </a:r>
            <a:r>
              <a:rPr dirty="0"/>
              <a:t>, </a:t>
            </a:r>
            <a:r>
              <a:rPr dirty="0" err="1"/>
              <a:t>시범</a:t>
            </a:r>
            <a:r>
              <a:rPr dirty="0"/>
              <a:t> </a:t>
            </a:r>
            <a:r>
              <a:rPr dirty="0" err="1"/>
              <a:t>운영</a:t>
            </a:r>
            <a:r>
              <a:rPr dirty="0"/>
              <a:t> </a:t>
            </a:r>
            <a:r>
              <a:rPr dirty="0" err="1"/>
              <a:t>기간</a:t>
            </a:r>
            <a:r>
              <a:rPr dirty="0"/>
              <a:t>)</a:t>
            </a:r>
            <a:r>
              <a:rPr dirty="0" err="1"/>
              <a:t>을</a:t>
            </a:r>
            <a:r>
              <a:rPr dirty="0"/>
              <a:t> </a:t>
            </a:r>
            <a:r>
              <a:rPr dirty="0" err="1"/>
              <a:t>결정할</a:t>
            </a:r>
            <a:r>
              <a:rPr dirty="0"/>
              <a:t> </a:t>
            </a:r>
            <a:r>
              <a:rPr dirty="0" err="1"/>
              <a:t>수</a:t>
            </a:r>
            <a:r>
              <a:rPr dirty="0"/>
              <a:t> </a:t>
            </a:r>
            <a:r>
              <a:rPr dirty="0" err="1"/>
              <a:t>있으면</a:t>
            </a:r>
            <a:r>
              <a:rPr dirty="0"/>
              <a:t> </a:t>
            </a:r>
            <a:r>
              <a:rPr dirty="0" err="1"/>
              <a:t>다음</a:t>
            </a:r>
            <a:r>
              <a:rPr dirty="0"/>
              <a:t> </a:t>
            </a:r>
            <a:r>
              <a:rPr dirty="0" err="1"/>
              <a:t>보고</a:t>
            </a:r>
            <a:r>
              <a:rPr dirty="0"/>
              <a:t> </a:t>
            </a:r>
            <a:r>
              <a:rPr dirty="0" err="1"/>
              <a:t>주기부터</a:t>
            </a:r>
            <a:r>
              <a:rPr dirty="0"/>
              <a:t> </a:t>
            </a:r>
            <a:r>
              <a:rPr dirty="0" err="1"/>
              <a:t>적용</a:t>
            </a:r>
            <a:r>
              <a:rPr dirty="0"/>
              <a:t> </a:t>
            </a:r>
            <a:r>
              <a:rPr dirty="0" err="1"/>
              <a:t>가능합니다</a:t>
            </a:r>
            <a:r>
              <a:rPr dirty="0"/>
              <a:t>.</a:t>
            </a:r>
          </a:p>
          <a:p>
            <a:endParaRPr dirty="0"/>
          </a:p>
          <a:p>
            <a:r>
              <a:rPr dirty="0"/>
              <a:t>A2. </a:t>
            </a:r>
            <a:r>
              <a:rPr dirty="0" err="1"/>
              <a:t>상시</a:t>
            </a:r>
            <a:r>
              <a:rPr dirty="0"/>
              <a:t> 3자 </a:t>
            </a:r>
            <a:r>
              <a:rPr dirty="0" err="1"/>
              <a:t>결합의</a:t>
            </a:r>
            <a:r>
              <a:rPr dirty="0"/>
              <a:t> </a:t>
            </a:r>
            <a:r>
              <a:rPr dirty="0" err="1"/>
              <a:t>병행</a:t>
            </a:r>
            <a:r>
              <a:rPr dirty="0"/>
              <a:t> </a:t>
            </a:r>
            <a:r>
              <a:rPr dirty="0" err="1"/>
              <a:t>산출</a:t>
            </a:r>
            <a:r>
              <a:rPr dirty="0"/>
              <a:t> (</a:t>
            </a:r>
            <a:r>
              <a:rPr dirty="0" err="1"/>
              <a:t>의견</a:t>
            </a:r>
            <a:r>
              <a:rPr dirty="0"/>
              <a:t> </a:t>
            </a:r>
            <a:r>
              <a:rPr dirty="0" err="1"/>
              <a:t>요청</a:t>
            </a:r>
            <a:r>
              <a:t>)</a:t>
            </a:r>
          </a:p>
          <a:p>
            <a:r>
              <a:rPr dirty="0"/>
              <a:t>6번 </a:t>
            </a:r>
            <a:r>
              <a:rPr dirty="0" err="1"/>
              <a:t>슬라이드의</a:t>
            </a:r>
            <a:r>
              <a:rPr dirty="0"/>
              <a:t> </a:t>
            </a:r>
            <a:r>
              <a:rPr dirty="0" err="1"/>
              <a:t>결과입니다</a:t>
            </a:r>
            <a:r>
              <a:rPr dirty="0"/>
              <a:t>. </a:t>
            </a:r>
            <a:r>
              <a:rPr dirty="0" err="1"/>
              <a:t>통계적</a:t>
            </a:r>
            <a:r>
              <a:rPr dirty="0"/>
              <a:t> </a:t>
            </a:r>
            <a:r>
              <a:rPr dirty="0" err="1"/>
              <a:t>유의성이</a:t>
            </a:r>
            <a:r>
              <a:rPr dirty="0"/>
              <a:t> </a:t>
            </a:r>
            <a:r>
              <a:rPr dirty="0" err="1"/>
              <a:t>표본</a:t>
            </a:r>
            <a:r>
              <a:rPr dirty="0"/>
              <a:t> </a:t>
            </a:r>
            <a:r>
              <a:rPr dirty="0" err="1"/>
              <a:t>한계로</a:t>
            </a:r>
            <a:r>
              <a:rPr dirty="0"/>
              <a:t> </a:t>
            </a:r>
            <a:r>
              <a:rPr dirty="0" err="1"/>
              <a:t>확보되지</a:t>
            </a:r>
            <a:r>
              <a:rPr dirty="0"/>
              <a:t> </a:t>
            </a:r>
            <a:r>
              <a:rPr dirty="0" err="1"/>
              <a:t>않았으므로</a:t>
            </a:r>
            <a:r>
              <a:rPr dirty="0"/>
              <a:t> '</a:t>
            </a:r>
            <a:r>
              <a:rPr dirty="0" err="1"/>
              <a:t>현행</a:t>
            </a:r>
            <a:r>
              <a:rPr dirty="0"/>
              <a:t> </a:t>
            </a:r>
            <a:r>
              <a:rPr dirty="0" err="1"/>
              <a:t>교체'를</a:t>
            </a:r>
            <a:r>
              <a:rPr dirty="0"/>
              <a:t> </a:t>
            </a:r>
            <a:r>
              <a:rPr dirty="0" err="1"/>
              <a:t>제안하는</a:t>
            </a:r>
            <a:r>
              <a:rPr dirty="0"/>
              <a:t> </a:t>
            </a:r>
            <a:r>
              <a:rPr dirty="0" err="1"/>
              <a:t>것이</a:t>
            </a:r>
            <a:r>
              <a:rPr dirty="0"/>
              <a:t> </a:t>
            </a:r>
            <a:r>
              <a:rPr dirty="0" err="1"/>
              <a:t>아니라</a:t>
            </a:r>
            <a:r>
              <a:rPr dirty="0"/>
              <a:t>, </a:t>
            </a:r>
            <a:r>
              <a:rPr dirty="0" err="1"/>
              <a:t>현행과</a:t>
            </a:r>
            <a:r>
              <a:rPr dirty="0"/>
              <a:t> </a:t>
            </a:r>
            <a:r>
              <a:rPr dirty="0" err="1"/>
              <a:t>나란히</a:t>
            </a:r>
            <a:r>
              <a:rPr dirty="0"/>
              <a:t> </a:t>
            </a:r>
            <a:r>
              <a:rPr dirty="0" err="1"/>
              <a:t>산출해</a:t>
            </a:r>
            <a:r>
              <a:rPr dirty="0"/>
              <a:t> </a:t>
            </a:r>
            <a:r>
              <a:rPr dirty="0" err="1"/>
              <a:t>실전</a:t>
            </a:r>
            <a:r>
              <a:rPr dirty="0"/>
              <a:t> </a:t>
            </a:r>
            <a:r>
              <a:rPr dirty="0" err="1"/>
              <a:t>데이터를</a:t>
            </a:r>
            <a:r>
              <a:rPr dirty="0"/>
              <a:t> </a:t>
            </a:r>
            <a:r>
              <a:rPr dirty="0" err="1"/>
              <a:t>축적하면서</a:t>
            </a:r>
            <a:r>
              <a:rPr dirty="0"/>
              <a:t> </a:t>
            </a:r>
            <a:r>
              <a:rPr dirty="0" err="1"/>
              <a:t>비교하는</a:t>
            </a:r>
            <a:r>
              <a:rPr dirty="0"/>
              <a:t> </a:t>
            </a:r>
            <a:r>
              <a:rPr dirty="0" err="1"/>
              <a:t>병행</a:t>
            </a:r>
            <a:r>
              <a:rPr dirty="0"/>
              <a:t> </a:t>
            </a:r>
            <a:r>
              <a:rPr dirty="0" err="1"/>
              <a:t>운영을</a:t>
            </a:r>
            <a:r>
              <a:rPr dirty="0"/>
              <a:t> </a:t>
            </a:r>
            <a:r>
              <a:rPr dirty="0" err="1"/>
              <a:t>여쭙는</a:t>
            </a:r>
            <a:r>
              <a:rPr dirty="0"/>
              <a:t> </a:t>
            </a:r>
            <a:r>
              <a:rPr dirty="0" err="1"/>
              <a:t>것입니다</a:t>
            </a:r>
            <a:r>
              <a:rPr dirty="0"/>
              <a:t>. </a:t>
            </a:r>
            <a:r>
              <a:rPr dirty="0" err="1"/>
              <a:t>병행</a:t>
            </a:r>
            <a:r>
              <a:rPr dirty="0"/>
              <a:t> </a:t>
            </a:r>
            <a:r>
              <a:rPr dirty="0" err="1"/>
              <a:t>산출이면</a:t>
            </a:r>
            <a:r>
              <a:rPr dirty="0"/>
              <a:t> </a:t>
            </a:r>
            <a:r>
              <a:rPr dirty="0" err="1"/>
              <a:t>현행</a:t>
            </a:r>
            <a:r>
              <a:rPr dirty="0"/>
              <a:t> </a:t>
            </a:r>
            <a:r>
              <a:rPr dirty="0" err="1"/>
              <a:t>보고</a:t>
            </a:r>
            <a:r>
              <a:rPr dirty="0"/>
              <a:t> </a:t>
            </a:r>
            <a:r>
              <a:rPr dirty="0" err="1"/>
              <a:t>체계에</a:t>
            </a:r>
            <a:r>
              <a:rPr dirty="0"/>
              <a:t> </a:t>
            </a:r>
            <a:r>
              <a:rPr dirty="0" err="1"/>
              <a:t>영향이</a:t>
            </a:r>
            <a:r>
              <a:rPr dirty="0"/>
              <a:t> </a:t>
            </a:r>
            <a:r>
              <a:rPr dirty="0" err="1"/>
              <a:t>없습니다</a:t>
            </a:r>
            <a:r>
              <a:rPr dirty="0"/>
              <a:t>.</a:t>
            </a:r>
          </a:p>
          <a:p>
            <a:endParaRPr dirty="0"/>
          </a:p>
          <a:p>
            <a:r>
              <a:rPr dirty="0"/>
              <a:t>A3. </a:t>
            </a:r>
            <a:r>
              <a:rPr dirty="0" err="1"/>
              <a:t>전망변동</a:t>
            </a:r>
            <a:r>
              <a:rPr dirty="0"/>
              <a:t> </a:t>
            </a:r>
            <a:r>
              <a:rPr dirty="0" err="1"/>
              <a:t>자동</a:t>
            </a:r>
            <a:r>
              <a:rPr dirty="0"/>
              <a:t> </a:t>
            </a:r>
            <a:r>
              <a:rPr dirty="0" err="1"/>
              <a:t>설명</a:t>
            </a:r>
            <a:r>
              <a:rPr dirty="0"/>
              <a:t> </a:t>
            </a:r>
            <a:r>
              <a:rPr dirty="0" err="1"/>
              <a:t>리포트</a:t>
            </a:r>
            <a:r>
              <a:rPr dirty="0"/>
              <a:t> (</a:t>
            </a:r>
            <a:r>
              <a:rPr dirty="0" err="1"/>
              <a:t>차기</a:t>
            </a:r>
            <a:r>
              <a:rPr dirty="0"/>
              <a:t> </a:t>
            </a:r>
            <a:r>
              <a:rPr dirty="0" err="1"/>
              <a:t>시연</a:t>
            </a:r>
            <a:r>
              <a:rPr dirty="0"/>
              <a:t>)</a:t>
            </a:r>
          </a:p>
          <a:p>
            <a:r>
              <a:rPr dirty="0"/>
              <a:t>"</a:t>
            </a:r>
            <a:r>
              <a:rPr dirty="0" err="1"/>
              <a:t>이번</a:t>
            </a:r>
            <a:r>
              <a:rPr dirty="0"/>
              <a:t> </a:t>
            </a:r>
            <a:r>
              <a:rPr dirty="0" err="1"/>
              <a:t>주</a:t>
            </a:r>
            <a:r>
              <a:rPr dirty="0"/>
              <a:t> </a:t>
            </a:r>
            <a:r>
              <a:rPr dirty="0" err="1"/>
              <a:t>나우캐스트가</a:t>
            </a:r>
            <a:r>
              <a:rPr dirty="0"/>
              <a:t> </a:t>
            </a:r>
            <a:r>
              <a:rPr dirty="0" err="1"/>
              <a:t>지난주보다</a:t>
            </a:r>
            <a:r>
              <a:rPr dirty="0"/>
              <a:t> 0.2%p </a:t>
            </a:r>
            <a:r>
              <a:rPr dirty="0" err="1"/>
              <a:t>내려간</a:t>
            </a:r>
            <a:r>
              <a:rPr dirty="0"/>
              <a:t> </a:t>
            </a:r>
            <a:r>
              <a:rPr dirty="0" err="1"/>
              <a:t>이유는</a:t>
            </a:r>
            <a:r>
              <a:rPr dirty="0"/>
              <a:t> </a:t>
            </a:r>
            <a:r>
              <a:rPr dirty="0" err="1"/>
              <a:t>무엇인가"를</a:t>
            </a:r>
            <a:r>
              <a:rPr dirty="0"/>
              <a:t> </a:t>
            </a:r>
            <a:r>
              <a:rPr dirty="0" err="1"/>
              <a:t>자동으로</a:t>
            </a:r>
            <a:r>
              <a:rPr dirty="0"/>
              <a:t> </a:t>
            </a:r>
            <a:r>
              <a:rPr dirty="0" err="1"/>
              <a:t>서술하는</a:t>
            </a:r>
            <a:r>
              <a:rPr dirty="0"/>
              <a:t> </a:t>
            </a:r>
            <a:r>
              <a:rPr dirty="0" err="1"/>
              <a:t>리포트입니다</a:t>
            </a:r>
            <a:r>
              <a:rPr dirty="0"/>
              <a:t>. </a:t>
            </a:r>
            <a:r>
              <a:rPr dirty="0" err="1"/>
              <a:t>예측값</a:t>
            </a:r>
            <a:r>
              <a:rPr dirty="0"/>
              <a:t> </a:t>
            </a:r>
            <a:r>
              <a:rPr dirty="0" err="1"/>
              <a:t>자체는</a:t>
            </a:r>
            <a:r>
              <a:rPr dirty="0"/>
              <a:t> </a:t>
            </a:r>
            <a:r>
              <a:rPr dirty="0" err="1"/>
              <a:t>건드리지</a:t>
            </a:r>
            <a:r>
              <a:rPr dirty="0"/>
              <a:t> </a:t>
            </a:r>
            <a:r>
              <a:rPr dirty="0" err="1"/>
              <a:t>않고</a:t>
            </a:r>
            <a:r>
              <a:rPr dirty="0"/>
              <a:t> </a:t>
            </a:r>
            <a:r>
              <a:rPr dirty="0" err="1"/>
              <a:t>해석</a:t>
            </a:r>
            <a:r>
              <a:rPr dirty="0"/>
              <a:t> </a:t>
            </a:r>
            <a:r>
              <a:rPr dirty="0" err="1"/>
              <a:t>가능성을</a:t>
            </a:r>
            <a:r>
              <a:rPr dirty="0"/>
              <a:t> </a:t>
            </a:r>
            <a:r>
              <a:rPr dirty="0" err="1"/>
              <a:t>높이는</a:t>
            </a:r>
            <a:r>
              <a:rPr dirty="0"/>
              <a:t> </a:t>
            </a:r>
            <a:r>
              <a:rPr dirty="0" err="1"/>
              <a:t>층위로</a:t>
            </a:r>
            <a:r>
              <a:rPr dirty="0"/>
              <a:t>, </a:t>
            </a:r>
            <a:r>
              <a:rPr dirty="0" err="1"/>
              <a:t>다음</a:t>
            </a:r>
            <a:r>
              <a:rPr dirty="0"/>
              <a:t> </a:t>
            </a:r>
            <a:r>
              <a:rPr dirty="0" err="1"/>
              <a:t>회의에서</a:t>
            </a:r>
            <a:r>
              <a:rPr dirty="0"/>
              <a:t> </a:t>
            </a:r>
            <a:r>
              <a:rPr dirty="0" err="1"/>
              <a:t>실제</a:t>
            </a:r>
            <a:r>
              <a:rPr dirty="0"/>
              <a:t> </a:t>
            </a:r>
            <a:r>
              <a:rPr dirty="0" err="1"/>
              <a:t>분기</a:t>
            </a:r>
            <a:r>
              <a:rPr dirty="0"/>
              <a:t> </a:t>
            </a:r>
            <a:r>
              <a:rPr dirty="0" err="1"/>
              <a:t>사례로</a:t>
            </a:r>
            <a:r>
              <a:rPr dirty="0"/>
              <a:t> </a:t>
            </a:r>
            <a:r>
              <a:rPr dirty="0" err="1"/>
              <a:t>프로토타입을</a:t>
            </a:r>
            <a:r>
              <a:rPr dirty="0"/>
              <a:t> </a:t>
            </a:r>
            <a:r>
              <a:rPr dirty="0" err="1"/>
              <a:t>시연드릴</a:t>
            </a:r>
            <a:r>
              <a:rPr dirty="0"/>
              <a:t> </a:t>
            </a:r>
            <a:r>
              <a:rPr dirty="0" err="1"/>
              <a:t>계획입니다</a:t>
            </a:r>
            <a:r>
              <a:rPr dirty="0"/>
              <a:t>.</a:t>
            </a:r>
          </a:p>
          <a:p>
            <a:endParaRPr dirty="0"/>
          </a:p>
          <a:p>
            <a:r>
              <a:rPr dirty="0"/>
              <a:t>A4. </a:t>
            </a:r>
            <a:r>
              <a:rPr dirty="0" err="1"/>
              <a:t>속보-확정</a:t>
            </a:r>
            <a:r>
              <a:rPr dirty="0"/>
              <a:t> </a:t>
            </a:r>
            <a:r>
              <a:rPr dirty="0" err="1"/>
              <a:t>개정</a:t>
            </a:r>
            <a:r>
              <a:rPr dirty="0"/>
              <a:t> </a:t>
            </a:r>
            <a:r>
              <a:rPr dirty="0" err="1"/>
              <a:t>예측</a:t>
            </a:r>
            <a:r>
              <a:rPr dirty="0"/>
              <a:t> (</a:t>
            </a:r>
            <a:r>
              <a:rPr dirty="0" err="1"/>
              <a:t>동의</a:t>
            </a:r>
            <a:r>
              <a:rPr dirty="0"/>
              <a:t> </a:t>
            </a:r>
            <a:r>
              <a:rPr dirty="0" err="1"/>
              <a:t>요청</a:t>
            </a:r>
            <a:r>
              <a:rPr dirty="0"/>
              <a:t>)</a:t>
            </a:r>
          </a:p>
          <a:p>
            <a:r>
              <a:rPr dirty="0" err="1"/>
              <a:t>속보치는</a:t>
            </a:r>
            <a:r>
              <a:rPr dirty="0"/>
              <a:t> </a:t>
            </a:r>
            <a:r>
              <a:rPr dirty="0" err="1"/>
              <a:t>이후</a:t>
            </a:r>
            <a:r>
              <a:rPr dirty="0"/>
              <a:t> </a:t>
            </a:r>
            <a:r>
              <a:rPr dirty="0" err="1"/>
              <a:t>잠정·확정</a:t>
            </a:r>
            <a:r>
              <a:rPr dirty="0"/>
              <a:t> </a:t>
            </a:r>
            <a:r>
              <a:rPr dirty="0" err="1"/>
              <a:t>단계에서</a:t>
            </a:r>
            <a:r>
              <a:rPr dirty="0"/>
              <a:t> </a:t>
            </a:r>
            <a:r>
              <a:rPr dirty="0" err="1"/>
              <a:t>개정되는데</a:t>
            </a:r>
            <a:r>
              <a:rPr dirty="0"/>
              <a:t>, </a:t>
            </a:r>
            <a:r>
              <a:rPr dirty="0" err="1"/>
              <a:t>그</a:t>
            </a:r>
            <a:r>
              <a:rPr dirty="0"/>
              <a:t> </a:t>
            </a:r>
            <a:r>
              <a:rPr dirty="0" err="1"/>
              <a:t>개정폭</a:t>
            </a:r>
            <a:r>
              <a:rPr dirty="0"/>
              <a:t> </a:t>
            </a:r>
            <a:r>
              <a:rPr dirty="0" err="1"/>
              <a:t>자체를</a:t>
            </a:r>
            <a:r>
              <a:rPr dirty="0"/>
              <a:t> </a:t>
            </a:r>
            <a:r>
              <a:rPr dirty="0" err="1"/>
              <a:t>예측하는</a:t>
            </a:r>
            <a:r>
              <a:rPr dirty="0"/>
              <a:t> </a:t>
            </a:r>
            <a:r>
              <a:rPr dirty="0" err="1"/>
              <a:t>연구</a:t>
            </a:r>
            <a:r>
              <a:rPr dirty="0"/>
              <a:t> </a:t>
            </a:r>
            <a:r>
              <a:rPr dirty="0" err="1"/>
              <a:t>축입니다</a:t>
            </a:r>
            <a:r>
              <a:rPr dirty="0"/>
              <a:t>(</a:t>
            </a:r>
            <a:r>
              <a:rPr dirty="0" err="1"/>
              <a:t>국제적으로</a:t>
            </a:r>
            <a:r>
              <a:rPr dirty="0"/>
              <a:t> Faust </a:t>
            </a:r>
            <a:r>
              <a:rPr dirty="0" err="1"/>
              <a:t>등의</a:t>
            </a:r>
            <a:r>
              <a:rPr dirty="0"/>
              <a:t> </a:t>
            </a:r>
            <a:r>
              <a:rPr dirty="0" err="1"/>
              <a:t>선행</a:t>
            </a:r>
            <a:r>
              <a:rPr dirty="0"/>
              <a:t> </a:t>
            </a:r>
            <a:r>
              <a:rPr dirty="0" err="1"/>
              <a:t>연구가</a:t>
            </a:r>
            <a:r>
              <a:rPr dirty="0"/>
              <a:t> </a:t>
            </a:r>
            <a:r>
              <a:rPr dirty="0" err="1"/>
              <a:t>있는</a:t>
            </a:r>
            <a:r>
              <a:rPr dirty="0"/>
              <a:t> </a:t>
            </a:r>
            <a:r>
              <a:rPr dirty="0" err="1"/>
              <a:t>분야</a:t>
            </a:r>
            <a:r>
              <a:rPr dirty="0"/>
              <a:t>). </a:t>
            </a:r>
            <a:r>
              <a:rPr dirty="0" err="1"/>
              <a:t>현행</a:t>
            </a:r>
            <a:r>
              <a:rPr dirty="0"/>
              <a:t> </a:t>
            </a:r>
            <a:r>
              <a:rPr dirty="0" err="1"/>
              <a:t>나우캐스트와</a:t>
            </a:r>
            <a:r>
              <a:rPr dirty="0"/>
              <a:t> </a:t>
            </a:r>
            <a:r>
              <a:rPr dirty="0" err="1"/>
              <a:t>독립적인</a:t>
            </a:r>
            <a:r>
              <a:rPr dirty="0"/>
              <a:t> </a:t>
            </a:r>
            <a:r>
              <a:rPr dirty="0" err="1"/>
              <a:t>신규</a:t>
            </a:r>
            <a:r>
              <a:rPr dirty="0"/>
              <a:t> </a:t>
            </a:r>
            <a:r>
              <a:rPr dirty="0" err="1"/>
              <a:t>부가가치</a:t>
            </a:r>
            <a:r>
              <a:rPr dirty="0"/>
              <a:t> </a:t>
            </a:r>
            <a:r>
              <a:rPr dirty="0" err="1"/>
              <a:t>축이라</a:t>
            </a:r>
            <a:r>
              <a:rPr dirty="0"/>
              <a:t> </a:t>
            </a:r>
            <a:r>
              <a:rPr dirty="0" err="1"/>
              <a:t>타당성</a:t>
            </a:r>
            <a:r>
              <a:rPr dirty="0"/>
              <a:t> </a:t>
            </a:r>
            <a:r>
              <a:rPr dirty="0" err="1"/>
              <a:t>검토</a:t>
            </a:r>
            <a:r>
              <a:rPr dirty="0"/>
              <a:t>(</a:t>
            </a:r>
            <a:r>
              <a:rPr dirty="0" err="1"/>
              <a:t>약</a:t>
            </a:r>
            <a:r>
              <a:rPr dirty="0"/>
              <a:t> </a:t>
            </a:r>
            <a:r>
              <a:rPr dirty="0" err="1"/>
              <a:t>반나절</a:t>
            </a:r>
            <a:r>
              <a:rPr dirty="0"/>
              <a:t> </a:t>
            </a:r>
            <a:r>
              <a:rPr dirty="0" err="1"/>
              <a:t>분량의</a:t>
            </a:r>
            <a:r>
              <a:rPr dirty="0"/>
              <a:t> </a:t>
            </a:r>
            <a:r>
              <a:rPr dirty="0" err="1"/>
              <a:t>예비</a:t>
            </a:r>
            <a:r>
              <a:rPr dirty="0"/>
              <a:t> </a:t>
            </a:r>
            <a:r>
              <a:rPr dirty="0" err="1"/>
              <a:t>분석</a:t>
            </a:r>
            <a:r>
              <a:rPr dirty="0"/>
              <a:t>) </a:t>
            </a:r>
            <a:r>
              <a:rPr dirty="0" err="1"/>
              <a:t>착수에</a:t>
            </a:r>
            <a:r>
              <a:rPr dirty="0"/>
              <a:t> </a:t>
            </a:r>
            <a:r>
              <a:rPr dirty="0" err="1"/>
              <a:t>대한</a:t>
            </a:r>
            <a:r>
              <a:rPr dirty="0"/>
              <a:t> </a:t>
            </a:r>
            <a:r>
              <a:rPr dirty="0" err="1"/>
              <a:t>동의를</a:t>
            </a:r>
            <a:r>
              <a:rPr dirty="0"/>
              <a:t> </a:t>
            </a:r>
            <a:r>
              <a:rPr dirty="0" err="1"/>
              <a:t>구합니다</a:t>
            </a:r>
            <a:r>
              <a:rPr dirty="0"/>
              <a:t>.</a:t>
            </a:r>
          </a:p>
          <a:p>
            <a:endParaRPr dirty="0"/>
          </a:p>
          <a:p>
            <a:r>
              <a:rPr dirty="0"/>
              <a:t>A5. </a:t>
            </a:r>
            <a:r>
              <a:rPr dirty="0" err="1"/>
              <a:t>데이터</a:t>
            </a:r>
            <a:r>
              <a:rPr dirty="0"/>
              <a:t> </a:t>
            </a:r>
            <a:r>
              <a:rPr dirty="0" err="1"/>
              <a:t>협조</a:t>
            </a:r>
            <a:r>
              <a:rPr dirty="0"/>
              <a:t> (</a:t>
            </a:r>
            <a:r>
              <a:rPr dirty="0" err="1"/>
              <a:t>실무</a:t>
            </a:r>
            <a:r>
              <a:rPr dirty="0"/>
              <a:t> </a:t>
            </a:r>
            <a:r>
              <a:rPr dirty="0" err="1"/>
              <a:t>협조</a:t>
            </a:r>
            <a:r>
              <a:rPr dirty="0"/>
              <a:t>)</a:t>
            </a:r>
          </a:p>
          <a:p>
            <a:r>
              <a:rPr dirty="0" err="1"/>
              <a:t>관세청이</a:t>
            </a:r>
            <a:r>
              <a:rPr dirty="0"/>
              <a:t> </a:t>
            </a:r>
            <a:r>
              <a:rPr dirty="0" err="1"/>
              <a:t>공개하는</a:t>
            </a:r>
            <a:r>
              <a:rPr dirty="0"/>
              <a:t> 1~10일 </a:t>
            </a:r>
            <a:r>
              <a:rPr dirty="0" err="1"/>
              <a:t>단위</a:t>
            </a:r>
            <a:r>
              <a:rPr dirty="0"/>
              <a:t> </a:t>
            </a:r>
            <a:r>
              <a:rPr dirty="0" err="1"/>
              <a:t>수출</a:t>
            </a:r>
            <a:r>
              <a:rPr dirty="0"/>
              <a:t> </a:t>
            </a:r>
            <a:r>
              <a:rPr dirty="0" err="1"/>
              <a:t>통계는</a:t>
            </a:r>
            <a:r>
              <a:rPr dirty="0"/>
              <a:t> </a:t>
            </a:r>
            <a:r>
              <a:rPr dirty="0" err="1"/>
              <a:t>무개정·고빈도</a:t>
            </a:r>
            <a:r>
              <a:rPr dirty="0"/>
              <a:t> </a:t>
            </a:r>
            <a:r>
              <a:rPr dirty="0" err="1"/>
              <a:t>신호로</a:t>
            </a:r>
            <a:r>
              <a:rPr dirty="0"/>
              <a:t> </a:t>
            </a:r>
            <a:r>
              <a:rPr dirty="0" err="1"/>
              <a:t>일별</a:t>
            </a:r>
            <a:r>
              <a:rPr dirty="0"/>
              <a:t> </a:t>
            </a:r>
            <a:r>
              <a:rPr dirty="0" err="1"/>
              <a:t>금융지표와</a:t>
            </a:r>
            <a:r>
              <a:rPr dirty="0"/>
              <a:t> </a:t>
            </a:r>
            <a:r>
              <a:rPr dirty="0" err="1"/>
              <a:t>같은</a:t>
            </a:r>
            <a:r>
              <a:rPr dirty="0"/>
              <a:t> </a:t>
            </a:r>
            <a:r>
              <a:rPr dirty="0" err="1"/>
              <a:t>방식으로</a:t>
            </a:r>
            <a:r>
              <a:rPr dirty="0"/>
              <a:t> </a:t>
            </a:r>
            <a:r>
              <a:rPr dirty="0" err="1"/>
              <a:t>활용</a:t>
            </a:r>
            <a:r>
              <a:rPr dirty="0"/>
              <a:t> </a:t>
            </a:r>
            <a:r>
              <a:rPr dirty="0" err="1"/>
              <a:t>가능합니다</a:t>
            </a:r>
            <a:r>
              <a:rPr dirty="0"/>
              <a:t>. API </a:t>
            </a:r>
            <a:r>
              <a:rPr dirty="0" err="1"/>
              <a:t>키</a:t>
            </a:r>
            <a:r>
              <a:rPr dirty="0"/>
              <a:t> </a:t>
            </a:r>
            <a:r>
              <a:rPr dirty="0" err="1"/>
              <a:t>발급</a:t>
            </a:r>
            <a:r>
              <a:rPr dirty="0"/>
              <a:t> </a:t>
            </a:r>
            <a:r>
              <a:rPr dirty="0" err="1"/>
              <a:t>등</a:t>
            </a:r>
            <a:r>
              <a:rPr dirty="0"/>
              <a:t> </a:t>
            </a:r>
            <a:r>
              <a:rPr dirty="0" err="1"/>
              <a:t>실무</a:t>
            </a:r>
            <a:r>
              <a:rPr dirty="0"/>
              <a:t> </a:t>
            </a:r>
            <a:r>
              <a:rPr dirty="0" err="1"/>
              <a:t>협조와</a:t>
            </a:r>
            <a:r>
              <a:rPr dirty="0"/>
              <a:t>, </a:t>
            </a:r>
            <a:r>
              <a:rPr dirty="0" err="1"/>
              <a:t>빈티지</a:t>
            </a:r>
            <a:r>
              <a:rPr dirty="0"/>
              <a:t> </a:t>
            </a:r>
            <a:r>
              <a:rPr dirty="0" err="1"/>
              <a:t>파일</a:t>
            </a:r>
            <a:r>
              <a:rPr dirty="0"/>
              <a:t> </a:t>
            </a:r>
            <a:r>
              <a:rPr dirty="0" err="1"/>
              <a:t>내</a:t>
            </a:r>
            <a:r>
              <a:rPr dirty="0"/>
              <a:t> </a:t>
            </a:r>
            <a:r>
              <a:rPr dirty="0" err="1"/>
              <a:t>일부</a:t>
            </a:r>
            <a:r>
              <a:rPr dirty="0"/>
              <a:t> </a:t>
            </a:r>
            <a:r>
              <a:rPr dirty="0" err="1"/>
              <a:t>지표의</a:t>
            </a:r>
            <a:r>
              <a:rPr dirty="0"/>
              <a:t> </a:t>
            </a:r>
            <a:r>
              <a:rPr dirty="0" err="1"/>
              <a:t>정의</a:t>
            </a:r>
            <a:r>
              <a:rPr dirty="0"/>
              <a:t> </a:t>
            </a:r>
            <a:r>
              <a:rPr dirty="0" err="1"/>
              <a:t>확인</a:t>
            </a:r>
            <a:r>
              <a:rPr dirty="0"/>
              <a:t>(</a:t>
            </a:r>
            <a:r>
              <a:rPr dirty="0" err="1"/>
              <a:t>컬럼</a:t>
            </a:r>
            <a:r>
              <a:rPr dirty="0"/>
              <a:t> </a:t>
            </a:r>
            <a:r>
              <a:rPr dirty="0" err="1"/>
              <a:t>사전</a:t>
            </a:r>
            <a:r>
              <a:rPr dirty="0"/>
              <a:t>)</a:t>
            </a:r>
            <a:r>
              <a:rPr dirty="0" err="1"/>
              <a:t>을</a:t>
            </a:r>
            <a:r>
              <a:rPr dirty="0"/>
              <a:t> </a:t>
            </a:r>
            <a:r>
              <a:rPr dirty="0" err="1"/>
              <a:t>요청드립니다</a:t>
            </a:r>
            <a:r>
              <a:rPr dirty="0"/>
              <a:t>.</a:t>
            </a:r>
          </a:p>
          <a:p>
            <a:endParaRPr dirty="0"/>
          </a:p>
          <a:p>
            <a:r>
              <a:rPr dirty="0"/>
              <a:t>[</a:t>
            </a:r>
            <a:r>
              <a:rPr dirty="0" err="1"/>
              <a:t>회의</a:t>
            </a:r>
            <a:r>
              <a:rPr dirty="0"/>
              <a:t> </a:t>
            </a:r>
            <a:r>
              <a:rPr dirty="0" err="1"/>
              <a:t>운영</a:t>
            </a:r>
            <a:r>
              <a:rPr dirty="0"/>
              <a:t> </a:t>
            </a:r>
            <a:r>
              <a:rPr dirty="0" err="1"/>
              <a:t>팁</a:t>
            </a:r>
            <a:r>
              <a:rPr dirty="0"/>
              <a:t>]</a:t>
            </a:r>
          </a:p>
          <a:p>
            <a:r>
              <a:rPr dirty="0"/>
              <a:t>A1이 </a:t>
            </a:r>
            <a:r>
              <a:rPr dirty="0" err="1"/>
              <a:t>가장</a:t>
            </a:r>
            <a:r>
              <a:rPr dirty="0"/>
              <a:t> </a:t>
            </a:r>
            <a:r>
              <a:rPr dirty="0" err="1"/>
              <a:t>결정이</a:t>
            </a:r>
            <a:r>
              <a:rPr dirty="0"/>
              <a:t> </a:t>
            </a:r>
            <a:r>
              <a:rPr dirty="0" err="1"/>
              <a:t>쉽고</a:t>
            </a:r>
            <a:r>
              <a:rPr dirty="0"/>
              <a:t> </a:t>
            </a:r>
            <a:r>
              <a:rPr dirty="0" err="1"/>
              <a:t>효과가</a:t>
            </a:r>
            <a:r>
              <a:rPr dirty="0"/>
              <a:t> </a:t>
            </a:r>
            <a:r>
              <a:rPr dirty="0" err="1"/>
              <a:t>즉시</a:t>
            </a:r>
            <a:r>
              <a:rPr dirty="0"/>
              <a:t> </a:t>
            </a:r>
            <a:r>
              <a:rPr dirty="0" err="1"/>
              <a:t>보이는</a:t>
            </a:r>
            <a:r>
              <a:rPr dirty="0"/>
              <a:t> </a:t>
            </a:r>
            <a:r>
              <a:rPr dirty="0" err="1"/>
              <a:t>안건이므로</a:t>
            </a:r>
            <a:r>
              <a:rPr dirty="0"/>
              <a:t> </a:t>
            </a:r>
            <a:r>
              <a:rPr dirty="0" err="1"/>
              <a:t>먼저</a:t>
            </a:r>
            <a:r>
              <a:rPr dirty="0"/>
              <a:t> </a:t>
            </a:r>
            <a:r>
              <a:rPr dirty="0" err="1"/>
              <a:t>다루고</a:t>
            </a:r>
            <a:r>
              <a:rPr dirty="0"/>
              <a:t>, A2는 '</a:t>
            </a:r>
            <a:r>
              <a:rPr dirty="0" err="1"/>
              <a:t>병행'이라는</a:t>
            </a:r>
            <a:r>
              <a:rPr dirty="0"/>
              <a:t> </a:t>
            </a:r>
            <a:r>
              <a:rPr dirty="0" err="1"/>
              <a:t>수위를</a:t>
            </a:r>
            <a:r>
              <a:rPr dirty="0"/>
              <a:t> </a:t>
            </a:r>
            <a:r>
              <a:rPr dirty="0" err="1"/>
              <a:t>분명히</a:t>
            </a:r>
            <a:r>
              <a:rPr dirty="0"/>
              <a:t> </a:t>
            </a:r>
            <a:r>
              <a:rPr dirty="0" err="1"/>
              <a:t>하면</a:t>
            </a:r>
            <a:r>
              <a:rPr dirty="0"/>
              <a:t> </a:t>
            </a:r>
            <a:r>
              <a:rPr dirty="0" err="1"/>
              <a:t>부담</a:t>
            </a:r>
            <a:r>
              <a:rPr dirty="0"/>
              <a:t> </a:t>
            </a:r>
            <a:r>
              <a:rPr dirty="0" err="1"/>
              <a:t>없이</a:t>
            </a:r>
            <a:r>
              <a:rPr dirty="0"/>
              <a:t> </a:t>
            </a:r>
            <a:r>
              <a:rPr dirty="0" err="1"/>
              <a:t>논의됩니다</a:t>
            </a:r>
            <a:r>
              <a:rPr dirty="0"/>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286000"/>
            <a:ext cx="10698480" cy="560153"/>
          </a:xfrm>
          <a:prstGeom prst="rect">
            <a:avLst/>
          </a:prstGeom>
          <a:noFill/>
        </p:spPr>
        <p:txBody>
          <a:bodyPr wrap="square" lIns="45720" tIns="18288" rIns="45720" bIns="18288" anchor="t">
            <a:spAutoFit/>
          </a:bodyPr>
          <a:lstStyle/>
          <a:p>
            <a:pPr algn="ctr">
              <a:spcAft>
                <a:spcPts val="200"/>
              </a:spcAft>
            </a:pPr>
            <a:r>
              <a:rPr sz="3400" b="1">
                <a:solidFill>
                  <a:srgbClr val="243447"/>
                </a:solidFill>
                <a:latin typeface="NanumSquare Neo Regular" pitchFamily="2" charset="-127"/>
                <a:ea typeface="NanumSquare Neo Regular" pitchFamily="2" charset="-127"/>
              </a:rPr>
              <a:t>GDP Nowcasting 고도화 협업</a:t>
            </a:r>
          </a:p>
        </p:txBody>
      </p:sp>
      <p:sp>
        <p:nvSpPr>
          <p:cNvPr id="3" name="TextBox 2"/>
          <p:cNvSpPr txBox="1"/>
          <p:nvPr/>
        </p:nvSpPr>
        <p:spPr>
          <a:xfrm>
            <a:off x="731520" y="3063240"/>
            <a:ext cx="10698480" cy="375487"/>
          </a:xfrm>
          <a:prstGeom prst="rect">
            <a:avLst/>
          </a:prstGeom>
          <a:noFill/>
        </p:spPr>
        <p:txBody>
          <a:bodyPr wrap="square" lIns="45720" tIns="18288" rIns="45720" bIns="18288" anchor="t">
            <a:spAutoFit/>
          </a:bodyPr>
          <a:lstStyle/>
          <a:p>
            <a:pPr algn="ctr">
              <a:spcAft>
                <a:spcPts val="200"/>
              </a:spcAft>
            </a:pPr>
            <a:r>
              <a:rPr sz="2200" b="0">
                <a:solidFill>
                  <a:srgbClr val="243447"/>
                </a:solidFill>
                <a:latin typeface="NanumSquare Neo Regular" pitchFamily="2" charset="-127"/>
                <a:ea typeface="NanumSquare Neo Regular" pitchFamily="2" charset="-127"/>
              </a:rPr>
              <a:t>경과 보고 및 논의 안건</a:t>
            </a:r>
          </a:p>
        </p:txBody>
      </p:sp>
      <p:cxnSp>
        <p:nvCxnSpPr>
          <p:cNvPr id="4" name="Connector 3"/>
          <p:cNvCxnSpPr/>
          <p:nvPr/>
        </p:nvCxnSpPr>
        <p:spPr>
          <a:xfrm>
            <a:off x="4956048" y="3886200"/>
            <a:ext cx="2286000" cy="0"/>
          </a:xfrm>
          <a:prstGeom prst="line">
            <a:avLst/>
          </a:prstGeom>
          <a:ln w="12700">
            <a:solidFill>
              <a:srgbClr val="C9C9C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698480" cy="236988"/>
          </a:xfrm>
          <a:prstGeom prst="rect">
            <a:avLst/>
          </a:prstGeom>
          <a:noFill/>
        </p:spPr>
        <p:txBody>
          <a:bodyPr wrap="square" lIns="45720" tIns="18288" rIns="45720" bIns="18288" anchor="t">
            <a:spAutoFit/>
          </a:bodyPr>
          <a:lstStyle/>
          <a:p>
            <a:pPr algn="ctr">
              <a:spcAft>
                <a:spcPts val="200"/>
              </a:spcAft>
            </a:pPr>
            <a:r>
              <a:rPr sz="1300" b="0">
                <a:solidFill>
                  <a:srgbClr val="6B6B6B"/>
                </a:solidFill>
                <a:latin typeface="NanumSquare Neo Regular" pitchFamily="2" charset="-127"/>
                <a:ea typeface="NanumSquare Neo Regular" pitchFamily="2" charset="-127"/>
              </a:rPr>
              <a:t>네이버클라우드 AX Lab  |  2026. 7.</a:t>
            </a:r>
          </a:p>
        </p:txBody>
      </p:sp>
      <p:sp>
        <p:nvSpPr>
          <p:cNvPr id="6" name="TextBox 5"/>
          <p:cNvSpPr txBox="1"/>
          <p:nvPr/>
        </p:nvSpPr>
        <p:spPr>
          <a:xfrm>
            <a:off x="731520" y="4572000"/>
            <a:ext cx="10698480" cy="206210"/>
          </a:xfrm>
          <a:prstGeom prst="rect">
            <a:avLst/>
          </a:prstGeom>
          <a:noFill/>
        </p:spPr>
        <p:txBody>
          <a:bodyPr wrap="square" lIns="45720" tIns="18288" rIns="45720" bIns="18288" anchor="t">
            <a:spAutoFit/>
          </a:bodyPr>
          <a:lstStyle/>
          <a:p>
            <a:pPr algn="ctr">
              <a:spcAft>
                <a:spcPts val="200"/>
              </a:spcAft>
            </a:pPr>
            <a:r>
              <a:rPr sz="1100" b="0">
                <a:solidFill>
                  <a:srgbClr val="6B6B6B"/>
                </a:solidFill>
                <a:latin typeface="NanumSquare Neo Regular" pitchFamily="2" charset="-127"/>
                <a:ea typeface="NanumSquare Neo Regular" pitchFamily="2" charset="-127"/>
              </a:rPr>
              <a:t>구성: 검증 체계 · 경과 총괄 · 검증 결과 · 부가가치 제안 · 논의 안건</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01  </a:t>
            </a:r>
            <a:r>
              <a:rPr sz="1900" b="1">
                <a:solidFill>
                  <a:srgbClr val="243447"/>
                </a:solidFill>
                <a:latin typeface="NanumSquare Neo Regular" pitchFamily="2" charset="-127"/>
                <a:ea typeface="NanumSquare Neo Regular" pitchFamily="2" charset="-127"/>
              </a:rPr>
              <a:t>검증 체계 — 모든 실험에 동일하게 적용한 채점 규칙</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143000"/>
            <a:ext cx="5303520" cy="2835135"/>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① 실시간 빈티지 재현</a:t>
            </a:r>
          </a:p>
          <a:p>
            <a:pPr algn="l">
              <a:spcAft>
                <a:spcPts val="200"/>
              </a:spcAft>
            </a:pPr>
            <a:r>
              <a:rPr sz="1050" b="0">
                <a:solidFill>
                  <a:srgbClr val="262626"/>
                </a:solidFill>
                <a:latin typeface="NanumSquare Neo Regular" pitchFamily="2" charset="-127"/>
                <a:ea typeface="NanumSquare Neo Regular" pitchFamily="2" charset="-127"/>
              </a:rPr>
              <a:t>각 예측 시점에 '그때 실제로 존재했던' 데이터만 사용.</a:t>
            </a:r>
          </a:p>
          <a:p>
            <a:pPr algn="l">
              <a:spcAft>
                <a:spcPts val="200"/>
              </a:spcAft>
            </a:pPr>
            <a:r>
              <a:rPr sz="950" b="0">
                <a:solidFill>
                  <a:srgbClr val="6B6B6B"/>
                </a:solidFill>
                <a:latin typeface="NanumSquare Neo Regular" pitchFamily="2" charset="-127"/>
                <a:ea typeface="NanumSquare Neo Regular" pitchFamily="2" charset="-127"/>
              </a:rPr>
              <a:t>사후 개정된 데이터 사용 시 성능이 과대평가되는 문제를 차단.</a:t>
            </a:r>
          </a:p>
          <a:p>
            <a:pPr algn="l">
              <a:spcAft>
                <a:spcPts val="200"/>
              </a:spcAft>
            </a:pPr>
            <a:endParaRPr sz="950" b="0">
              <a:solidFill>
                <a:srgbClr val="6B6B6B"/>
              </a:solidFill>
              <a:latin typeface="NanumSquare Neo Regular" pitchFamily="2" charset="-127"/>
              <a:ea typeface="NanumSquare Neo Regular" pitchFamily="2" charset="-127"/>
            </a:endParaRPr>
          </a:p>
          <a:p>
            <a:pPr algn="l">
              <a:spcAft>
                <a:spcPts val="200"/>
              </a:spcAft>
            </a:pPr>
            <a:r>
              <a:rPr sz="1250" b="1">
                <a:solidFill>
                  <a:srgbClr val="243447"/>
                </a:solidFill>
                <a:latin typeface="NanumSquare Neo Regular" pitchFamily="2" charset="-127"/>
                <a:ea typeface="NanumSquare Neo Regular" pitchFamily="2" charset="-127"/>
              </a:rPr>
              <a:t>② 정답 = 속보치</a:t>
            </a:r>
          </a:p>
          <a:p>
            <a:pPr algn="l">
              <a:spcAft>
                <a:spcPts val="200"/>
              </a:spcAft>
            </a:pPr>
            <a:r>
              <a:rPr sz="1050" b="0">
                <a:solidFill>
                  <a:srgbClr val="262626"/>
                </a:solidFill>
                <a:latin typeface="NanumSquare Neo Regular" pitchFamily="2" charset="-127"/>
                <a:ea typeface="NanumSquare Neo Regular" pitchFamily="2" charset="-127"/>
              </a:rPr>
              <a:t>분기 종료 후 최초 발표되는 속보(advance) GDP를 채점 기준으로 사용.</a:t>
            </a:r>
          </a:p>
          <a:p>
            <a:pPr algn="l">
              <a:spcAft>
                <a:spcPts val="200"/>
              </a:spcAft>
            </a:pPr>
            <a:r>
              <a:rPr sz="950" b="0">
                <a:solidFill>
                  <a:srgbClr val="6B6B6B"/>
                </a:solidFill>
                <a:latin typeface="NanumSquare Neo Regular" pitchFamily="2" charset="-127"/>
                <a:ea typeface="NanumSquare Neo Regular" pitchFamily="2" charset="-127"/>
              </a:rPr>
              <a:t>실무에서 맞혀야 하는 값이 속보치이기 때문.</a:t>
            </a:r>
          </a:p>
          <a:p>
            <a:pPr algn="l">
              <a:spcAft>
                <a:spcPts val="200"/>
              </a:spcAft>
            </a:pPr>
            <a:endParaRPr sz="950" b="0">
              <a:solidFill>
                <a:srgbClr val="6B6B6B"/>
              </a:solidFill>
              <a:latin typeface="NanumSquare Neo Regular" pitchFamily="2" charset="-127"/>
              <a:ea typeface="NanumSquare Neo Regular" pitchFamily="2" charset="-127"/>
            </a:endParaRPr>
          </a:p>
          <a:p>
            <a:pPr algn="l">
              <a:spcAft>
                <a:spcPts val="200"/>
              </a:spcAft>
            </a:pPr>
            <a:r>
              <a:rPr sz="1250" b="1">
                <a:solidFill>
                  <a:srgbClr val="243447"/>
                </a:solidFill>
                <a:latin typeface="NanumSquare Neo Regular" pitchFamily="2" charset="-127"/>
                <a:ea typeface="NanumSquare Neo Regular" pitchFamily="2" charset="-127"/>
              </a:rPr>
              <a:t>③ 주 단위 반복 예측 — 19회</a:t>
            </a:r>
          </a:p>
          <a:p>
            <a:pPr algn="l">
              <a:spcAft>
                <a:spcPts val="200"/>
              </a:spcAft>
            </a:pPr>
            <a:r>
              <a:rPr sz="1050" b="0">
                <a:solidFill>
                  <a:srgbClr val="262626"/>
                </a:solidFill>
                <a:latin typeface="NanumSquare Neo Regular" pitchFamily="2" charset="-127"/>
                <a:ea typeface="NanumSquare Neo Regular" pitchFamily="2" charset="-127"/>
              </a:rPr>
              <a:t>분기 시작 2주 전부터 속보 발표 직전까지 매주 예측을 갱신.</a:t>
            </a:r>
          </a:p>
          <a:p>
            <a:pPr algn="l">
              <a:spcAft>
                <a:spcPts val="200"/>
              </a:spcAft>
            </a:pPr>
            <a:r>
              <a:rPr sz="950" b="0">
                <a:solidFill>
                  <a:srgbClr val="6B6B6B"/>
                </a:solidFill>
                <a:latin typeface="NanumSquare Neo Regular" pitchFamily="2" charset="-127"/>
                <a:ea typeface="NanumSquare Neo Regular" pitchFamily="2" charset="-127"/>
              </a:rPr>
              <a:t>19개 주차 오차를 모두 채점 — 조기 예측력까지 평가.</a:t>
            </a:r>
          </a:p>
          <a:p>
            <a:pPr algn="l">
              <a:spcAft>
                <a:spcPts val="200"/>
              </a:spcAft>
            </a:pPr>
            <a:endParaRPr sz="950" b="0">
              <a:solidFill>
                <a:srgbClr val="6B6B6B"/>
              </a:solidFill>
              <a:latin typeface="NanumSquare Neo Regular" pitchFamily="2" charset="-127"/>
              <a:ea typeface="NanumSquare Neo Regular" pitchFamily="2" charset="-127"/>
            </a:endParaRPr>
          </a:p>
          <a:p>
            <a:pPr algn="l">
              <a:spcAft>
                <a:spcPts val="200"/>
              </a:spcAft>
            </a:pPr>
            <a:r>
              <a:rPr sz="1250" b="1">
                <a:solidFill>
                  <a:srgbClr val="243447"/>
                </a:solidFill>
                <a:latin typeface="NanumSquare Neo Regular" pitchFamily="2" charset="-127"/>
                <a:ea typeface="NanumSquare Neo Regular" pitchFamily="2" charset="-127"/>
              </a:rPr>
              <a:t>④ 지표 = RMSE, 표본 = 32개 분기</a:t>
            </a:r>
          </a:p>
          <a:p>
            <a:pPr algn="l">
              <a:spcAft>
                <a:spcPts val="200"/>
              </a:spcAft>
            </a:pPr>
            <a:r>
              <a:rPr sz="1050" b="0">
                <a:solidFill>
                  <a:srgbClr val="262626"/>
                </a:solidFill>
                <a:latin typeface="NanumSquare Neo Regular" pitchFamily="2" charset="-127"/>
                <a:ea typeface="NanumSquare Neo Regular" pitchFamily="2" charset="-127"/>
              </a:rPr>
              <a:t>2018Q1~2025Q4, 큰 오차에 벌점이 큰 평균제곱근오차.</a:t>
            </a:r>
          </a:p>
          <a:p>
            <a:pPr algn="l">
              <a:spcAft>
                <a:spcPts val="200"/>
              </a:spcAft>
            </a:pPr>
            <a:r>
              <a:rPr sz="950" b="0">
                <a:solidFill>
                  <a:srgbClr val="6B6B6B"/>
                </a:solidFill>
                <a:latin typeface="NanumSquare Neo Regular" pitchFamily="2" charset="-127"/>
                <a:ea typeface="NanumSquare Neo Regular" pitchFamily="2" charset="-127"/>
              </a:rPr>
              <a:t>코로나 급변기(2020)를 포함한 전 기간 채점.</a:t>
            </a:r>
          </a:p>
        </p:txBody>
      </p:sp>
      <p:sp>
        <p:nvSpPr>
          <p:cNvPr id="5" name="TextBox 4"/>
          <p:cNvSpPr txBox="1"/>
          <p:nvPr/>
        </p:nvSpPr>
        <p:spPr>
          <a:xfrm>
            <a:off x="6309360" y="1234440"/>
            <a:ext cx="5303520" cy="221599"/>
          </a:xfrm>
          <a:prstGeom prst="rect">
            <a:avLst/>
          </a:prstGeom>
          <a:noFill/>
        </p:spPr>
        <p:txBody>
          <a:bodyPr wrap="square" lIns="45720" tIns="18288" rIns="45720" bIns="18288" anchor="t">
            <a:spAutoFit/>
          </a:bodyPr>
          <a:lstStyle/>
          <a:p>
            <a:pPr algn="l">
              <a:spcAft>
                <a:spcPts val="200"/>
              </a:spcAft>
            </a:pPr>
            <a:r>
              <a:rPr sz="1200" b="1">
                <a:solidFill>
                  <a:srgbClr val="243447"/>
                </a:solidFill>
                <a:latin typeface="NanumSquare Neo Regular" pitchFamily="2" charset="-127"/>
                <a:ea typeface="NanumSquare Neo Regular" pitchFamily="2" charset="-127"/>
              </a:rPr>
              <a:t>한 분기의 예측 일정 (19주 창)</a:t>
            </a:r>
          </a:p>
        </p:txBody>
      </p:sp>
      <p:sp>
        <p:nvSpPr>
          <p:cNvPr id="6" name="Rectangle 5"/>
          <p:cNvSpPr/>
          <p:nvPr/>
        </p:nvSpPr>
        <p:spPr>
          <a:xfrm>
            <a:off x="6309360" y="1828800"/>
            <a:ext cx="1005840" cy="548640"/>
          </a:xfrm>
          <a:prstGeom prst="rect">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7" name="TextBox 6"/>
          <p:cNvSpPr txBox="1"/>
          <p:nvPr/>
        </p:nvSpPr>
        <p:spPr>
          <a:xfrm>
            <a:off x="6309360" y="2450592"/>
            <a:ext cx="1005840" cy="339580"/>
          </a:xfrm>
          <a:prstGeom prst="rect">
            <a:avLst/>
          </a:prstGeom>
          <a:noFill/>
        </p:spPr>
        <p:txBody>
          <a:bodyPr wrap="square" lIns="45720" tIns="18288" rIns="45720" bIns="18288" anchor="t">
            <a:spAutoFit/>
          </a:bodyPr>
          <a:lstStyle/>
          <a:p>
            <a:pPr algn="ctr">
              <a:spcAft>
                <a:spcPts val="200"/>
              </a:spcAft>
            </a:pPr>
            <a:r>
              <a:rPr sz="900" b="0">
                <a:solidFill>
                  <a:srgbClr val="262626"/>
                </a:solidFill>
                <a:latin typeface="NanumSquare Neo Regular" pitchFamily="2" charset="-127"/>
                <a:ea typeface="NanumSquare Neo Regular" pitchFamily="2" charset="-127"/>
              </a:rPr>
              <a:t>분기 시작 전
2주</a:t>
            </a:r>
          </a:p>
        </p:txBody>
      </p:sp>
      <p:sp>
        <p:nvSpPr>
          <p:cNvPr id="8" name="Rectangle 7"/>
          <p:cNvSpPr/>
          <p:nvPr/>
        </p:nvSpPr>
        <p:spPr>
          <a:xfrm>
            <a:off x="7342632" y="1828800"/>
            <a:ext cx="2926080" cy="548640"/>
          </a:xfrm>
          <a:prstGeom prst="rect">
            <a:avLst/>
          </a:prstGeom>
          <a:solidFill>
            <a:srgbClr val="9EC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9" name="TextBox 8"/>
          <p:cNvSpPr txBox="1"/>
          <p:nvPr/>
        </p:nvSpPr>
        <p:spPr>
          <a:xfrm>
            <a:off x="7342632" y="2450592"/>
            <a:ext cx="2926080" cy="339580"/>
          </a:xfrm>
          <a:prstGeom prst="rect">
            <a:avLst/>
          </a:prstGeom>
          <a:noFill/>
        </p:spPr>
        <p:txBody>
          <a:bodyPr wrap="square" lIns="45720" tIns="18288" rIns="45720" bIns="18288" anchor="t">
            <a:spAutoFit/>
          </a:bodyPr>
          <a:lstStyle/>
          <a:p>
            <a:pPr algn="ctr">
              <a:spcAft>
                <a:spcPts val="200"/>
              </a:spcAft>
            </a:pPr>
            <a:r>
              <a:rPr sz="900" b="0">
                <a:solidFill>
                  <a:srgbClr val="262626"/>
                </a:solidFill>
                <a:latin typeface="NanumSquare Neo Regular" pitchFamily="2" charset="-127"/>
                <a:ea typeface="NanumSquare Neo Regular" pitchFamily="2" charset="-127"/>
              </a:rPr>
              <a:t>대상 분기 진행
13주</a:t>
            </a:r>
          </a:p>
        </p:txBody>
      </p:sp>
      <p:sp>
        <p:nvSpPr>
          <p:cNvPr id="10" name="Rectangle 9"/>
          <p:cNvSpPr/>
          <p:nvPr/>
        </p:nvSpPr>
        <p:spPr>
          <a:xfrm>
            <a:off x="10296144" y="1828800"/>
            <a:ext cx="1234440" cy="54864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1" name="TextBox 10"/>
          <p:cNvSpPr txBox="1"/>
          <p:nvPr/>
        </p:nvSpPr>
        <p:spPr>
          <a:xfrm>
            <a:off x="10296144" y="2450592"/>
            <a:ext cx="1234440" cy="339580"/>
          </a:xfrm>
          <a:prstGeom prst="rect">
            <a:avLst/>
          </a:prstGeom>
          <a:noFill/>
        </p:spPr>
        <p:txBody>
          <a:bodyPr wrap="square" lIns="45720" tIns="18288" rIns="45720" bIns="18288" anchor="t">
            <a:spAutoFit/>
          </a:bodyPr>
          <a:lstStyle/>
          <a:p>
            <a:pPr algn="ctr">
              <a:spcAft>
                <a:spcPts val="200"/>
              </a:spcAft>
            </a:pPr>
            <a:r>
              <a:rPr sz="900" b="0">
                <a:solidFill>
                  <a:srgbClr val="262626"/>
                </a:solidFill>
                <a:latin typeface="NanumSquare Neo Regular" pitchFamily="2" charset="-127"/>
                <a:ea typeface="NanumSquare Neo Regular" pitchFamily="2" charset="-127"/>
              </a:rPr>
              <a:t>발표 대기
4주</a:t>
            </a:r>
          </a:p>
        </p:txBody>
      </p:sp>
      <p:sp>
        <p:nvSpPr>
          <p:cNvPr id="12" name="Rectangle 11"/>
          <p:cNvSpPr/>
          <p:nvPr/>
        </p:nvSpPr>
        <p:spPr>
          <a:xfrm>
            <a:off x="11558016" y="1691640"/>
            <a:ext cx="54864" cy="822960"/>
          </a:xfrm>
          <a:prstGeom prst="rect">
            <a:avLst/>
          </a:prstGeom>
          <a:solidFill>
            <a:srgbClr val="B0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3" name="TextBox 12"/>
          <p:cNvSpPr txBox="1"/>
          <p:nvPr/>
        </p:nvSpPr>
        <p:spPr>
          <a:xfrm>
            <a:off x="11100816" y="3017520"/>
            <a:ext cx="1097280" cy="183127"/>
          </a:xfrm>
          <a:prstGeom prst="rect">
            <a:avLst/>
          </a:prstGeom>
          <a:noFill/>
        </p:spPr>
        <p:txBody>
          <a:bodyPr wrap="square" lIns="45720" tIns="18288" rIns="45720" bIns="18288" anchor="t">
            <a:spAutoFit/>
          </a:bodyPr>
          <a:lstStyle/>
          <a:p>
            <a:pPr algn="ctr">
              <a:spcAft>
                <a:spcPts val="200"/>
              </a:spcAft>
            </a:pPr>
            <a:r>
              <a:rPr sz="950" b="1">
                <a:solidFill>
                  <a:srgbClr val="B0532F"/>
                </a:solidFill>
                <a:latin typeface="NanumSquare Neo Regular" pitchFamily="2" charset="-127"/>
                <a:ea typeface="NanumSquare Neo Regular" pitchFamily="2" charset="-127"/>
              </a:rPr>
              <a:t>속보 발표</a:t>
            </a:r>
          </a:p>
        </p:txBody>
      </p:sp>
      <p:sp>
        <p:nvSpPr>
          <p:cNvPr id="14" name="TextBox 13"/>
          <p:cNvSpPr txBox="1"/>
          <p:nvPr/>
        </p:nvSpPr>
        <p:spPr>
          <a:xfrm>
            <a:off x="6309360" y="3429000"/>
            <a:ext cx="5303520" cy="362663"/>
          </a:xfrm>
          <a:prstGeom prst="rect">
            <a:avLst/>
          </a:prstGeom>
          <a:noFill/>
        </p:spPr>
        <p:txBody>
          <a:bodyPr wrap="square" lIns="45720" tIns="18288" rIns="45720" bIns="18288" anchor="t">
            <a:spAutoFit/>
          </a:bodyPr>
          <a:lstStyle/>
          <a:p>
            <a:pPr algn="l">
              <a:spcAft>
                <a:spcPts val="200"/>
              </a:spcAft>
            </a:pPr>
            <a:r>
              <a:rPr sz="1000" b="0">
                <a:solidFill>
                  <a:srgbClr val="262626"/>
                </a:solidFill>
                <a:latin typeface="NanumSquare Neo Regular" pitchFamily="2" charset="-127"/>
                <a:ea typeface="NanumSquare Neo Regular" pitchFamily="2" charset="-127"/>
              </a:rPr>
              <a:t>· 매주 1회, 분기당 총 19회 예측 → 19개 오차의 평균으로 채점</a:t>
            </a:r>
          </a:p>
          <a:p>
            <a:pPr algn="l">
              <a:spcAft>
                <a:spcPts val="200"/>
              </a:spcAft>
            </a:pPr>
            <a:r>
              <a:rPr sz="950" b="0">
                <a:solidFill>
                  <a:srgbClr val="6B6B6B"/>
                </a:solidFill>
                <a:latin typeface="NanumSquare Neo Regular" pitchFamily="2" charset="-127"/>
                <a:ea typeface="NanumSquare Neo Regular" pitchFamily="2" charset="-127"/>
              </a:rPr>
              <a:t>· 초반(정보 부족)일수록 어렵고, 발표 직전일수록 쉬움</a:t>
            </a:r>
          </a:p>
        </p:txBody>
      </p:sp>
      <p:sp>
        <p:nvSpPr>
          <p:cNvPr id="15" name="Rounded Rectangle 14"/>
          <p:cNvSpPr/>
          <p:nvPr/>
        </p:nvSpPr>
        <p:spPr>
          <a:xfrm>
            <a:off x="6309360" y="4206240"/>
            <a:ext cx="5303520" cy="1234440"/>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6" name="TextBox 15"/>
          <p:cNvSpPr txBox="1"/>
          <p:nvPr/>
        </p:nvSpPr>
        <p:spPr>
          <a:xfrm>
            <a:off x="6510528" y="4343400"/>
            <a:ext cx="4937760" cy="598625"/>
          </a:xfrm>
          <a:prstGeom prst="rect">
            <a:avLst/>
          </a:prstGeom>
          <a:noFill/>
        </p:spPr>
        <p:txBody>
          <a:bodyPr wrap="square" lIns="45720" tIns="18288" rIns="45720" bIns="18288" anchor="t">
            <a:spAutoFit/>
          </a:bodyPr>
          <a:lstStyle/>
          <a:p>
            <a:pPr algn="l">
              <a:spcAft>
                <a:spcPts val="300"/>
              </a:spcAft>
            </a:pPr>
            <a:r>
              <a:rPr sz="1100" b="1">
                <a:solidFill>
                  <a:srgbClr val="243447"/>
                </a:solidFill>
                <a:latin typeface="NanumSquare Neo Regular" pitchFamily="2" charset="-127"/>
                <a:ea typeface="NanumSquare Neo Regular" pitchFamily="2" charset="-127"/>
              </a:rPr>
              <a:t>현행 시스템 기준선 (동일 규약 채점)</a:t>
            </a:r>
          </a:p>
          <a:p>
            <a:pPr algn="l">
              <a:spcAft>
                <a:spcPts val="300"/>
              </a:spcAft>
            </a:pPr>
            <a:r>
              <a:rPr sz="1100" b="0">
                <a:solidFill>
                  <a:srgbClr val="262626"/>
                </a:solidFill>
                <a:latin typeface="NanumSquare Neo Regular" pitchFamily="2" charset="-127"/>
                <a:ea typeface="NanumSquare Neo Regular" pitchFamily="2" charset="-127"/>
              </a:rPr>
              <a:t>DFM 단독 0.865  ·  DFM+XGBoost 결합 0.765</a:t>
            </a:r>
          </a:p>
          <a:p>
            <a:pPr algn="l">
              <a:spcAft>
                <a:spcPts val="300"/>
              </a:spcAft>
            </a:pPr>
            <a:r>
              <a:rPr sz="950" b="0">
                <a:solidFill>
                  <a:srgbClr val="6B6B6B"/>
                </a:solidFill>
                <a:latin typeface="NanumSquare Neo Regular" pitchFamily="2" charset="-127"/>
                <a:ea typeface="NanumSquare Neo Regular" pitchFamily="2" charset="-127"/>
              </a:rPr>
              <a:t>이하 모든 실험은 이 기준선과의 비교로 평가</a:t>
            </a:r>
          </a:p>
        </p:txBody>
      </p:sp>
      <p:sp>
        <p:nvSpPr>
          <p:cNvPr id="17" name="Rectangle 16"/>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8" name="TextBox 17"/>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공통 검증 규약: 한은 제공 실시간 빈티지 · 속보치 기준 · 전망주차 w[-19,-1] 평균 RMSE · 2018Q1~2025Q4 (32개 분기)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02  </a:t>
            </a:r>
            <a:r>
              <a:rPr sz="1900" b="1">
                <a:solidFill>
                  <a:srgbClr val="243447"/>
                </a:solidFill>
                <a:latin typeface="NanumSquare Neo Regular" pitchFamily="2" charset="-127"/>
                <a:ea typeface="NanumSquare Neo Regular" pitchFamily="2" charset="-127"/>
              </a:rPr>
              <a:t>경과 총괄 — 4개 트랙의 진행과 결론</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02920" y="1188720"/>
            <a:ext cx="11183112" cy="1115568"/>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5" name="TextBox 4"/>
          <p:cNvSpPr txBox="1"/>
          <p:nvPr/>
        </p:nvSpPr>
        <p:spPr>
          <a:xfrm>
            <a:off x="731520" y="1316736"/>
            <a:ext cx="640080" cy="236988"/>
          </a:xfrm>
          <a:prstGeom prst="rect">
            <a:avLst/>
          </a:prstGeom>
          <a:noFill/>
        </p:spPr>
        <p:txBody>
          <a:bodyPr wrap="square" lIns="45720" tIns="18288" rIns="45720" bIns="18288" anchor="t">
            <a:spAutoFit/>
          </a:bodyPr>
          <a:lstStyle/>
          <a:p>
            <a:pPr algn="l">
              <a:spcAft>
                <a:spcPts val="200"/>
              </a:spcAft>
            </a:pPr>
            <a:r>
              <a:rPr sz="1300" b="1">
                <a:solidFill>
                  <a:srgbClr val="243447"/>
                </a:solidFill>
                <a:latin typeface="NanumSquare Neo Regular" pitchFamily="2" charset="-127"/>
                <a:ea typeface="NanumSquare Neo Regular" pitchFamily="2" charset="-127"/>
              </a:rPr>
              <a:t>T1</a:t>
            </a:r>
          </a:p>
        </p:txBody>
      </p:sp>
      <p:sp>
        <p:nvSpPr>
          <p:cNvPr id="6" name="TextBox 5"/>
          <p:cNvSpPr txBox="1"/>
          <p:nvPr/>
        </p:nvSpPr>
        <p:spPr>
          <a:xfrm>
            <a:off x="1371600" y="1316736"/>
            <a:ext cx="694944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기준선 구축 · 현행 시스템 재현</a:t>
            </a:r>
          </a:p>
        </p:txBody>
      </p:sp>
      <p:sp>
        <p:nvSpPr>
          <p:cNvPr id="7" name="Rectangle 6"/>
          <p:cNvSpPr/>
          <p:nvPr/>
        </p:nvSpPr>
        <p:spPr>
          <a:xfrm>
            <a:off x="10104120" y="1335024"/>
            <a:ext cx="1325880" cy="329184"/>
          </a:xfrm>
          <a:prstGeom prst="rect">
            <a:avLst/>
          </a:prstGeom>
          <a:solidFill>
            <a:srgbClr val="E8F3EC"/>
          </a:solidFill>
          <a:ln w="9525">
            <a:solidFill>
              <a:srgbClr val="00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8" name="TextBox 7"/>
          <p:cNvSpPr txBox="1"/>
          <p:nvPr/>
        </p:nvSpPr>
        <p:spPr>
          <a:xfrm>
            <a:off x="10104120" y="1371600"/>
            <a:ext cx="1325880" cy="190821"/>
          </a:xfrm>
          <a:prstGeom prst="rect">
            <a:avLst/>
          </a:prstGeom>
          <a:noFill/>
        </p:spPr>
        <p:txBody>
          <a:bodyPr wrap="square" lIns="45720" tIns="18288" rIns="45720" bIns="18288" anchor="t">
            <a:spAutoFit/>
          </a:bodyPr>
          <a:lstStyle/>
          <a:p>
            <a:pPr algn="ctr">
              <a:spcAft>
                <a:spcPts val="200"/>
              </a:spcAft>
            </a:pPr>
            <a:r>
              <a:rPr sz="1000" b="1">
                <a:solidFill>
                  <a:srgbClr val="008A3E"/>
                </a:solidFill>
                <a:latin typeface="NanumSquare Neo Regular" pitchFamily="2" charset="-127"/>
                <a:ea typeface="NanumSquare Neo Regular" pitchFamily="2" charset="-127"/>
              </a:rPr>
              <a:t>완료</a:t>
            </a:r>
          </a:p>
        </p:txBody>
      </p:sp>
      <p:sp>
        <p:nvSpPr>
          <p:cNvPr id="9" name="TextBox 8"/>
          <p:cNvSpPr txBox="1"/>
          <p:nvPr/>
        </p:nvSpPr>
        <p:spPr>
          <a:xfrm>
            <a:off x="1371600" y="1700784"/>
            <a:ext cx="9966960" cy="190821"/>
          </a:xfrm>
          <a:prstGeom prst="rect">
            <a:avLst/>
          </a:prstGeom>
          <a:noFill/>
        </p:spPr>
        <p:txBody>
          <a:bodyPr wrap="square" lIns="45720" tIns="18288" rIns="45720" bIns="18288" anchor="t">
            <a:spAutoFit/>
          </a:bodyPr>
          <a:lstStyle/>
          <a:p>
            <a:pPr algn="l">
              <a:spcAft>
                <a:spcPts val="200"/>
              </a:spcAft>
            </a:pPr>
            <a:r>
              <a:rPr sz="1000" b="0">
                <a:solidFill>
                  <a:srgbClr val="262626"/>
                </a:solidFill>
                <a:latin typeface="NanumSquare Neo Regular" pitchFamily="2" charset="-127"/>
                <a:ea typeface="NanumSquare Neo Regular" pitchFamily="2" charset="-127"/>
              </a:rPr>
              <a:t>실시간 빈티지 그리드 구축, 현행 DFM·XGBoost를 동일 규약으로 채점 (0.865 / 0.765). 이후 모든 비교의 기준.</a:t>
            </a:r>
          </a:p>
        </p:txBody>
      </p:sp>
      <p:sp>
        <p:nvSpPr>
          <p:cNvPr id="10" name="Rounded Rectangle 9"/>
          <p:cNvSpPr/>
          <p:nvPr/>
        </p:nvSpPr>
        <p:spPr>
          <a:xfrm>
            <a:off x="502920" y="2432304"/>
            <a:ext cx="11183112" cy="1115568"/>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1" name="TextBox 10"/>
          <p:cNvSpPr txBox="1"/>
          <p:nvPr/>
        </p:nvSpPr>
        <p:spPr>
          <a:xfrm>
            <a:off x="731520" y="2560320"/>
            <a:ext cx="640080" cy="236988"/>
          </a:xfrm>
          <a:prstGeom prst="rect">
            <a:avLst/>
          </a:prstGeom>
          <a:noFill/>
        </p:spPr>
        <p:txBody>
          <a:bodyPr wrap="square" lIns="45720" tIns="18288" rIns="45720" bIns="18288" anchor="t">
            <a:spAutoFit/>
          </a:bodyPr>
          <a:lstStyle/>
          <a:p>
            <a:pPr algn="l">
              <a:spcAft>
                <a:spcPts val="200"/>
              </a:spcAft>
            </a:pPr>
            <a:r>
              <a:rPr sz="1300" b="1">
                <a:solidFill>
                  <a:srgbClr val="243447"/>
                </a:solidFill>
                <a:latin typeface="NanumSquare Neo Regular" pitchFamily="2" charset="-127"/>
                <a:ea typeface="NanumSquare Neo Regular" pitchFamily="2" charset="-127"/>
              </a:rPr>
              <a:t>T2</a:t>
            </a:r>
          </a:p>
        </p:txBody>
      </p:sp>
      <p:sp>
        <p:nvSpPr>
          <p:cNvPr id="12" name="TextBox 11"/>
          <p:cNvSpPr txBox="1"/>
          <p:nvPr/>
        </p:nvSpPr>
        <p:spPr>
          <a:xfrm>
            <a:off x="1371600" y="2560320"/>
            <a:ext cx="694944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국면 조건부 결합 연구 (v1→v3)</a:t>
            </a:r>
          </a:p>
        </p:txBody>
      </p:sp>
      <p:sp>
        <p:nvSpPr>
          <p:cNvPr id="13" name="Rectangle 12"/>
          <p:cNvSpPr/>
          <p:nvPr/>
        </p:nvSpPr>
        <p:spPr>
          <a:xfrm>
            <a:off x="10104120" y="2578608"/>
            <a:ext cx="1325880" cy="329184"/>
          </a:xfrm>
          <a:prstGeom prst="rect">
            <a:avLst/>
          </a:prstGeom>
          <a:solidFill>
            <a:srgbClr val="F3F4F5"/>
          </a:solidFill>
          <a:ln w="9525">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4" name="TextBox 13"/>
          <p:cNvSpPr txBox="1"/>
          <p:nvPr/>
        </p:nvSpPr>
        <p:spPr>
          <a:xfrm>
            <a:off x="10104120" y="2615184"/>
            <a:ext cx="1325880" cy="190821"/>
          </a:xfrm>
          <a:prstGeom prst="rect">
            <a:avLst/>
          </a:prstGeom>
          <a:noFill/>
        </p:spPr>
        <p:txBody>
          <a:bodyPr wrap="square" lIns="45720" tIns="18288" rIns="45720" bIns="18288" anchor="t">
            <a:spAutoFit/>
          </a:bodyPr>
          <a:lstStyle/>
          <a:p>
            <a:pPr algn="ctr">
              <a:spcAft>
                <a:spcPts val="200"/>
              </a:spcAft>
            </a:pPr>
            <a:r>
              <a:rPr sz="1000" b="1">
                <a:solidFill>
                  <a:srgbClr val="6B6B6B"/>
                </a:solidFill>
                <a:latin typeface="NanumSquare Neo Regular" pitchFamily="2" charset="-127"/>
                <a:ea typeface="NanumSquare Neo Regular" pitchFamily="2" charset="-127"/>
              </a:rPr>
              <a:t>연구 보류</a:t>
            </a:r>
          </a:p>
        </p:txBody>
      </p:sp>
      <p:sp>
        <p:nvSpPr>
          <p:cNvPr id="15" name="TextBox 14"/>
          <p:cNvSpPr txBox="1"/>
          <p:nvPr/>
        </p:nvSpPr>
        <p:spPr>
          <a:xfrm>
            <a:off x="1371600" y="2944368"/>
            <a:ext cx="9966960" cy="190821"/>
          </a:xfrm>
          <a:prstGeom prst="rect">
            <a:avLst/>
          </a:prstGeom>
          <a:noFill/>
        </p:spPr>
        <p:txBody>
          <a:bodyPr wrap="square" lIns="45720" tIns="18288" rIns="45720" bIns="18288" anchor="t">
            <a:spAutoFit/>
          </a:bodyPr>
          <a:lstStyle/>
          <a:p>
            <a:pPr algn="l">
              <a:spcAft>
                <a:spcPts val="200"/>
              </a:spcAft>
            </a:pPr>
            <a:r>
              <a:rPr sz="1000" b="0">
                <a:solidFill>
                  <a:srgbClr val="262626"/>
                </a:solidFill>
                <a:latin typeface="NanumSquare Neo Regular" pitchFamily="2" charset="-127"/>
                <a:ea typeface="NanumSquare Neo Regular" pitchFamily="2" charset="-127"/>
              </a:rPr>
              <a:t>국면별 모델 전환으로 0.718까지 개선 확인. 다만 '현재 국면 단정' 방식에 대한 방법론적 우려를 수용, 예측 경로 채택은 보류. 검증 자산은 후속 트랙에 재사용.</a:t>
            </a:r>
          </a:p>
        </p:txBody>
      </p:sp>
      <p:sp>
        <p:nvSpPr>
          <p:cNvPr id="16" name="Rounded Rectangle 15"/>
          <p:cNvSpPr/>
          <p:nvPr/>
        </p:nvSpPr>
        <p:spPr>
          <a:xfrm>
            <a:off x="502920" y="3675888"/>
            <a:ext cx="11183112" cy="1115568"/>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7" name="TextBox 16"/>
          <p:cNvSpPr txBox="1"/>
          <p:nvPr/>
        </p:nvSpPr>
        <p:spPr>
          <a:xfrm>
            <a:off x="731520" y="3803904"/>
            <a:ext cx="640080" cy="236988"/>
          </a:xfrm>
          <a:prstGeom prst="rect">
            <a:avLst/>
          </a:prstGeom>
          <a:noFill/>
        </p:spPr>
        <p:txBody>
          <a:bodyPr wrap="square" lIns="45720" tIns="18288" rIns="45720" bIns="18288" anchor="t">
            <a:spAutoFit/>
          </a:bodyPr>
          <a:lstStyle/>
          <a:p>
            <a:pPr algn="l">
              <a:spcAft>
                <a:spcPts val="200"/>
              </a:spcAft>
            </a:pPr>
            <a:r>
              <a:rPr sz="1300" b="1">
                <a:solidFill>
                  <a:srgbClr val="243447"/>
                </a:solidFill>
                <a:latin typeface="NanumSquare Neo Regular" pitchFamily="2" charset="-127"/>
                <a:ea typeface="NanumSquare Neo Regular" pitchFamily="2" charset="-127"/>
              </a:rPr>
              <a:t>T3</a:t>
            </a:r>
          </a:p>
        </p:txBody>
      </p:sp>
      <p:sp>
        <p:nvSpPr>
          <p:cNvPr id="18" name="TextBox 17"/>
          <p:cNvSpPr txBox="1"/>
          <p:nvPr/>
        </p:nvSpPr>
        <p:spPr>
          <a:xfrm>
            <a:off x="1371600" y="3803904"/>
            <a:ext cx="694944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딥러닝 시계열 모델 전수 검증</a:t>
            </a:r>
          </a:p>
        </p:txBody>
      </p:sp>
      <p:sp>
        <p:nvSpPr>
          <p:cNvPr id="19" name="Rectangle 18"/>
          <p:cNvSpPr/>
          <p:nvPr/>
        </p:nvSpPr>
        <p:spPr>
          <a:xfrm>
            <a:off x="10104120" y="3822192"/>
            <a:ext cx="1325880" cy="329184"/>
          </a:xfrm>
          <a:prstGeom prst="rect">
            <a:avLst/>
          </a:prstGeom>
          <a:solidFill>
            <a:srgbClr val="E8F3EC"/>
          </a:solidFill>
          <a:ln w="9525">
            <a:solidFill>
              <a:srgbClr val="00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0" name="TextBox 19"/>
          <p:cNvSpPr txBox="1"/>
          <p:nvPr/>
        </p:nvSpPr>
        <p:spPr>
          <a:xfrm>
            <a:off x="10104120" y="3858768"/>
            <a:ext cx="1325880" cy="190821"/>
          </a:xfrm>
          <a:prstGeom prst="rect">
            <a:avLst/>
          </a:prstGeom>
          <a:noFill/>
        </p:spPr>
        <p:txBody>
          <a:bodyPr wrap="square" lIns="45720" tIns="18288" rIns="45720" bIns="18288" anchor="t">
            <a:spAutoFit/>
          </a:bodyPr>
          <a:lstStyle/>
          <a:p>
            <a:pPr algn="ctr">
              <a:spcAft>
                <a:spcPts val="200"/>
              </a:spcAft>
            </a:pPr>
            <a:r>
              <a:rPr sz="1000" b="1">
                <a:solidFill>
                  <a:srgbClr val="008A3E"/>
                </a:solidFill>
                <a:latin typeface="NanumSquare Neo Regular" pitchFamily="2" charset="-127"/>
                <a:ea typeface="NanumSquare Neo Regular" pitchFamily="2" charset="-127"/>
              </a:rPr>
              <a:t>완료</a:t>
            </a:r>
          </a:p>
        </p:txBody>
      </p:sp>
      <p:sp>
        <p:nvSpPr>
          <p:cNvPr id="21" name="TextBox 20"/>
          <p:cNvSpPr txBox="1"/>
          <p:nvPr/>
        </p:nvSpPr>
        <p:spPr>
          <a:xfrm>
            <a:off x="1371600" y="4187952"/>
            <a:ext cx="9966960" cy="190821"/>
          </a:xfrm>
          <a:prstGeom prst="rect">
            <a:avLst/>
          </a:prstGeom>
          <a:noFill/>
        </p:spPr>
        <p:txBody>
          <a:bodyPr wrap="square" lIns="45720" tIns="18288" rIns="45720" bIns="18288" anchor="t">
            <a:spAutoFit/>
          </a:bodyPr>
          <a:lstStyle/>
          <a:p>
            <a:pPr algn="l">
              <a:spcAft>
                <a:spcPts val="200"/>
              </a:spcAft>
            </a:pPr>
            <a:r>
              <a:rPr sz="1000" b="0">
                <a:solidFill>
                  <a:srgbClr val="262626"/>
                </a:solidFill>
                <a:latin typeface="NanumSquare Neo Regular" pitchFamily="2" charset="-127"/>
                <a:ea typeface="NanumSquare Neo Regular" pitchFamily="2" charset="-127"/>
              </a:rPr>
              <a:t>직접학습 계열(LSTM·NCDE 등) 전부 기각 — 소표본 한계. 사전학습 계열(TTM·Chronos-2·TabPFN)은 유효 — 일별 신호 결합 시 단독 0.808.</a:t>
            </a:r>
          </a:p>
        </p:txBody>
      </p:sp>
      <p:sp>
        <p:nvSpPr>
          <p:cNvPr id="22" name="Rounded Rectangle 21"/>
          <p:cNvSpPr/>
          <p:nvPr/>
        </p:nvSpPr>
        <p:spPr>
          <a:xfrm>
            <a:off x="502920" y="4919472"/>
            <a:ext cx="11183112" cy="1115568"/>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3" name="TextBox 22"/>
          <p:cNvSpPr txBox="1"/>
          <p:nvPr/>
        </p:nvSpPr>
        <p:spPr>
          <a:xfrm>
            <a:off x="731520" y="5047488"/>
            <a:ext cx="640080" cy="236988"/>
          </a:xfrm>
          <a:prstGeom prst="rect">
            <a:avLst/>
          </a:prstGeom>
          <a:noFill/>
        </p:spPr>
        <p:txBody>
          <a:bodyPr wrap="square" lIns="45720" tIns="18288" rIns="45720" bIns="18288" anchor="t">
            <a:spAutoFit/>
          </a:bodyPr>
          <a:lstStyle/>
          <a:p>
            <a:pPr algn="l">
              <a:spcAft>
                <a:spcPts val="200"/>
              </a:spcAft>
            </a:pPr>
            <a:r>
              <a:rPr sz="1300" b="1">
                <a:solidFill>
                  <a:srgbClr val="243447"/>
                </a:solidFill>
                <a:latin typeface="NanumSquare Neo Regular" pitchFamily="2" charset="-127"/>
                <a:ea typeface="NanumSquare Neo Regular" pitchFamily="2" charset="-127"/>
              </a:rPr>
              <a:t>T4</a:t>
            </a:r>
          </a:p>
        </p:txBody>
      </p:sp>
      <p:sp>
        <p:nvSpPr>
          <p:cNvPr id="24" name="TextBox 23"/>
          <p:cNvSpPr txBox="1"/>
          <p:nvPr/>
        </p:nvSpPr>
        <p:spPr>
          <a:xfrm>
            <a:off x="1371600" y="5047488"/>
            <a:ext cx="694944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예측 불변 부가 레이어</a:t>
            </a:r>
          </a:p>
        </p:txBody>
      </p:sp>
      <p:sp>
        <p:nvSpPr>
          <p:cNvPr id="25" name="Rectangle 24"/>
          <p:cNvSpPr/>
          <p:nvPr/>
        </p:nvSpPr>
        <p:spPr>
          <a:xfrm>
            <a:off x="10104120" y="5065776"/>
            <a:ext cx="1325880" cy="329184"/>
          </a:xfrm>
          <a:prstGeom prst="rect">
            <a:avLst/>
          </a:prstGeom>
          <a:solidFill>
            <a:srgbClr val="E8F3EC"/>
          </a:solidFill>
          <a:ln w="9525">
            <a:solidFill>
              <a:srgbClr val="1C5C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6" name="TextBox 25"/>
          <p:cNvSpPr txBox="1"/>
          <p:nvPr/>
        </p:nvSpPr>
        <p:spPr>
          <a:xfrm>
            <a:off x="10104120" y="5102352"/>
            <a:ext cx="1325880" cy="190821"/>
          </a:xfrm>
          <a:prstGeom prst="rect">
            <a:avLst/>
          </a:prstGeom>
          <a:noFill/>
        </p:spPr>
        <p:txBody>
          <a:bodyPr wrap="square" lIns="45720" tIns="18288" rIns="45720" bIns="18288" anchor="t">
            <a:spAutoFit/>
          </a:bodyPr>
          <a:lstStyle/>
          <a:p>
            <a:pPr algn="ctr">
              <a:spcAft>
                <a:spcPts val="200"/>
              </a:spcAft>
            </a:pPr>
            <a:r>
              <a:rPr sz="1000" b="1">
                <a:solidFill>
                  <a:srgbClr val="1C5CAB"/>
                </a:solidFill>
                <a:latin typeface="NanumSquare Neo Regular" pitchFamily="2" charset="-127"/>
                <a:ea typeface="NanumSquare Neo Regular" pitchFamily="2" charset="-127"/>
              </a:rPr>
              <a:t>진행 중</a:t>
            </a:r>
          </a:p>
        </p:txBody>
      </p:sp>
      <p:sp>
        <p:nvSpPr>
          <p:cNvPr id="27" name="TextBox 26"/>
          <p:cNvSpPr txBox="1"/>
          <p:nvPr/>
        </p:nvSpPr>
        <p:spPr>
          <a:xfrm>
            <a:off x="1371600" y="5431536"/>
            <a:ext cx="9966960" cy="190821"/>
          </a:xfrm>
          <a:prstGeom prst="rect">
            <a:avLst/>
          </a:prstGeom>
          <a:noFill/>
        </p:spPr>
        <p:txBody>
          <a:bodyPr wrap="square" lIns="45720" tIns="18288" rIns="45720" bIns="18288" anchor="t">
            <a:spAutoFit/>
          </a:bodyPr>
          <a:lstStyle/>
          <a:p>
            <a:pPr algn="l">
              <a:spcAft>
                <a:spcPts val="200"/>
              </a:spcAft>
            </a:pPr>
            <a:r>
              <a:rPr sz="1000" b="0">
                <a:solidFill>
                  <a:srgbClr val="262626"/>
                </a:solidFill>
                <a:latin typeface="NanumSquare Neo Regular" pitchFamily="2" charset="-127"/>
                <a:ea typeface="NanumSquare Neo Regular" pitchFamily="2" charset="-127"/>
              </a:rPr>
              <a:t>현행 점 예측은 그대로 두고 가치를 더하는 층위: fan chart(예측구간, 검증 완료) · 전망변동 자동 설명 리포트(설계 중) · 속보-확정 개정 예측(타당성 검토 예정).</a:t>
            </a:r>
          </a:p>
        </p:txBody>
      </p:sp>
      <p:sp>
        <p:nvSpPr>
          <p:cNvPr id="28" name="Rectangle 27"/>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9" name="TextBox 28"/>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공통 검증 규약: 한은 제공 실시간 빈티지 · 속보치 기준 · 전망주차 w[-19,-1] 평균 RMSE · 2018Q1~2025Q4 (32개 분기)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dirty="0">
                <a:solidFill>
                  <a:srgbClr val="008A3E"/>
                </a:solidFill>
                <a:latin typeface="NanumSquare Neo Regular" pitchFamily="2" charset="-127"/>
                <a:ea typeface="NanumSquare Neo Regular" pitchFamily="2" charset="-127"/>
              </a:rPr>
              <a:t>03  </a:t>
            </a:r>
            <a:r>
              <a:rPr sz="1900" b="1" dirty="0" err="1">
                <a:solidFill>
                  <a:srgbClr val="243447"/>
                </a:solidFill>
                <a:latin typeface="NanumSquare Neo Regular" pitchFamily="2" charset="-127"/>
                <a:ea typeface="NanumSquare Neo Regular" pitchFamily="2" charset="-127"/>
              </a:rPr>
              <a:t>검증</a:t>
            </a:r>
            <a:r>
              <a:rPr sz="1900" b="1" dirty="0">
                <a:solidFill>
                  <a:srgbClr val="243447"/>
                </a:solidFill>
                <a:latin typeface="NanumSquare Neo Regular" pitchFamily="2" charset="-127"/>
                <a:ea typeface="NanumSquare Neo Regular" pitchFamily="2" charset="-127"/>
              </a:rPr>
              <a:t> </a:t>
            </a:r>
            <a:r>
              <a:rPr sz="1900" b="1" dirty="0" err="1">
                <a:solidFill>
                  <a:srgbClr val="243447"/>
                </a:solidFill>
                <a:latin typeface="NanumSquare Neo Regular" pitchFamily="2" charset="-127"/>
                <a:ea typeface="NanumSquare Neo Regular" pitchFamily="2" charset="-127"/>
              </a:rPr>
              <a:t>결과</a:t>
            </a:r>
            <a:r>
              <a:rPr sz="1900" b="1" dirty="0">
                <a:solidFill>
                  <a:srgbClr val="243447"/>
                </a:solidFill>
                <a:latin typeface="NanumSquare Neo Regular" pitchFamily="2" charset="-127"/>
                <a:ea typeface="NanumSquare Neo Regular" pitchFamily="2" charset="-127"/>
              </a:rPr>
              <a:t> </a:t>
            </a:r>
            <a:r>
              <a:rPr sz="1900" b="1" dirty="0" err="1">
                <a:solidFill>
                  <a:srgbClr val="243447"/>
                </a:solidFill>
                <a:latin typeface="NanumSquare Neo Regular" pitchFamily="2" charset="-127"/>
                <a:ea typeface="NanumSquare Neo Regular" pitchFamily="2" charset="-127"/>
              </a:rPr>
              <a:t>총괄</a:t>
            </a:r>
            <a:r>
              <a:rPr sz="1900" b="1" dirty="0">
                <a:solidFill>
                  <a:srgbClr val="243447"/>
                </a:solidFill>
                <a:latin typeface="NanumSquare Neo Regular" pitchFamily="2" charset="-127"/>
                <a:ea typeface="NanumSquare Neo Regular" pitchFamily="2" charset="-127"/>
              </a:rPr>
              <a:t> — </a:t>
            </a:r>
            <a:r>
              <a:rPr sz="1900" b="1" dirty="0" err="1">
                <a:solidFill>
                  <a:srgbClr val="243447"/>
                </a:solidFill>
                <a:latin typeface="NanumSquare Neo Regular" pitchFamily="2" charset="-127"/>
                <a:ea typeface="NanumSquare Neo Regular" pitchFamily="2" charset="-127"/>
              </a:rPr>
              <a:t>주요</a:t>
            </a:r>
            <a:r>
              <a:rPr sz="1900" b="1" dirty="0">
                <a:solidFill>
                  <a:srgbClr val="243447"/>
                </a:solidFill>
                <a:latin typeface="NanumSquare Neo Regular" pitchFamily="2" charset="-127"/>
                <a:ea typeface="NanumSquare Neo Regular" pitchFamily="2" charset="-127"/>
              </a:rPr>
              <a:t> </a:t>
            </a:r>
            <a:r>
              <a:rPr sz="1900" b="1" dirty="0" err="1">
                <a:solidFill>
                  <a:srgbClr val="243447"/>
                </a:solidFill>
                <a:latin typeface="NanumSquare Neo Regular" pitchFamily="2" charset="-127"/>
                <a:ea typeface="NanumSquare Neo Regular" pitchFamily="2" charset="-127"/>
              </a:rPr>
              <a:t>구성</a:t>
            </a:r>
            <a:r>
              <a:rPr sz="1900" b="1" dirty="0">
                <a:solidFill>
                  <a:srgbClr val="243447"/>
                </a:solidFill>
                <a:latin typeface="NanumSquare Neo Regular" pitchFamily="2" charset="-127"/>
                <a:ea typeface="NanumSquare Neo Regular" pitchFamily="2" charset="-127"/>
              </a:rPr>
              <a:t> </a:t>
            </a:r>
            <a:r>
              <a:rPr sz="1900" b="1" dirty="0" err="1">
                <a:solidFill>
                  <a:srgbClr val="243447"/>
                </a:solidFill>
                <a:latin typeface="NanumSquare Neo Regular" pitchFamily="2" charset="-127"/>
                <a:ea typeface="NanumSquare Neo Regular" pitchFamily="2" charset="-127"/>
              </a:rPr>
              <a:t>성적표</a:t>
            </a:r>
            <a:endParaRPr sz="1900" b="1" dirty="0">
              <a:solidFill>
                <a:srgbClr val="243447"/>
              </a:solidFill>
              <a:latin typeface="NanumSquare Neo Regular" pitchFamily="2" charset="-127"/>
              <a:ea typeface="NanumSquare Neo Regular" pitchFamily="2" charset="-127"/>
            </a:endParaRP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pic>
        <p:nvPicPr>
          <p:cNvPr id="4" name="Picture 3" descr="bok_leader.png"/>
          <p:cNvPicPr>
            <a:picLocks noChangeAspect="1"/>
          </p:cNvPicPr>
          <p:nvPr/>
        </p:nvPicPr>
        <p:blipFill>
          <a:blip r:embed="rId3"/>
          <a:stretch>
            <a:fillRect/>
          </a:stretch>
        </p:blipFill>
        <p:spPr>
          <a:xfrm>
            <a:off x="411480" y="1234440"/>
            <a:ext cx="6675120" cy="3154505"/>
          </a:xfrm>
          <a:prstGeom prst="rect">
            <a:avLst/>
          </a:prstGeom>
        </p:spPr>
      </p:pic>
      <p:sp>
        <p:nvSpPr>
          <p:cNvPr id="5" name="TextBox 4"/>
          <p:cNvSpPr txBox="1"/>
          <p:nvPr/>
        </p:nvSpPr>
        <p:spPr>
          <a:xfrm>
            <a:off x="7406640" y="1325880"/>
            <a:ext cx="4297680" cy="3068532"/>
          </a:xfrm>
          <a:prstGeom prst="rect">
            <a:avLst/>
          </a:prstGeom>
          <a:noFill/>
        </p:spPr>
        <p:txBody>
          <a:bodyPr wrap="square" lIns="45720" tIns="18288" rIns="45720" bIns="18288" anchor="t">
            <a:spAutoFit/>
          </a:bodyPr>
          <a:lstStyle/>
          <a:p>
            <a:pPr algn="l">
              <a:spcAft>
                <a:spcPts val="300"/>
              </a:spcAft>
            </a:pPr>
            <a:r>
              <a:rPr sz="1200" b="1">
                <a:solidFill>
                  <a:srgbClr val="243447"/>
                </a:solidFill>
                <a:latin typeface="NanumSquare Neo Regular" pitchFamily="2" charset="-127"/>
                <a:ea typeface="NanumSquare Neo Regular" pitchFamily="2" charset="-127"/>
              </a:rPr>
              <a:t>읽는 법</a:t>
            </a:r>
          </a:p>
          <a:p>
            <a:pPr algn="l">
              <a:spcAft>
                <a:spcPts val="300"/>
              </a:spcAft>
            </a:pPr>
            <a:r>
              <a:rPr sz="1050" b="0">
                <a:solidFill>
                  <a:srgbClr val="262626"/>
                </a:solidFill>
                <a:latin typeface="NanumSquare Neo Regular" pitchFamily="2" charset="-127"/>
                <a:ea typeface="NanumSquare Neo Regular" pitchFamily="2" charset="-127"/>
              </a:rPr>
              <a:t>· 낮을수록 정확 (RMSE)</a:t>
            </a:r>
          </a:p>
          <a:p>
            <a:pPr algn="l">
              <a:spcAft>
                <a:spcPts val="300"/>
              </a:spcAft>
            </a:pPr>
            <a:r>
              <a:rPr sz="1050" b="0">
                <a:solidFill>
                  <a:srgbClr val="262626"/>
                </a:solidFill>
                <a:latin typeface="NanumSquare Neo Regular" pitchFamily="2" charset="-127"/>
                <a:ea typeface="NanumSquare Neo Regular" pitchFamily="2" charset="-127"/>
              </a:rPr>
              <a:t>· 전 구성 동일 규약 — 직접 비교 가능</a:t>
            </a:r>
          </a:p>
          <a:p>
            <a:pPr algn="l">
              <a:spcAft>
                <a:spcPts val="300"/>
              </a:spcAft>
            </a:pPr>
            <a:endParaRPr sz="1050" b="0">
              <a:solidFill>
                <a:srgbClr val="262626"/>
              </a:solidFill>
              <a:latin typeface="NanumSquare Neo Regular" pitchFamily="2" charset="-127"/>
              <a:ea typeface="NanumSquare Neo Regular" pitchFamily="2" charset="-127"/>
            </a:endParaRPr>
          </a:p>
          <a:p>
            <a:pPr algn="l">
              <a:spcAft>
                <a:spcPts val="300"/>
              </a:spcAft>
            </a:pPr>
            <a:r>
              <a:rPr sz="1150" b="1">
                <a:solidFill>
                  <a:srgbClr val="008A3E"/>
                </a:solidFill>
                <a:latin typeface="NanumSquare Neo Regular" pitchFamily="2" charset="-127"/>
                <a:ea typeface="NanumSquare Neo Regular" pitchFamily="2" charset="-127"/>
              </a:rPr>
              <a:t>관찰 1</a:t>
            </a:r>
          </a:p>
          <a:p>
            <a:pPr algn="l">
              <a:spcAft>
                <a:spcPts val="300"/>
              </a:spcAft>
            </a:pPr>
            <a:r>
              <a:rPr sz="1050" b="0">
                <a:solidFill>
                  <a:srgbClr val="262626"/>
                </a:solidFill>
                <a:latin typeface="NanumSquare Neo Regular" pitchFamily="2" charset="-127"/>
                <a:ea typeface="NanumSquare Neo Regular" pitchFamily="2" charset="-127"/>
              </a:rPr>
              <a:t>현행 구성(0.765)은 검증한 40여 개 구성</a:t>
            </a:r>
          </a:p>
          <a:p>
            <a:pPr algn="l">
              <a:spcAft>
                <a:spcPts val="300"/>
              </a:spcAft>
            </a:pPr>
            <a:r>
              <a:rPr sz="1050" b="1">
                <a:solidFill>
                  <a:srgbClr val="262626"/>
                </a:solidFill>
                <a:latin typeface="NanumSquare Neo Regular" pitchFamily="2" charset="-127"/>
                <a:ea typeface="NanumSquare Neo Regular" pitchFamily="2" charset="-127"/>
              </a:rPr>
              <a:t>대부분을 상회 — 견고하게 설계된 시스템</a:t>
            </a:r>
          </a:p>
          <a:p>
            <a:pPr algn="l">
              <a:spcAft>
                <a:spcPts val="300"/>
              </a:spcAft>
            </a:pPr>
            <a:endParaRPr sz="1050" b="1">
              <a:solidFill>
                <a:srgbClr val="262626"/>
              </a:solidFill>
              <a:latin typeface="NanumSquare Neo Regular" pitchFamily="2" charset="-127"/>
              <a:ea typeface="NanumSquare Neo Regular" pitchFamily="2" charset="-127"/>
            </a:endParaRPr>
          </a:p>
          <a:p>
            <a:pPr algn="l">
              <a:spcAft>
                <a:spcPts val="300"/>
              </a:spcAft>
            </a:pPr>
            <a:r>
              <a:rPr sz="1150" b="1">
                <a:solidFill>
                  <a:srgbClr val="008A3E"/>
                </a:solidFill>
                <a:latin typeface="NanumSquare Neo Regular" pitchFamily="2" charset="-127"/>
                <a:ea typeface="NanumSquare Neo Regular" pitchFamily="2" charset="-127"/>
              </a:rPr>
              <a:t>관찰 2</a:t>
            </a:r>
          </a:p>
          <a:p>
            <a:pPr algn="l">
              <a:spcAft>
                <a:spcPts val="300"/>
              </a:spcAft>
            </a:pPr>
            <a:r>
              <a:rPr sz="1050" b="0">
                <a:solidFill>
                  <a:srgbClr val="262626"/>
                </a:solidFill>
                <a:latin typeface="NanumSquare Neo Regular" pitchFamily="2" charset="-127"/>
                <a:ea typeface="NanumSquare Neo Regular" pitchFamily="2" charset="-127"/>
              </a:rPr>
              <a:t>이를 넘는 상시 구성은 3자 결합이 유일</a:t>
            </a:r>
          </a:p>
          <a:p>
            <a:pPr algn="l">
              <a:spcAft>
                <a:spcPts val="300"/>
              </a:spcAft>
            </a:pPr>
            <a:r>
              <a:rPr sz="1050" b="0">
                <a:solidFill>
                  <a:srgbClr val="262626"/>
                </a:solidFill>
                <a:latin typeface="NanumSquare Neo Regular" pitchFamily="2" charset="-127"/>
                <a:ea typeface="NanumSquare Neo Regular" pitchFamily="2" charset="-127"/>
              </a:rPr>
              <a:t>(0.746, 현행 대비 -2.5%)</a:t>
            </a:r>
          </a:p>
          <a:p>
            <a:pPr algn="l">
              <a:spcAft>
                <a:spcPts val="300"/>
              </a:spcAft>
            </a:pPr>
            <a:endParaRPr sz="1050" b="0">
              <a:solidFill>
                <a:srgbClr val="262626"/>
              </a:solidFill>
              <a:latin typeface="NanumSquare Neo Regular" pitchFamily="2" charset="-127"/>
              <a:ea typeface="NanumSquare Neo Regular" pitchFamily="2" charset="-127"/>
            </a:endParaRPr>
          </a:p>
          <a:p>
            <a:pPr algn="l">
              <a:spcAft>
                <a:spcPts val="300"/>
              </a:spcAft>
            </a:pPr>
            <a:r>
              <a:rPr sz="1150" b="1">
                <a:solidFill>
                  <a:srgbClr val="008A3E"/>
                </a:solidFill>
                <a:latin typeface="NanumSquare Neo Regular" pitchFamily="2" charset="-127"/>
                <a:ea typeface="NanumSquare Neo Regular" pitchFamily="2" charset="-127"/>
              </a:rPr>
              <a:t>관찰 3</a:t>
            </a:r>
          </a:p>
          <a:p>
            <a:pPr algn="l">
              <a:spcAft>
                <a:spcPts val="300"/>
              </a:spcAft>
            </a:pPr>
            <a:r>
              <a:rPr sz="1050" b="0">
                <a:solidFill>
                  <a:srgbClr val="262626"/>
                </a:solidFill>
                <a:latin typeface="NanumSquare Neo Regular" pitchFamily="2" charset="-127"/>
                <a:ea typeface="NanumSquare Neo Regular" pitchFamily="2" charset="-127"/>
              </a:rPr>
              <a:t>사전학습 딥러닝 단독으로도 0.808 —</a:t>
            </a:r>
          </a:p>
          <a:p>
            <a:pPr algn="l">
              <a:spcAft>
                <a:spcPts val="300"/>
              </a:spcAft>
            </a:pPr>
            <a:r>
              <a:rPr sz="1050" b="0">
                <a:solidFill>
                  <a:srgbClr val="262626"/>
                </a:solidFill>
                <a:latin typeface="NanumSquare Neo Regular" pitchFamily="2" charset="-127"/>
                <a:ea typeface="NanumSquare Neo Regular" pitchFamily="2" charset="-127"/>
              </a:rPr>
              <a:t>보조 예측기로서 실용 수준 진입</a:t>
            </a:r>
          </a:p>
        </p:txBody>
      </p:sp>
      <p:sp>
        <p:nvSpPr>
          <p:cNvPr id="6" name="Rectangle 5"/>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7" name="TextBox 6"/>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공통 검증 규약: 한은 제공 실시간 빈티지 · 속보치 기준 · 전망주차 w[-19,-1] 평균 RMSE · 2018Q1~2025Q4 (32개 분기)  ·  이외 30여 개 구성(직접학습 신경망, 예측결합 변형 등)은 전부 현행 미달로 생략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04  </a:t>
            </a:r>
            <a:r>
              <a:rPr sz="1900" b="1">
                <a:solidFill>
                  <a:srgbClr val="243447"/>
                </a:solidFill>
                <a:latin typeface="NanumSquare Neo Regular" pitchFamily="2" charset="-127"/>
                <a:ea typeface="NanumSquare Neo Regular" pitchFamily="2" charset="-127"/>
              </a:rPr>
              <a:t>딥러닝 검증 — 사전학습 모델 + 일별 신호의 결합이 유효</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143000"/>
            <a:ext cx="5394960" cy="1532214"/>
          </a:xfrm>
          <a:prstGeom prst="rect">
            <a:avLst/>
          </a:prstGeom>
          <a:noFill/>
        </p:spPr>
        <p:txBody>
          <a:bodyPr wrap="square" lIns="45720" tIns="18288" rIns="45720" bIns="18288" anchor="t">
            <a:spAutoFit/>
          </a:bodyPr>
          <a:lstStyle/>
          <a:p>
            <a:pPr algn="l">
              <a:spcAft>
                <a:spcPts val="200"/>
              </a:spcAft>
            </a:pPr>
            <a:r>
              <a:rPr sz="1250" b="1" dirty="0" err="1">
                <a:solidFill>
                  <a:srgbClr val="243447"/>
                </a:solidFill>
                <a:latin typeface="NanumSquare Neo Regular" pitchFamily="2" charset="-127"/>
                <a:ea typeface="NanumSquare Neo Regular" pitchFamily="2" charset="-127"/>
              </a:rPr>
              <a:t>검증</a:t>
            </a:r>
            <a:r>
              <a:rPr sz="1250" b="1" dirty="0">
                <a:solidFill>
                  <a:srgbClr val="243447"/>
                </a:solidFill>
                <a:latin typeface="NanumSquare Neo Regular" pitchFamily="2" charset="-127"/>
                <a:ea typeface="NanumSquare Neo Regular" pitchFamily="2" charset="-127"/>
              </a:rPr>
              <a:t> </a:t>
            </a:r>
            <a:r>
              <a:rPr sz="1250" b="1" dirty="0" err="1">
                <a:solidFill>
                  <a:srgbClr val="243447"/>
                </a:solidFill>
                <a:latin typeface="NanumSquare Neo Regular" pitchFamily="2" charset="-127"/>
                <a:ea typeface="NanumSquare Neo Regular" pitchFamily="2" charset="-127"/>
              </a:rPr>
              <a:t>결론</a:t>
            </a:r>
            <a:r>
              <a:rPr sz="1250" b="1" dirty="0">
                <a:solidFill>
                  <a:srgbClr val="243447"/>
                </a:solidFill>
                <a:latin typeface="NanumSquare Neo Regular" pitchFamily="2" charset="-127"/>
                <a:ea typeface="NanumSquare Neo Regular" pitchFamily="2" charset="-127"/>
              </a:rPr>
              <a:t> (</a:t>
            </a:r>
            <a:r>
              <a:rPr sz="1250" b="1" dirty="0" err="1">
                <a:solidFill>
                  <a:srgbClr val="243447"/>
                </a:solidFill>
                <a:latin typeface="NanumSquare Neo Regular" pitchFamily="2" charset="-127"/>
                <a:ea typeface="NanumSquare Neo Regular" pitchFamily="2" charset="-127"/>
              </a:rPr>
              <a:t>모델</a:t>
            </a:r>
            <a:r>
              <a:rPr sz="1250" b="1" dirty="0">
                <a:solidFill>
                  <a:srgbClr val="243447"/>
                </a:solidFill>
                <a:latin typeface="NanumSquare Neo Regular" pitchFamily="2" charset="-127"/>
                <a:ea typeface="NanumSquare Neo Regular" pitchFamily="2" charset="-127"/>
              </a:rPr>
              <a:t> 10여 </a:t>
            </a:r>
            <a:r>
              <a:rPr sz="1250" b="1" dirty="0" err="1">
                <a:solidFill>
                  <a:srgbClr val="243447"/>
                </a:solidFill>
                <a:latin typeface="NanumSquare Neo Regular" pitchFamily="2" charset="-127"/>
                <a:ea typeface="NanumSquare Neo Regular" pitchFamily="2" charset="-127"/>
              </a:rPr>
              <a:t>종</a:t>
            </a:r>
            <a:r>
              <a:rPr sz="1250" b="1" dirty="0">
                <a:solidFill>
                  <a:srgbClr val="243447"/>
                </a:solidFill>
                <a:latin typeface="NanumSquare Neo Regular" pitchFamily="2" charset="-127"/>
                <a:ea typeface="NanumSquare Neo Regular" pitchFamily="2" charset="-127"/>
              </a:rPr>
              <a:t>, </a:t>
            </a:r>
            <a:r>
              <a:rPr sz="1250" b="1" dirty="0" err="1">
                <a:solidFill>
                  <a:srgbClr val="243447"/>
                </a:solidFill>
                <a:latin typeface="NanumSquare Neo Regular" pitchFamily="2" charset="-127"/>
                <a:ea typeface="NanumSquare Neo Regular" pitchFamily="2" charset="-127"/>
              </a:rPr>
              <a:t>논문</a:t>
            </a:r>
            <a:r>
              <a:rPr sz="1250" b="1" dirty="0">
                <a:solidFill>
                  <a:srgbClr val="243447"/>
                </a:solidFill>
                <a:latin typeface="NanumSquare Neo Regular" pitchFamily="2" charset="-127"/>
                <a:ea typeface="NanumSquare Neo Regular" pitchFamily="2" charset="-127"/>
              </a:rPr>
              <a:t> 50여 </a:t>
            </a:r>
            <a:r>
              <a:rPr sz="1250" b="1" dirty="0" err="1">
                <a:solidFill>
                  <a:srgbClr val="243447"/>
                </a:solidFill>
                <a:latin typeface="NanumSquare Neo Regular" pitchFamily="2" charset="-127"/>
                <a:ea typeface="NanumSquare Neo Regular" pitchFamily="2" charset="-127"/>
              </a:rPr>
              <a:t>편</a:t>
            </a:r>
            <a:r>
              <a:rPr sz="1250" b="1" dirty="0">
                <a:solidFill>
                  <a:srgbClr val="243447"/>
                </a:solidFill>
                <a:latin typeface="NanumSquare Neo Regular" pitchFamily="2" charset="-127"/>
                <a:ea typeface="NanumSquare Neo Regular" pitchFamily="2" charset="-127"/>
              </a:rPr>
              <a:t> </a:t>
            </a:r>
            <a:r>
              <a:rPr sz="1250" b="1" dirty="0" err="1">
                <a:solidFill>
                  <a:srgbClr val="243447"/>
                </a:solidFill>
                <a:latin typeface="NanumSquare Neo Regular" pitchFamily="2" charset="-127"/>
                <a:ea typeface="NanumSquare Neo Regular" pitchFamily="2" charset="-127"/>
              </a:rPr>
              <a:t>검토</a:t>
            </a:r>
            <a:r>
              <a:rPr sz="1250" b="1" dirty="0">
                <a:solidFill>
                  <a:srgbClr val="243447"/>
                </a:solidFill>
                <a:latin typeface="NanumSquare Neo Regular" pitchFamily="2" charset="-127"/>
                <a:ea typeface="NanumSquare Neo Regular" pitchFamily="2" charset="-127"/>
              </a:rPr>
              <a:t>)</a:t>
            </a:r>
          </a:p>
          <a:p>
            <a:pPr algn="l">
              <a:spcAft>
                <a:spcPts val="200"/>
              </a:spcAft>
            </a:pPr>
            <a:endParaRPr sz="1250" b="1" dirty="0">
              <a:solidFill>
                <a:srgbClr val="243447"/>
              </a:solidFill>
              <a:latin typeface="NanumSquare Neo Regular" pitchFamily="2" charset="-127"/>
              <a:ea typeface="NanumSquare Neo Regular" pitchFamily="2" charset="-127"/>
            </a:endParaRPr>
          </a:p>
          <a:p>
            <a:pPr algn="l">
              <a:spcAft>
                <a:spcPts val="200"/>
              </a:spcAft>
            </a:pP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직접학습</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신경망</a:t>
            </a:r>
            <a:r>
              <a:rPr sz="1050" b="0" dirty="0">
                <a:solidFill>
                  <a:srgbClr val="262626"/>
                </a:solidFill>
                <a:latin typeface="NanumSquare Neo Regular" pitchFamily="2" charset="-127"/>
                <a:ea typeface="NanumSquare Neo Regular" pitchFamily="2" charset="-127"/>
              </a:rPr>
              <a:t>(LSTM·NCDE </a:t>
            </a:r>
            <a:r>
              <a:rPr sz="1050" b="0" dirty="0" err="1">
                <a:solidFill>
                  <a:srgbClr val="262626"/>
                </a:solidFill>
                <a:latin typeface="NanumSquare Neo Regular" pitchFamily="2" charset="-127"/>
                <a:ea typeface="NanumSquare Neo Regular" pitchFamily="2" charset="-127"/>
              </a:rPr>
              <a:t>등</a:t>
            </a:r>
            <a:r>
              <a:rPr sz="1050" b="0" dirty="0">
                <a:solidFill>
                  <a:srgbClr val="262626"/>
                </a:solidFill>
                <a:latin typeface="NanumSquare Neo Regular" pitchFamily="2" charset="-127"/>
                <a:ea typeface="NanumSquare Neo Regular" pitchFamily="2" charset="-127"/>
              </a:rPr>
              <a:t>): </a:t>
            </a:r>
            <a:r>
              <a:rPr sz="1050" b="1" dirty="0" err="1">
                <a:solidFill>
                  <a:srgbClr val="B0532F"/>
                </a:solidFill>
                <a:latin typeface="NanumSquare Neo Regular" pitchFamily="2" charset="-127"/>
                <a:ea typeface="NanumSquare Neo Regular" pitchFamily="2" charset="-127"/>
              </a:rPr>
              <a:t>전부</a:t>
            </a:r>
            <a:r>
              <a:rPr sz="1050" b="1" dirty="0">
                <a:solidFill>
                  <a:srgbClr val="B0532F"/>
                </a:solidFill>
                <a:latin typeface="NanumSquare Neo Regular" pitchFamily="2" charset="-127"/>
                <a:ea typeface="NanumSquare Neo Regular" pitchFamily="2" charset="-127"/>
              </a:rPr>
              <a:t> </a:t>
            </a:r>
            <a:r>
              <a:rPr sz="1050" b="1" dirty="0" err="1">
                <a:solidFill>
                  <a:srgbClr val="B0532F"/>
                </a:solidFill>
                <a:latin typeface="NanumSquare Neo Regular" pitchFamily="2" charset="-127"/>
                <a:ea typeface="NanumSquare Neo Regular" pitchFamily="2" charset="-127"/>
              </a:rPr>
              <a:t>기각</a:t>
            </a:r>
            <a:endParaRPr sz="1050" b="1" dirty="0">
              <a:solidFill>
                <a:srgbClr val="B0532F"/>
              </a:solidFill>
              <a:latin typeface="NanumSquare Neo Regular" pitchFamily="2" charset="-127"/>
              <a:ea typeface="NanumSquare Neo Regular" pitchFamily="2" charset="-127"/>
            </a:endParaRPr>
          </a:p>
          <a:p>
            <a:pPr algn="l">
              <a:spcAft>
                <a:spcPts val="200"/>
              </a:spcAft>
            </a:pPr>
            <a:r>
              <a:rPr sz="950" b="0" dirty="0">
                <a:solidFill>
                  <a:srgbClr val="6B6B6B"/>
                </a:solidFill>
                <a:latin typeface="NanumSquare Neo Regular" pitchFamily="2" charset="-127"/>
                <a:ea typeface="NanumSquare Neo Regular" pitchFamily="2" charset="-127"/>
              </a:rPr>
              <a:t>  — </a:t>
            </a:r>
            <a:r>
              <a:rPr sz="950" b="0" dirty="0" err="1">
                <a:solidFill>
                  <a:srgbClr val="6B6B6B"/>
                </a:solidFill>
                <a:latin typeface="NanumSquare Neo Regular" pitchFamily="2" charset="-127"/>
                <a:ea typeface="NanumSquare Neo Regular" pitchFamily="2" charset="-127"/>
              </a:rPr>
              <a:t>월</a:t>
            </a:r>
            <a:r>
              <a:rPr sz="950" b="0" dirty="0">
                <a:solidFill>
                  <a:srgbClr val="6B6B6B"/>
                </a:solidFill>
                <a:latin typeface="NanumSquare Neo Regular" pitchFamily="2" charset="-127"/>
                <a:ea typeface="NanumSquare Neo Regular" pitchFamily="2" charset="-127"/>
              </a:rPr>
              <a:t> 140개 </a:t>
            </a:r>
            <a:r>
              <a:rPr sz="950" b="0" dirty="0" err="1">
                <a:solidFill>
                  <a:srgbClr val="6B6B6B"/>
                </a:solidFill>
                <a:latin typeface="NanumSquare Neo Regular" pitchFamily="2" charset="-127"/>
                <a:ea typeface="NanumSquare Neo Regular" pitchFamily="2" charset="-127"/>
              </a:rPr>
              <a:t>관측치로는</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과적합</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불가피</a:t>
            </a:r>
            <a:endParaRPr sz="950" b="0" dirty="0">
              <a:solidFill>
                <a:srgbClr val="6B6B6B"/>
              </a:solidFill>
              <a:latin typeface="NanumSquare Neo Regular" pitchFamily="2" charset="-127"/>
              <a:ea typeface="NanumSquare Neo Regular" pitchFamily="2" charset="-127"/>
            </a:endParaRPr>
          </a:p>
          <a:p>
            <a:pPr algn="l">
              <a:spcAft>
                <a:spcPts val="200"/>
              </a:spcAft>
            </a:pP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사전학습</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모델</a:t>
            </a:r>
            <a:r>
              <a:rPr sz="1050" b="0" dirty="0">
                <a:solidFill>
                  <a:srgbClr val="262626"/>
                </a:solidFill>
                <a:latin typeface="NanumSquare Neo Regular" pitchFamily="2" charset="-127"/>
                <a:ea typeface="NanumSquare Neo Regular" pitchFamily="2" charset="-127"/>
              </a:rPr>
              <a:t>(TTM·TabPFN·Chronos-2): </a:t>
            </a:r>
            <a:r>
              <a:rPr sz="1050" b="1" dirty="0" err="1">
                <a:solidFill>
                  <a:srgbClr val="008A3E"/>
                </a:solidFill>
                <a:latin typeface="NanumSquare Neo Regular" pitchFamily="2" charset="-127"/>
                <a:ea typeface="NanumSquare Neo Regular" pitchFamily="2" charset="-127"/>
              </a:rPr>
              <a:t>유효</a:t>
            </a:r>
            <a:endParaRPr sz="1050" b="1" dirty="0">
              <a:solidFill>
                <a:srgbClr val="008A3E"/>
              </a:solidFill>
              <a:latin typeface="NanumSquare Neo Regular" pitchFamily="2" charset="-127"/>
              <a:ea typeface="NanumSquare Neo Regular" pitchFamily="2" charset="-127"/>
            </a:endParaRPr>
          </a:p>
          <a:p>
            <a:pPr algn="l">
              <a:spcAft>
                <a:spcPts val="200"/>
              </a:spcAft>
            </a:pPr>
            <a:r>
              <a:rPr sz="950" b="0" dirty="0">
                <a:solidFill>
                  <a:srgbClr val="6B6B6B"/>
                </a:solidFill>
                <a:latin typeface="NanumSquare Neo Regular" pitchFamily="2" charset="-127"/>
                <a:ea typeface="NanumSquare Neo Regular" pitchFamily="2" charset="-127"/>
              </a:rPr>
              <a:t>  — </a:t>
            </a:r>
            <a:r>
              <a:rPr sz="950" b="0" dirty="0" err="1">
                <a:solidFill>
                  <a:srgbClr val="6B6B6B"/>
                </a:solidFill>
                <a:latin typeface="NanumSquare Neo Regular" pitchFamily="2" charset="-127"/>
                <a:ea typeface="NanumSquare Neo Regular" pitchFamily="2" charset="-127"/>
              </a:rPr>
              <a:t>외부</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지식</a:t>
            </a:r>
            <a:r>
              <a:rPr sz="950" b="0" dirty="0">
                <a:solidFill>
                  <a:srgbClr val="6B6B6B"/>
                </a:solidFill>
                <a:latin typeface="NanumSquare Neo Regular" pitchFamily="2" charset="-127"/>
                <a:ea typeface="NanumSquare Neo Regular" pitchFamily="2" charset="-127"/>
              </a:rPr>
              <a:t> + </a:t>
            </a:r>
            <a:r>
              <a:rPr sz="950" b="0" dirty="0" err="1">
                <a:solidFill>
                  <a:srgbClr val="6B6B6B"/>
                </a:solidFill>
                <a:latin typeface="NanumSquare Neo Regular" pitchFamily="2" charset="-127"/>
                <a:ea typeface="NanumSquare Neo Regular" pitchFamily="2" charset="-127"/>
              </a:rPr>
              <a:t>우리</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데이터</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소량</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결합이</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관건</a:t>
            </a:r>
            <a:endParaRPr sz="950" b="0" dirty="0">
              <a:solidFill>
                <a:srgbClr val="6B6B6B"/>
              </a:solidFill>
              <a:latin typeface="NanumSquare Neo Regular" pitchFamily="2" charset="-127"/>
              <a:ea typeface="NanumSquare Neo Regular" pitchFamily="2" charset="-127"/>
            </a:endParaRPr>
          </a:p>
          <a:p>
            <a:pPr algn="l">
              <a:spcAft>
                <a:spcPts val="200"/>
              </a:spcAft>
            </a:pP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일별</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신호</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결합</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시</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추가</a:t>
            </a:r>
            <a:r>
              <a:rPr sz="1050" b="0" dirty="0">
                <a:solidFill>
                  <a:srgbClr val="262626"/>
                </a:solidFill>
                <a:latin typeface="NanumSquare Neo Regular" pitchFamily="2" charset="-127"/>
                <a:ea typeface="NanumSquare Neo Regular" pitchFamily="2" charset="-127"/>
              </a:rPr>
              <a:t> </a:t>
            </a:r>
            <a:r>
              <a:rPr sz="1050" b="0" dirty="0" err="1">
                <a:solidFill>
                  <a:srgbClr val="262626"/>
                </a:solidFill>
                <a:latin typeface="NanumSquare Neo Regular" pitchFamily="2" charset="-127"/>
                <a:ea typeface="NanumSquare Neo Regular" pitchFamily="2" charset="-127"/>
              </a:rPr>
              <a:t>개선</a:t>
            </a:r>
            <a:r>
              <a:rPr sz="1050" b="0" dirty="0">
                <a:solidFill>
                  <a:srgbClr val="262626"/>
                </a:solidFill>
                <a:latin typeface="NanumSquare Neo Regular" pitchFamily="2" charset="-127"/>
                <a:ea typeface="NanumSquare Neo Regular" pitchFamily="2" charset="-127"/>
              </a:rPr>
              <a:t>: 0.836 → </a:t>
            </a:r>
            <a:r>
              <a:rPr sz="1100" b="1" dirty="0">
                <a:solidFill>
                  <a:srgbClr val="008A3E"/>
                </a:solidFill>
                <a:latin typeface="NanumSquare Neo Regular" pitchFamily="2" charset="-127"/>
                <a:ea typeface="NanumSquare Neo Regular" pitchFamily="2" charset="-127"/>
              </a:rPr>
              <a:t>0.808</a:t>
            </a:r>
          </a:p>
          <a:p>
            <a:pPr algn="l">
              <a:spcAft>
                <a:spcPts val="200"/>
              </a:spcAft>
            </a:pPr>
            <a:r>
              <a:rPr sz="950" b="0" dirty="0">
                <a:solidFill>
                  <a:srgbClr val="6B6B6B"/>
                </a:solidFill>
                <a:latin typeface="NanumSquare Neo Regular" pitchFamily="2" charset="-127"/>
                <a:ea typeface="NanumSquare Neo Regular" pitchFamily="2" charset="-127"/>
              </a:rPr>
              <a:t>  — </a:t>
            </a:r>
            <a:r>
              <a:rPr sz="950" b="0" dirty="0" err="1">
                <a:solidFill>
                  <a:srgbClr val="6B6B6B"/>
                </a:solidFill>
                <a:latin typeface="NanumSquare Neo Regular" pitchFamily="2" charset="-127"/>
                <a:ea typeface="NanumSquare Neo Regular" pitchFamily="2" charset="-127"/>
              </a:rPr>
              <a:t>KOSPI·원달러</a:t>
            </a:r>
            <a:r>
              <a:rPr sz="950" b="0" dirty="0">
                <a:solidFill>
                  <a:srgbClr val="6B6B6B"/>
                </a:solidFill>
                <a:latin typeface="NanumSquare Neo Regular" pitchFamily="2" charset="-127"/>
                <a:ea typeface="NanumSquare Neo Regular" pitchFamily="2" charset="-127"/>
              </a:rPr>
              <a:t>(</a:t>
            </a:r>
            <a:r>
              <a:rPr sz="950" b="0" dirty="0" err="1">
                <a:solidFill>
                  <a:srgbClr val="6B6B6B"/>
                </a:solidFill>
                <a:latin typeface="NanumSquare Neo Regular" pitchFamily="2" charset="-127"/>
                <a:ea typeface="NanumSquare Neo Regular" pitchFamily="2" charset="-127"/>
              </a:rPr>
              <a:t>당일</a:t>
            </a:r>
            <a:r>
              <a:rPr sz="950" b="0" dirty="0">
                <a:solidFill>
                  <a:srgbClr val="6B6B6B"/>
                </a:solidFill>
                <a:latin typeface="NanumSquare Neo Regular" pitchFamily="2" charset="-127"/>
                <a:ea typeface="NanumSquare Neo Regular" pitchFamily="2" charset="-127"/>
              </a:rPr>
              <a:t> </a:t>
            </a:r>
            <a:r>
              <a:rPr sz="950" b="0" dirty="0" err="1">
                <a:solidFill>
                  <a:srgbClr val="6B6B6B"/>
                </a:solidFill>
                <a:latin typeface="NanumSquare Neo Regular" pitchFamily="2" charset="-127"/>
                <a:ea typeface="NanumSquare Neo Regular" pitchFamily="2" charset="-127"/>
              </a:rPr>
              <a:t>확정·무개정</a:t>
            </a:r>
            <a:r>
              <a:rPr sz="950" b="0" dirty="0">
                <a:solidFill>
                  <a:srgbClr val="6B6B6B"/>
                </a:solidFill>
                <a:latin typeface="NanumSquare Neo Regular" pitchFamily="2" charset="-127"/>
                <a:ea typeface="NanumSquare Neo Regular" pitchFamily="2" charset="-127"/>
              </a:rPr>
              <a:t>) + ESI </a:t>
            </a:r>
            <a:r>
              <a:rPr sz="950" b="0" dirty="0" err="1">
                <a:solidFill>
                  <a:srgbClr val="6B6B6B"/>
                </a:solidFill>
                <a:latin typeface="NanumSquare Neo Regular" pitchFamily="2" charset="-127"/>
                <a:ea typeface="NanumSquare Neo Regular" pitchFamily="2" charset="-127"/>
              </a:rPr>
              <a:t>원지수</a:t>
            </a:r>
            <a:endParaRPr sz="950" b="0" dirty="0">
              <a:solidFill>
                <a:srgbClr val="6B6B6B"/>
              </a:solidFill>
              <a:latin typeface="NanumSquare Neo Regular" pitchFamily="2" charset="-127"/>
              <a:ea typeface="NanumSquare Neo Regular" pitchFamily="2" charset="-127"/>
            </a:endParaRPr>
          </a:p>
        </p:txBody>
      </p:sp>
      <p:sp>
        <p:nvSpPr>
          <p:cNvPr id="5" name="Rounded Rectangle 4"/>
          <p:cNvSpPr/>
          <p:nvPr/>
        </p:nvSpPr>
        <p:spPr>
          <a:xfrm>
            <a:off x="502920" y="3657600"/>
            <a:ext cx="5394960" cy="1737360"/>
          </a:xfrm>
          <a:prstGeom prst="roundRect">
            <a:avLst/>
          </a:prstGeom>
          <a:solidFill>
            <a:srgbClr val="E8F3EC"/>
          </a:solidFill>
          <a:ln w="9525">
            <a:solidFill>
              <a:srgbClr val="00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6" name="TextBox 5"/>
          <p:cNvSpPr txBox="1"/>
          <p:nvPr/>
        </p:nvSpPr>
        <p:spPr>
          <a:xfrm>
            <a:off x="704088" y="3794760"/>
            <a:ext cx="5029200" cy="998735"/>
          </a:xfrm>
          <a:prstGeom prst="rect">
            <a:avLst/>
          </a:prstGeom>
          <a:noFill/>
        </p:spPr>
        <p:txBody>
          <a:bodyPr wrap="square" lIns="45720" tIns="18288" rIns="45720" bIns="18288" anchor="t">
            <a:spAutoFit/>
          </a:bodyPr>
          <a:lstStyle/>
          <a:p>
            <a:pPr algn="l">
              <a:spcAft>
                <a:spcPts val="300"/>
              </a:spcAft>
            </a:pPr>
            <a:r>
              <a:rPr sz="1150" b="1">
                <a:solidFill>
                  <a:srgbClr val="008A3E"/>
                </a:solidFill>
                <a:latin typeface="NanumSquare Neo Regular" pitchFamily="2" charset="-127"/>
                <a:ea typeface="NanumSquare Neo Regular" pitchFamily="2" charset="-127"/>
              </a:rPr>
              <a:t>주목할 결과 — 반등 국면</a:t>
            </a:r>
          </a:p>
          <a:p>
            <a:pPr algn="l">
              <a:spcAft>
                <a:spcPts val="300"/>
              </a:spcAft>
            </a:pPr>
            <a:r>
              <a:rPr sz="1050" b="0">
                <a:solidFill>
                  <a:srgbClr val="262626"/>
                </a:solidFill>
                <a:latin typeface="NanumSquare Neo Regular" pitchFamily="2" charset="-127"/>
                <a:ea typeface="NanumSquare Neo Regular" pitchFamily="2" charset="-127"/>
              </a:rPr>
              <a:t>경기 저점 통과 후 반등 분기 6개 평균에서</a:t>
            </a:r>
          </a:p>
          <a:p>
            <a:pPr algn="l">
              <a:spcAft>
                <a:spcPts val="300"/>
              </a:spcAft>
            </a:pPr>
            <a:r>
              <a:rPr sz="1050" b="0">
                <a:solidFill>
                  <a:srgbClr val="262626"/>
                </a:solidFill>
                <a:latin typeface="NanumSquare Neo Regular" pitchFamily="2" charset="-127"/>
                <a:ea typeface="NanumSquare Neo Regular" pitchFamily="2" charset="-127"/>
              </a:rPr>
              <a:t>사전학습 모델(0.581)이 DFM(0.621)을 상회 —</a:t>
            </a:r>
          </a:p>
          <a:p>
            <a:pPr algn="l">
              <a:spcAft>
                <a:spcPts val="300"/>
              </a:spcAft>
            </a:pPr>
            <a:r>
              <a:rPr sz="1050" b="0">
                <a:solidFill>
                  <a:srgbClr val="262626"/>
                </a:solidFill>
                <a:latin typeface="NanumSquare Neo Regular" pitchFamily="2" charset="-127"/>
                <a:ea typeface="NanumSquare Neo Regular" pitchFamily="2" charset="-127"/>
              </a:rPr>
              <a:t>빠른 금융·심리 신호가 공식 지표의 공백을 보완.</a:t>
            </a:r>
          </a:p>
          <a:p>
            <a:pPr algn="l">
              <a:spcAft>
                <a:spcPts val="300"/>
              </a:spcAft>
            </a:pPr>
            <a:r>
              <a:rPr sz="950" b="0">
                <a:solidFill>
                  <a:srgbClr val="6B6B6B"/>
                </a:solidFill>
                <a:latin typeface="NanumSquare Neo Regular" pitchFamily="2" charset="-127"/>
                <a:ea typeface="NanumSquare Neo Regular" pitchFamily="2" charset="-127"/>
              </a:rPr>
              <a:t>우측: 2020년 사례 — 일별 지표가 반등을 먼저 포착</a:t>
            </a:r>
          </a:p>
        </p:txBody>
      </p:sp>
      <p:pic>
        <p:nvPicPr>
          <p:cNvPr id="7" name="Picture 6" descr="bok_case2020.png"/>
          <p:cNvPicPr>
            <a:picLocks noChangeAspect="1"/>
          </p:cNvPicPr>
          <p:nvPr/>
        </p:nvPicPr>
        <p:blipFill>
          <a:blip r:embed="rId3"/>
          <a:stretch>
            <a:fillRect/>
          </a:stretch>
        </p:blipFill>
        <p:spPr>
          <a:xfrm>
            <a:off x="6217920" y="1188720"/>
            <a:ext cx="5486400" cy="4104208"/>
          </a:xfrm>
          <a:prstGeom prst="rect">
            <a:avLst/>
          </a:prstGeom>
        </p:spPr>
      </p:pic>
      <p:sp>
        <p:nvSpPr>
          <p:cNvPr id="8" name="Rectangle 7"/>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9" name="TextBox 8"/>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반등 분기 6개: 2018Q1 · 2019Q2 · 2020Q3 · 2023Q1 · 2024Q3 · 2025Q2 (직전 분기 속보 음(-) 및 심리지표 저점 통과 기준)</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05  </a:t>
            </a:r>
            <a:r>
              <a:rPr sz="1900" b="1">
                <a:solidFill>
                  <a:srgbClr val="243447"/>
                </a:solidFill>
                <a:latin typeface="NanumSquare Neo Regular" pitchFamily="2" charset="-127"/>
                <a:ea typeface="NanumSquare Neo Regular" pitchFamily="2" charset="-127"/>
              </a:rPr>
              <a:t>상시 3자 결합 — 국면 판단 없이 현행 대비 개선 확인</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143000"/>
            <a:ext cx="5577840" cy="478080"/>
          </a:xfrm>
          <a:prstGeom prst="rect">
            <a:avLst/>
          </a:prstGeom>
          <a:noFill/>
        </p:spPr>
        <p:txBody>
          <a:bodyPr wrap="square" lIns="45720" tIns="18288" rIns="45720" bIns="18288" anchor="t">
            <a:spAutoFit/>
          </a:bodyPr>
          <a:lstStyle/>
          <a:p>
            <a:pPr algn="l">
              <a:spcAft>
                <a:spcPts val="200"/>
              </a:spcAft>
            </a:pPr>
            <a:r>
              <a:rPr sz="1400" b="1">
                <a:solidFill>
                  <a:srgbClr val="243447"/>
                </a:solidFill>
                <a:latin typeface="NanumSquare Neo Regular" pitchFamily="2" charset="-127"/>
                <a:ea typeface="NanumSquare Neo Regular" pitchFamily="2" charset="-127"/>
              </a:rPr>
              <a:t>(DFM + XGBoost + Chronos-2f) ÷ 3  =  </a:t>
            </a:r>
            <a:r>
              <a:rPr sz="1600" b="1">
                <a:solidFill>
                  <a:srgbClr val="008A3E"/>
                </a:solidFill>
                <a:latin typeface="NanumSquare Neo Regular" pitchFamily="2" charset="-127"/>
                <a:ea typeface="NanumSquare Neo Regular" pitchFamily="2" charset="-127"/>
              </a:rPr>
              <a:t>0.746</a:t>
            </a:r>
          </a:p>
          <a:p>
            <a:pPr algn="l">
              <a:spcAft>
                <a:spcPts val="200"/>
              </a:spcAft>
            </a:pPr>
            <a:r>
              <a:rPr sz="1100" b="0">
                <a:solidFill>
                  <a:srgbClr val="262626"/>
                </a:solidFill>
                <a:latin typeface="NanumSquare Neo Regular" pitchFamily="2" charset="-127"/>
                <a:ea typeface="NanumSquare Neo Regular" pitchFamily="2" charset="-127"/>
              </a:rPr>
              <a:t>현행 0.765 대비 -2.5% · 항상 같은 공식 · 가중치 튜닝 없음</a:t>
            </a:r>
          </a:p>
        </p:txBody>
      </p:sp>
      <p:graphicFrame>
        <p:nvGraphicFramePr>
          <p:cNvPr id="5" name="Table 4"/>
          <p:cNvGraphicFramePr>
            <a:graphicFrameLocks noGrp="1"/>
          </p:cNvGraphicFramePr>
          <p:nvPr/>
        </p:nvGraphicFramePr>
        <p:xfrm>
          <a:off x="502920" y="2331720"/>
          <a:ext cx="5577840" cy="219456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438912">
                <a:tc>
                  <a:txBody>
                    <a:bodyPr/>
                    <a:lstStyle/>
                    <a:p>
                      <a:pPr algn="l"/>
                      <a:r>
                        <a:rPr sz="919" b="1">
                          <a:solidFill>
                            <a:srgbClr val="FFFFFF"/>
                          </a:solidFill>
                          <a:latin typeface="Apple SD Gothic Neo"/>
                          <a:ea typeface="Apple SD Gothic Neo"/>
                        </a:rPr>
                        <a:t>점검 항목</a:t>
                      </a:r>
                    </a:p>
                  </a:txBody>
                  <a:tcPr marL="54864" marR="36576" marT="18288" marB="18288">
                    <a:solidFill>
                      <a:srgbClr val="243447"/>
                    </a:solidFill>
                  </a:tcPr>
                </a:tc>
                <a:tc>
                  <a:txBody>
                    <a:bodyPr/>
                    <a:lstStyle/>
                    <a:p>
                      <a:pPr algn="l"/>
                      <a:r>
                        <a:rPr sz="919" b="1">
                          <a:solidFill>
                            <a:srgbClr val="FFFFFF"/>
                          </a:solidFill>
                          <a:latin typeface="Apple SD Gothic Neo"/>
                          <a:ea typeface="Apple SD Gothic Neo"/>
                        </a:rPr>
                        <a:t>결과</a:t>
                      </a:r>
                    </a:p>
                  </a:txBody>
                  <a:tcPr marL="54864" marR="36576" marT="18288" marB="18288">
                    <a:solidFill>
                      <a:srgbClr val="243447"/>
                    </a:solidFill>
                  </a:tcPr>
                </a:tc>
                <a:extLst>
                  <a:ext uri="{0D108BD9-81ED-4DB2-BD59-A6C34878D82A}">
                    <a16:rowId xmlns:a16="http://schemas.microsoft.com/office/drawing/2014/main" val="10000"/>
                  </a:ext>
                </a:extLst>
              </a:tr>
              <a:tr h="438912">
                <a:tc>
                  <a:txBody>
                    <a:bodyPr/>
                    <a:lstStyle/>
                    <a:p>
                      <a:pPr algn="l"/>
                      <a:r>
                        <a:rPr sz="919" b="1">
                          <a:solidFill>
                            <a:srgbClr val="262626"/>
                          </a:solidFill>
                          <a:latin typeface="Apple SD Gothic Neo"/>
                          <a:ea typeface="Apple SD Gothic Neo"/>
                        </a:rPr>
                        <a:t>분기별 승패</a:t>
                      </a:r>
                    </a:p>
                  </a:txBody>
                  <a:tcPr marL="54864" marR="36576" marT="18288" marB="18288">
                    <a:solidFill>
                      <a:srgbClr val="FFFFFF"/>
                    </a:solidFill>
                  </a:tcPr>
                </a:tc>
                <a:tc>
                  <a:txBody>
                    <a:bodyPr/>
                    <a:lstStyle/>
                    <a:p>
                      <a:pPr algn="l"/>
                      <a:r>
                        <a:rPr sz="919" b="0">
                          <a:solidFill>
                            <a:srgbClr val="262626"/>
                          </a:solidFill>
                          <a:latin typeface="Apple SD Gothic Neo"/>
                          <a:ea typeface="Apple SD Gothic Neo"/>
                        </a:rPr>
                        <a:t>32개 분기 중 20개 개선 (코로나 3분기 제외 시에도 유지: 0.581→0.536)</a:t>
                      </a:r>
                    </a:p>
                  </a:txBody>
                  <a:tcPr marL="54864" marR="36576" marT="18288" marB="18288">
                    <a:solidFill>
                      <a:srgbClr val="FFFFFF"/>
                    </a:solidFill>
                  </a:tcPr>
                </a:tc>
                <a:extLst>
                  <a:ext uri="{0D108BD9-81ED-4DB2-BD59-A6C34878D82A}">
                    <a16:rowId xmlns:a16="http://schemas.microsoft.com/office/drawing/2014/main" val="10001"/>
                  </a:ext>
                </a:extLst>
              </a:tr>
              <a:tr h="438912">
                <a:tc>
                  <a:txBody>
                    <a:bodyPr/>
                    <a:lstStyle/>
                    <a:p>
                      <a:pPr algn="l"/>
                      <a:r>
                        <a:rPr sz="919" b="1">
                          <a:solidFill>
                            <a:srgbClr val="262626"/>
                          </a:solidFill>
                          <a:latin typeface="Apple SD Gothic Neo"/>
                          <a:ea typeface="Apple SD Gothic Neo"/>
                        </a:rPr>
                        <a:t>가중치 민감도</a:t>
                      </a:r>
                    </a:p>
                  </a:txBody>
                  <a:tcPr marL="54864" marR="36576" marT="18288" marB="18288">
                    <a:solidFill>
                      <a:srgbClr val="FFFFFF"/>
                    </a:solidFill>
                  </a:tcPr>
                </a:tc>
                <a:tc>
                  <a:txBody>
                    <a:bodyPr/>
                    <a:lstStyle/>
                    <a:p>
                      <a:pPr algn="l"/>
                      <a:r>
                        <a:rPr sz="919" b="0">
                          <a:solidFill>
                            <a:srgbClr val="262626"/>
                          </a:solidFill>
                          <a:latin typeface="Apple SD Gothic Neo"/>
                          <a:ea typeface="Apple SD Gothic Neo"/>
                        </a:rPr>
                        <a:t>결합 비중 0.3~0.7 전 구간에서 현행 상회 — 특정 가중치 선택에 의존하지 않음</a:t>
                      </a:r>
                    </a:p>
                  </a:txBody>
                  <a:tcPr marL="54864" marR="36576" marT="18288" marB="18288">
                    <a:solidFill>
                      <a:srgbClr val="FFFFFF"/>
                    </a:solidFill>
                  </a:tcPr>
                </a:tc>
                <a:extLst>
                  <a:ext uri="{0D108BD9-81ED-4DB2-BD59-A6C34878D82A}">
                    <a16:rowId xmlns:a16="http://schemas.microsoft.com/office/drawing/2014/main" val="10002"/>
                  </a:ext>
                </a:extLst>
              </a:tr>
              <a:tr h="438912">
                <a:tc>
                  <a:txBody>
                    <a:bodyPr/>
                    <a:lstStyle/>
                    <a:p>
                      <a:pPr algn="l"/>
                      <a:r>
                        <a:rPr sz="919" b="1">
                          <a:solidFill>
                            <a:srgbClr val="262626"/>
                          </a:solidFill>
                          <a:latin typeface="Apple SD Gothic Neo"/>
                          <a:ea typeface="Apple SD Gothic Neo"/>
                        </a:rPr>
                        <a:t>반등 분기 6개</a:t>
                      </a:r>
                    </a:p>
                  </a:txBody>
                  <a:tcPr marL="54864" marR="36576" marT="18288" marB="18288">
                    <a:solidFill>
                      <a:srgbClr val="FFFFFF"/>
                    </a:solidFill>
                  </a:tcPr>
                </a:tc>
                <a:tc>
                  <a:txBody>
                    <a:bodyPr/>
                    <a:lstStyle/>
                    <a:p>
                      <a:pPr algn="l"/>
                      <a:r>
                        <a:rPr sz="919" b="0">
                          <a:solidFill>
                            <a:srgbClr val="262626"/>
                          </a:solidFill>
                          <a:latin typeface="Apple SD Gothic Neo"/>
                          <a:ea typeface="Apple SD Gothic Neo"/>
                        </a:rPr>
                        <a:t>0.815 → 0.715 — 일별 신호의 기여 구간</a:t>
                      </a:r>
                    </a:p>
                  </a:txBody>
                  <a:tcPr marL="54864" marR="36576" marT="18288" marB="18288">
                    <a:solidFill>
                      <a:srgbClr val="FFFFFF"/>
                    </a:solidFill>
                  </a:tcPr>
                </a:tc>
                <a:extLst>
                  <a:ext uri="{0D108BD9-81ED-4DB2-BD59-A6C34878D82A}">
                    <a16:rowId xmlns:a16="http://schemas.microsoft.com/office/drawing/2014/main" val="10003"/>
                  </a:ext>
                </a:extLst>
              </a:tr>
              <a:tr h="438912">
                <a:tc>
                  <a:txBody>
                    <a:bodyPr/>
                    <a:lstStyle/>
                    <a:p>
                      <a:pPr algn="l"/>
                      <a:r>
                        <a:rPr sz="919" b="1">
                          <a:solidFill>
                            <a:srgbClr val="262626"/>
                          </a:solidFill>
                          <a:latin typeface="Apple SD Gothic Neo"/>
                          <a:ea typeface="Apple SD Gothic Neo"/>
                        </a:rPr>
                        <a:t>통계적 유의성</a:t>
                      </a:r>
                    </a:p>
                  </a:txBody>
                  <a:tcPr marL="54864" marR="36576" marT="18288" marB="18288">
                    <a:solidFill>
                      <a:srgbClr val="FFFFFF"/>
                    </a:solidFill>
                  </a:tcPr>
                </a:tc>
                <a:tc>
                  <a:txBody>
                    <a:bodyPr/>
                    <a:lstStyle/>
                    <a:p>
                      <a:pPr algn="l"/>
                      <a:r>
                        <a:rPr sz="919" b="0">
                          <a:solidFill>
                            <a:srgbClr val="262626"/>
                          </a:solidFill>
                          <a:latin typeface="Apple SD Gothic Neo"/>
                          <a:ea typeface="Apple SD Gothic Neo"/>
                        </a:rPr>
                        <a:t>DM 검정 p=0.37 — 32분기 표본에서는 유의성 미달 (정직하게 명시)</a:t>
                      </a:r>
                    </a:p>
                  </a:txBody>
                  <a:tcPr marL="54864"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02920" y="4800600"/>
            <a:ext cx="5577840" cy="614014"/>
          </a:xfrm>
          <a:prstGeom prst="rect">
            <a:avLst/>
          </a:prstGeom>
          <a:noFill/>
        </p:spPr>
        <p:txBody>
          <a:bodyPr wrap="square" lIns="45720" tIns="18288" rIns="45720" bIns="18288" anchor="t">
            <a:spAutoFit/>
          </a:bodyPr>
          <a:lstStyle/>
          <a:p>
            <a:pPr algn="l">
              <a:spcAft>
                <a:spcPts val="300"/>
              </a:spcAft>
            </a:pPr>
            <a:r>
              <a:rPr sz="1150" b="1">
                <a:solidFill>
                  <a:srgbClr val="243447"/>
                </a:solidFill>
                <a:latin typeface="NanumSquare Neo Regular" pitchFamily="2" charset="-127"/>
                <a:ea typeface="NanumSquare Neo Regular" pitchFamily="2" charset="-127"/>
              </a:rPr>
              <a:t>제안 수위</a:t>
            </a:r>
          </a:p>
          <a:p>
            <a:pPr algn="l">
              <a:spcAft>
                <a:spcPts val="300"/>
              </a:spcAft>
            </a:pPr>
            <a:r>
              <a:rPr sz="1050" b="0">
                <a:solidFill>
                  <a:srgbClr val="262626"/>
                </a:solidFill>
                <a:latin typeface="NanumSquare Neo Regular" pitchFamily="2" charset="-127"/>
                <a:ea typeface="NanumSquare Neo Regular" pitchFamily="2" charset="-127"/>
              </a:rPr>
              <a:t>교체 제안이 아닌 검증 결과 공유입니다. 도입 시에도 현행과</a:t>
            </a:r>
          </a:p>
          <a:p>
            <a:pPr algn="l">
              <a:spcAft>
                <a:spcPts val="300"/>
              </a:spcAft>
            </a:pPr>
            <a:r>
              <a:rPr sz="1050" b="0">
                <a:solidFill>
                  <a:srgbClr val="262626"/>
                </a:solidFill>
                <a:latin typeface="NanumSquare Neo Regular" pitchFamily="2" charset="-127"/>
                <a:ea typeface="NanumSquare Neo Regular" pitchFamily="2" charset="-127"/>
              </a:rPr>
              <a:t>병행 산출해 참고 지표로 활용하는 형태를 권장드립니다.</a:t>
            </a:r>
          </a:p>
        </p:txBody>
      </p:sp>
      <p:sp>
        <p:nvSpPr>
          <p:cNvPr id="7" name="Rounded Rectangle 6"/>
          <p:cNvSpPr/>
          <p:nvPr/>
        </p:nvSpPr>
        <p:spPr>
          <a:xfrm>
            <a:off x="6492240" y="1234440"/>
            <a:ext cx="5166360" cy="2011680"/>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8" name="TextBox 7"/>
          <p:cNvSpPr txBox="1"/>
          <p:nvPr/>
        </p:nvSpPr>
        <p:spPr>
          <a:xfrm>
            <a:off x="6693407" y="1371600"/>
            <a:ext cx="4754880" cy="983346"/>
          </a:xfrm>
          <a:prstGeom prst="rect">
            <a:avLst/>
          </a:prstGeom>
          <a:noFill/>
        </p:spPr>
        <p:txBody>
          <a:bodyPr wrap="square" lIns="45720" tIns="18288" rIns="45720" bIns="18288" anchor="t">
            <a:spAutoFit/>
          </a:bodyPr>
          <a:lstStyle/>
          <a:p>
            <a:pPr algn="l">
              <a:spcAft>
                <a:spcPts val="300"/>
              </a:spcAft>
            </a:pPr>
            <a:r>
              <a:rPr sz="1150" b="1">
                <a:solidFill>
                  <a:srgbClr val="243447"/>
                </a:solidFill>
                <a:latin typeface="NanumSquare Neo Regular" pitchFamily="2" charset="-127"/>
                <a:ea typeface="NanumSquare Neo Regular" pitchFamily="2" charset="-127"/>
              </a:rPr>
              <a:t>왜 세 모델의 평균이 개선되는가</a:t>
            </a:r>
          </a:p>
          <a:p>
            <a:pPr algn="l">
              <a:spcAft>
                <a:spcPts val="300"/>
              </a:spcAft>
            </a:pPr>
            <a:r>
              <a:rPr sz="1000" b="0">
                <a:solidFill>
                  <a:srgbClr val="262626"/>
                </a:solidFill>
                <a:latin typeface="NanumSquare Neo Regular" pitchFamily="2" charset="-127"/>
                <a:ea typeface="NanumSquare Neo Regular" pitchFamily="2" charset="-127"/>
              </a:rPr>
              <a:t>세 모델은 오차의 원천이 다릅니다 — DFM(선형 요인구조),</a:t>
            </a:r>
          </a:p>
          <a:p>
            <a:pPr algn="l">
              <a:spcAft>
                <a:spcPts val="300"/>
              </a:spcAft>
            </a:pPr>
            <a:r>
              <a:rPr sz="1000" b="0">
                <a:solidFill>
                  <a:srgbClr val="262626"/>
                </a:solidFill>
                <a:latin typeface="NanumSquare Neo Regular" pitchFamily="2" charset="-127"/>
                <a:ea typeface="NanumSquare Neo Regular" pitchFamily="2" charset="-127"/>
              </a:rPr>
              <a:t>XGBoost(비선형 보정), Chronos-2f(외부 사전학습 + 일별 신호).</a:t>
            </a:r>
          </a:p>
          <a:p>
            <a:pPr algn="l">
              <a:spcAft>
                <a:spcPts val="300"/>
              </a:spcAft>
            </a:pPr>
            <a:r>
              <a:rPr sz="1000" b="0">
                <a:solidFill>
                  <a:srgbClr val="262626"/>
                </a:solidFill>
                <a:latin typeface="NanumSquare Neo Regular" pitchFamily="2" charset="-127"/>
                <a:ea typeface="NanumSquare Neo Regular" pitchFamily="2" charset="-127"/>
              </a:rPr>
              <a:t>서로 다른 시점에 다른 방향으로 틀리기 때문에 평균이</a:t>
            </a:r>
          </a:p>
          <a:p>
            <a:pPr algn="l">
              <a:spcAft>
                <a:spcPts val="300"/>
              </a:spcAft>
            </a:pPr>
            <a:r>
              <a:rPr sz="1000" b="0">
                <a:solidFill>
                  <a:srgbClr val="262626"/>
                </a:solidFill>
                <a:latin typeface="NanumSquare Neo Regular" pitchFamily="2" charset="-127"/>
                <a:ea typeface="NanumSquare Neo Regular" pitchFamily="2" charset="-127"/>
              </a:rPr>
              <a:t>개별 오차를 상쇄합니다 (예측결합의 고전적 원리).</a:t>
            </a:r>
          </a:p>
        </p:txBody>
      </p:sp>
      <p:sp>
        <p:nvSpPr>
          <p:cNvPr id="9" name="Rounded Rectangle 8"/>
          <p:cNvSpPr/>
          <p:nvPr/>
        </p:nvSpPr>
        <p:spPr>
          <a:xfrm>
            <a:off x="6492240" y="3429000"/>
            <a:ext cx="5166360" cy="1965960"/>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0" name="TextBox 9"/>
          <p:cNvSpPr txBox="1"/>
          <p:nvPr/>
        </p:nvSpPr>
        <p:spPr>
          <a:xfrm>
            <a:off x="6693407" y="3566160"/>
            <a:ext cx="4754880" cy="972574"/>
          </a:xfrm>
          <a:prstGeom prst="rect">
            <a:avLst/>
          </a:prstGeom>
          <a:noFill/>
        </p:spPr>
        <p:txBody>
          <a:bodyPr wrap="square" lIns="45720" tIns="18288" rIns="45720" bIns="18288" anchor="t">
            <a:spAutoFit/>
          </a:bodyPr>
          <a:lstStyle/>
          <a:p>
            <a:pPr algn="l">
              <a:spcAft>
                <a:spcPts val="300"/>
              </a:spcAft>
            </a:pPr>
            <a:r>
              <a:rPr sz="1150" b="1">
                <a:solidFill>
                  <a:srgbClr val="243447"/>
                </a:solidFill>
                <a:latin typeface="NanumSquare Neo Regular" pitchFamily="2" charset="-127"/>
                <a:ea typeface="NanumSquare Neo Regular" pitchFamily="2" charset="-127"/>
              </a:rPr>
              <a:t>검증 과정에서 함께 확인된 사실</a:t>
            </a:r>
          </a:p>
          <a:p>
            <a:pPr algn="l">
              <a:spcAft>
                <a:spcPts val="300"/>
              </a:spcAft>
            </a:pPr>
            <a:r>
              <a:rPr sz="1000" b="0">
                <a:solidFill>
                  <a:srgbClr val="262626"/>
                </a:solidFill>
                <a:latin typeface="NanumSquare Neo Regular" pitchFamily="2" charset="-127"/>
                <a:ea typeface="NanumSquare Neo Regular" pitchFamily="2" charset="-127"/>
              </a:rPr>
              <a:t>· 4개 이상 결합, 가중치 학습(적응형)은 모두 3자 균등보다 열세</a:t>
            </a:r>
          </a:p>
          <a:p>
            <a:pPr algn="l">
              <a:spcAft>
                <a:spcPts val="300"/>
              </a:spcAft>
            </a:pPr>
            <a:r>
              <a:rPr sz="930" b="0">
                <a:solidFill>
                  <a:srgbClr val="6B6B6B"/>
                </a:solidFill>
                <a:latin typeface="NanumSquare Neo Regular" pitchFamily="2" charset="-127"/>
                <a:ea typeface="NanumSquare Neo Regular" pitchFamily="2" charset="-127"/>
              </a:rPr>
              <a:t>  — 소표본에서는 단순함이 강건함</a:t>
            </a:r>
          </a:p>
          <a:p>
            <a:pPr algn="l">
              <a:spcAft>
                <a:spcPts val="300"/>
              </a:spcAft>
            </a:pPr>
            <a:r>
              <a:rPr sz="1000" b="0">
                <a:solidFill>
                  <a:srgbClr val="262626"/>
                </a:solidFill>
                <a:latin typeface="NanumSquare Neo Regular" pitchFamily="2" charset="-127"/>
                <a:ea typeface="NanumSquare Neo Regular" pitchFamily="2" charset="-127"/>
              </a:rPr>
              <a:t>· 현행 스펙(지표 34종) 외 미사용 39종의 잔차 정보가치 검정:</a:t>
            </a:r>
          </a:p>
          <a:p>
            <a:pPr algn="l">
              <a:spcAft>
                <a:spcPts val="300"/>
              </a:spcAft>
            </a:pPr>
            <a:r>
              <a:rPr sz="1000" b="0">
                <a:solidFill>
                  <a:srgbClr val="262626"/>
                </a:solidFill>
                <a:latin typeface="NanumSquare Neo Regular" pitchFamily="2" charset="-127"/>
                <a:ea typeface="NanumSquare Neo Regular" pitchFamily="2" charset="-127"/>
              </a:rPr>
              <a:t>  유의한 추가 정보 없음 — </a:t>
            </a:r>
            <a:r>
              <a:rPr sz="1000" b="1">
                <a:solidFill>
                  <a:srgbClr val="008A3E"/>
                </a:solidFill>
                <a:latin typeface="NanumSquare Neo Regular" pitchFamily="2" charset="-127"/>
                <a:ea typeface="NanumSquare Neo Regular" pitchFamily="2" charset="-127"/>
              </a:rPr>
              <a:t>현행 지표 선정의 타당성 확인</a:t>
            </a:r>
          </a:p>
        </p:txBody>
      </p:sp>
      <p:sp>
        <p:nvSpPr>
          <p:cNvPr id="11" name="Rectangle 10"/>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2" name="TextBox 11"/>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공통 검증 규약: 한은 제공 실시간 빈티지 · 속보치 기준 · 전망주차 w[-19,-1] 평균 RMSE · 2018Q1~2025Q4 (32개 분기)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06  </a:t>
            </a:r>
            <a:r>
              <a:rPr sz="1900" b="1">
                <a:solidFill>
                  <a:srgbClr val="243447"/>
                </a:solidFill>
                <a:latin typeface="NanumSquare Neo Regular" pitchFamily="2" charset="-127"/>
                <a:ea typeface="NanumSquare Neo Regular" pitchFamily="2" charset="-127"/>
              </a:rPr>
              <a:t>제안 — Fan Chart: 예측은 그대로, 불확실성 구간을 부여</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143000"/>
            <a:ext cx="5394960" cy="1898981"/>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방법 (예측 불변 원칙)</a:t>
            </a:r>
          </a:p>
          <a:p>
            <a:pPr algn="l">
              <a:spcAft>
                <a:spcPts val="200"/>
              </a:spcAft>
            </a:pPr>
            <a:r>
              <a:rPr sz="1050" b="0">
                <a:solidFill>
                  <a:srgbClr val="262626"/>
                </a:solidFill>
                <a:latin typeface="NanumSquare Neo Regular" pitchFamily="2" charset="-127"/>
                <a:ea typeface="NanumSquare Neo Regular" pitchFamily="2" charset="-127"/>
              </a:rPr>
              <a:t>· 중심선 = 현행 점 예측 그대로 — 모형·스킴 변경 없음</a:t>
            </a:r>
          </a:p>
          <a:p>
            <a:pPr algn="l">
              <a:spcAft>
                <a:spcPts val="200"/>
              </a:spcAft>
            </a:pPr>
            <a:r>
              <a:rPr sz="1050" b="0">
                <a:solidFill>
                  <a:srgbClr val="262626"/>
                </a:solidFill>
                <a:latin typeface="NanumSquare Neo Regular" pitchFamily="2" charset="-127"/>
                <a:ea typeface="NanumSquare Neo Regular" pitchFamily="2" charset="-127"/>
              </a:rPr>
              <a:t>· 구간 = 과거 실시간 예측오차의 경험분포 (컨포멀 보정)</a:t>
            </a:r>
          </a:p>
          <a:p>
            <a:pPr algn="l">
              <a:spcAft>
                <a:spcPts val="200"/>
              </a:spcAft>
            </a:pPr>
            <a:r>
              <a:rPr sz="950" b="0">
                <a:solidFill>
                  <a:srgbClr val="6B6B6B"/>
                </a:solidFill>
                <a:latin typeface="NanumSquare Neo Regular" pitchFamily="2" charset="-127"/>
                <a:ea typeface="NanumSquare Neo Regular" pitchFamily="2" charset="-127"/>
              </a:rPr>
              <a:t>  — 분포 가정 없음 · 전망주차별 폭 차등 · 미래정보 미사용</a:t>
            </a:r>
          </a:p>
          <a:p>
            <a:pPr algn="l">
              <a:spcAft>
                <a:spcPts val="200"/>
              </a:spcAft>
            </a:pPr>
            <a:r>
              <a:rPr sz="1050" b="0">
                <a:solidFill>
                  <a:srgbClr val="262626"/>
                </a:solidFill>
                <a:latin typeface="NanumSquare Neo Regular" pitchFamily="2" charset="-127"/>
                <a:ea typeface="NanumSquare Neo Regular" pitchFamily="2" charset="-127"/>
              </a:rPr>
              <a:t>· 조기 주차(발표 19~14주 전)만 사전학습 모델의 분포를</a:t>
            </a:r>
          </a:p>
          <a:p>
            <a:pPr algn="l">
              <a:spcAft>
                <a:spcPts val="200"/>
              </a:spcAft>
            </a:pPr>
            <a:r>
              <a:rPr sz="950" b="0">
                <a:solidFill>
                  <a:srgbClr val="6B6B6B"/>
                </a:solidFill>
                <a:latin typeface="NanumSquare Neo Regular" pitchFamily="2" charset="-127"/>
                <a:ea typeface="NanumSquare Neo Regular" pitchFamily="2" charset="-127"/>
              </a:rPr>
              <a:t>  같은 방식으로 보정해 사용 — 전망시계별 조건화(표준 관행)</a:t>
            </a:r>
          </a:p>
          <a:p>
            <a:pPr algn="l">
              <a:spcAft>
                <a:spcPts val="200"/>
              </a:spcAft>
            </a:pPr>
            <a:endParaRPr sz="950" b="0">
              <a:solidFill>
                <a:srgbClr val="6B6B6B"/>
              </a:solidFill>
              <a:latin typeface="NanumSquare Neo Regular" pitchFamily="2" charset="-127"/>
              <a:ea typeface="NanumSquare Neo Regular" pitchFamily="2" charset="-127"/>
            </a:endParaRPr>
          </a:p>
          <a:p>
            <a:pPr algn="l">
              <a:spcAft>
                <a:spcPts val="200"/>
              </a:spcAft>
            </a:pPr>
            <a:r>
              <a:rPr sz="1250" b="1">
                <a:solidFill>
                  <a:srgbClr val="243447"/>
                </a:solidFill>
                <a:latin typeface="NanumSquare Neo Regular" pitchFamily="2" charset="-127"/>
                <a:ea typeface="NanumSquare Neo Regular" pitchFamily="2" charset="-127"/>
              </a:rPr>
              <a:t>실시간 검증 (2020~2025, 23개 분기)</a:t>
            </a:r>
          </a:p>
          <a:p>
            <a:pPr algn="l">
              <a:spcAft>
                <a:spcPts val="200"/>
              </a:spcAft>
            </a:pPr>
            <a:r>
              <a:rPr sz="1050" b="0">
                <a:solidFill>
                  <a:srgbClr val="262626"/>
                </a:solidFill>
                <a:latin typeface="NanumSquare Neo Regular" pitchFamily="2" charset="-127"/>
                <a:ea typeface="NanumSquare Neo Regular" pitchFamily="2" charset="-127"/>
              </a:rPr>
              <a:t>· 명목 80% 구간의 실측 커버리지 </a:t>
            </a:r>
            <a:r>
              <a:rPr sz="1050" b="1">
                <a:solidFill>
                  <a:srgbClr val="008A3E"/>
                </a:solidFill>
                <a:latin typeface="NanumSquare Neo Regular" pitchFamily="2" charset="-127"/>
                <a:ea typeface="NanumSquare Neo Regular" pitchFamily="2" charset="-127"/>
              </a:rPr>
              <a:t>81% (코로나 제외 87%)</a:t>
            </a:r>
          </a:p>
          <a:p>
            <a:pPr algn="l">
              <a:spcAft>
                <a:spcPts val="200"/>
              </a:spcAft>
            </a:pPr>
            <a:r>
              <a:rPr sz="1050" b="0">
                <a:solidFill>
                  <a:srgbClr val="262626"/>
                </a:solidFill>
                <a:latin typeface="NanumSquare Neo Regular" pitchFamily="2" charset="-127"/>
                <a:ea typeface="NanumSquare Neo Regular" pitchFamily="2" charset="-127"/>
              </a:rPr>
              <a:t>· 구간 점수(Winkler) 현행 단독 구간 대비 </a:t>
            </a:r>
            <a:r>
              <a:rPr sz="1050" b="1">
                <a:solidFill>
                  <a:srgbClr val="008A3E"/>
                </a:solidFill>
                <a:latin typeface="NanumSquare Neo Regular" pitchFamily="2" charset="-127"/>
                <a:ea typeface="NanumSquare Neo Regular" pitchFamily="2" charset="-127"/>
              </a:rPr>
              <a:t>-5.5%</a:t>
            </a:r>
          </a:p>
        </p:txBody>
      </p:sp>
      <p:sp>
        <p:nvSpPr>
          <p:cNvPr id="5" name="Rounded Rectangle 4"/>
          <p:cNvSpPr/>
          <p:nvPr/>
        </p:nvSpPr>
        <p:spPr>
          <a:xfrm>
            <a:off x="502920" y="3977639"/>
            <a:ext cx="5394960" cy="1417320"/>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6" name="TextBox 5"/>
          <p:cNvSpPr txBox="1"/>
          <p:nvPr/>
        </p:nvSpPr>
        <p:spPr>
          <a:xfrm>
            <a:off x="704088" y="4114800"/>
            <a:ext cx="5029200" cy="814069"/>
          </a:xfrm>
          <a:prstGeom prst="rect">
            <a:avLst/>
          </a:prstGeom>
          <a:noFill/>
        </p:spPr>
        <p:txBody>
          <a:bodyPr wrap="square" lIns="45720" tIns="18288" rIns="45720" bIns="18288" anchor="t">
            <a:spAutoFit/>
          </a:bodyPr>
          <a:lstStyle/>
          <a:p>
            <a:pPr algn="l">
              <a:spcAft>
                <a:spcPts val="300"/>
              </a:spcAft>
            </a:pPr>
            <a:r>
              <a:rPr sz="1150" b="1">
                <a:solidFill>
                  <a:srgbClr val="243447"/>
                </a:solidFill>
                <a:latin typeface="NanumSquare Neo Regular" pitchFamily="2" charset="-127"/>
                <a:ea typeface="NanumSquare Neo Regular" pitchFamily="2" charset="-127"/>
              </a:rPr>
              <a:t>도입 형태 제안</a:t>
            </a:r>
          </a:p>
          <a:p>
            <a:pPr algn="l">
              <a:spcAft>
                <a:spcPts val="300"/>
              </a:spcAft>
            </a:pPr>
            <a:r>
              <a:rPr sz="1050" b="0">
                <a:solidFill>
                  <a:srgbClr val="262626"/>
                </a:solidFill>
                <a:latin typeface="NanumSquare Neo Regular" pitchFamily="2" charset="-127"/>
                <a:ea typeface="NanumSquare Neo Regular" pitchFamily="2" charset="-127"/>
              </a:rPr>
              <a:t>· 주간 전망 보고서에 그림 1장 추가가 전부</a:t>
            </a:r>
          </a:p>
          <a:p>
            <a:pPr algn="l">
              <a:spcAft>
                <a:spcPts val="300"/>
              </a:spcAft>
            </a:pPr>
            <a:r>
              <a:rPr sz="1050" b="0">
                <a:solidFill>
                  <a:srgbClr val="262626"/>
                </a:solidFill>
                <a:latin typeface="NanumSquare Neo Regular" pitchFamily="2" charset="-127"/>
                <a:ea typeface="NanumSquare Neo Regular" pitchFamily="2" charset="-127"/>
              </a:rPr>
              <a:t>· 기존 파이프라인 무수정 (산출물만 소비)</a:t>
            </a:r>
          </a:p>
          <a:p>
            <a:pPr algn="l">
              <a:spcAft>
                <a:spcPts val="300"/>
              </a:spcAft>
            </a:pPr>
            <a:r>
              <a:rPr sz="1050" b="0">
                <a:solidFill>
                  <a:srgbClr val="262626"/>
                </a:solidFill>
                <a:latin typeface="NanumSquare Neo Regular" pitchFamily="2" charset="-127"/>
                <a:ea typeface="NanumSquare Neo Regular" pitchFamily="2" charset="-127"/>
              </a:rPr>
              <a:t>· 전체 코드 재현 가능 형태로 이관</a:t>
            </a:r>
          </a:p>
        </p:txBody>
      </p:sp>
      <p:pic>
        <p:nvPicPr>
          <p:cNvPr id="7" name="Picture 6" descr="fanchart_demo.png"/>
          <p:cNvPicPr>
            <a:picLocks noChangeAspect="1"/>
          </p:cNvPicPr>
          <p:nvPr/>
        </p:nvPicPr>
        <p:blipFill>
          <a:blip r:embed="rId3"/>
          <a:stretch>
            <a:fillRect/>
          </a:stretch>
        </p:blipFill>
        <p:spPr>
          <a:xfrm>
            <a:off x="6172200" y="1325880"/>
            <a:ext cx="5760720" cy="2062886"/>
          </a:xfrm>
          <a:prstGeom prst="rect">
            <a:avLst/>
          </a:prstGeom>
        </p:spPr>
      </p:pic>
      <p:sp>
        <p:nvSpPr>
          <p:cNvPr id="8" name="TextBox 7"/>
          <p:cNvSpPr txBox="1"/>
          <p:nvPr/>
        </p:nvSpPr>
        <p:spPr>
          <a:xfrm>
            <a:off x="6263640" y="3794760"/>
            <a:ext cx="5577840" cy="175433"/>
          </a:xfrm>
          <a:prstGeom prst="rect">
            <a:avLst/>
          </a:prstGeom>
          <a:noFill/>
        </p:spPr>
        <p:txBody>
          <a:bodyPr wrap="square" lIns="45720" tIns="18288" rIns="45720" bIns="18288" anchor="t">
            <a:spAutoFit/>
          </a:bodyPr>
          <a:lstStyle/>
          <a:p>
            <a:pPr algn="l">
              <a:spcAft>
                <a:spcPts val="200"/>
              </a:spcAft>
            </a:pPr>
            <a:r>
              <a:rPr sz="900" b="0">
                <a:solidFill>
                  <a:srgbClr val="6B6B6B"/>
                </a:solidFill>
                <a:latin typeface="NanumSquare Neo Regular" pitchFamily="2" charset="-127"/>
                <a:ea typeface="NanumSquare Neo Regular" pitchFamily="2" charset="-127"/>
              </a:rPr>
              <a:t>2025년 2·3분기 실시간 재현 — 점선(실제 속보치)이 두 분기 모두 80% 구간 내 실현</a:t>
            </a:r>
          </a:p>
        </p:txBody>
      </p:sp>
      <p:sp>
        <p:nvSpPr>
          <p:cNvPr id="9" name="Rectangle 8"/>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0" name="TextBox 9"/>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구간 산출에 사용한 오차는 해당 분기 이전에 발표된 분기의 것만 사용 (release-safe) — 미래 정보 유출 없음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329321"/>
          </a:xfrm>
          <a:prstGeom prst="rect">
            <a:avLst/>
          </a:prstGeom>
          <a:noFill/>
        </p:spPr>
        <p:txBody>
          <a:bodyPr wrap="square" lIns="45720" tIns="18288" rIns="45720" bIns="18288" anchor="t">
            <a:spAutoFit/>
          </a:bodyPr>
          <a:lstStyle/>
          <a:p>
            <a:pPr algn="l">
              <a:spcAft>
                <a:spcPts val="200"/>
              </a:spcAft>
            </a:pPr>
            <a:r>
              <a:rPr sz="1900" b="1">
                <a:solidFill>
                  <a:srgbClr val="008A3E"/>
                </a:solidFill>
                <a:latin typeface="NanumSquare Neo Regular" pitchFamily="2" charset="-127"/>
                <a:ea typeface="NanumSquare Neo Regular" pitchFamily="2" charset="-127"/>
              </a:rPr>
              <a:t>07  </a:t>
            </a:r>
            <a:r>
              <a:rPr sz="1900" b="1">
                <a:solidFill>
                  <a:srgbClr val="243447"/>
                </a:solidFill>
                <a:latin typeface="NanumSquare Neo Regular" pitchFamily="2" charset="-127"/>
                <a:ea typeface="NanumSquare Neo Regular" pitchFamily="2" charset="-127"/>
              </a:rPr>
              <a:t>논의 안건</a:t>
            </a:r>
          </a:p>
        </p:txBody>
      </p:sp>
      <p:cxnSp>
        <p:nvCxnSpPr>
          <p:cNvPr id="3" name="Connector 2"/>
          <p:cNvCxnSpPr/>
          <p:nvPr/>
        </p:nvCxnSpPr>
        <p:spPr>
          <a:xfrm>
            <a:off x="502920" y="841248"/>
            <a:ext cx="11183112" cy="0"/>
          </a:xfrm>
          <a:prstGeom prst="line">
            <a:avLst/>
          </a:prstGeom>
          <a:ln w="20320">
            <a:solidFill>
              <a:srgbClr val="243447"/>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02920" y="1188720"/>
            <a:ext cx="11183112" cy="859536"/>
          </a:xfrm>
          <a:prstGeom prst="roundRect">
            <a:avLst/>
          </a:prstGeom>
          <a:solidFill>
            <a:srgbClr val="E8F3EC"/>
          </a:solidFill>
          <a:ln w="9525">
            <a:solidFill>
              <a:srgbClr val="00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5" name="TextBox 4"/>
          <p:cNvSpPr txBox="1"/>
          <p:nvPr/>
        </p:nvSpPr>
        <p:spPr>
          <a:xfrm>
            <a:off x="731520" y="1298448"/>
            <a:ext cx="59436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A1</a:t>
            </a:r>
          </a:p>
        </p:txBody>
      </p:sp>
      <p:sp>
        <p:nvSpPr>
          <p:cNvPr id="6" name="TextBox 5"/>
          <p:cNvSpPr txBox="1"/>
          <p:nvPr/>
        </p:nvSpPr>
        <p:spPr>
          <a:xfrm>
            <a:off x="1371600" y="1298448"/>
            <a:ext cx="3017520" cy="213905"/>
          </a:xfrm>
          <a:prstGeom prst="rect">
            <a:avLst/>
          </a:prstGeom>
          <a:noFill/>
        </p:spPr>
        <p:txBody>
          <a:bodyPr wrap="square" lIns="45720" tIns="18288" rIns="45720" bIns="18288" anchor="t">
            <a:spAutoFit/>
          </a:bodyPr>
          <a:lstStyle/>
          <a:p>
            <a:pPr algn="l">
              <a:spcAft>
                <a:spcPts val="200"/>
              </a:spcAft>
            </a:pPr>
            <a:r>
              <a:rPr sz="1150" b="1">
                <a:solidFill>
                  <a:srgbClr val="243447"/>
                </a:solidFill>
                <a:latin typeface="NanumSquare Neo Regular" pitchFamily="2" charset="-127"/>
                <a:ea typeface="NanumSquare Neo Regular" pitchFamily="2" charset="-127"/>
              </a:rPr>
              <a:t>Fan chart 시범 도입</a:t>
            </a:r>
          </a:p>
        </p:txBody>
      </p:sp>
      <p:sp>
        <p:nvSpPr>
          <p:cNvPr id="7" name="TextBox 6"/>
          <p:cNvSpPr txBox="1"/>
          <p:nvPr/>
        </p:nvSpPr>
        <p:spPr>
          <a:xfrm>
            <a:off x="4480560" y="1298448"/>
            <a:ext cx="5577840" cy="187744"/>
          </a:xfrm>
          <a:prstGeom prst="rect">
            <a:avLst/>
          </a:prstGeom>
          <a:noFill/>
        </p:spPr>
        <p:txBody>
          <a:bodyPr wrap="square" lIns="45720" tIns="18288" rIns="45720" bIns="18288" anchor="t">
            <a:spAutoFit/>
          </a:bodyPr>
          <a:lstStyle/>
          <a:p>
            <a:pPr algn="l">
              <a:spcAft>
                <a:spcPts val="200"/>
              </a:spcAft>
            </a:pPr>
            <a:r>
              <a:rPr sz="980" b="0">
                <a:solidFill>
                  <a:srgbClr val="262626"/>
                </a:solidFill>
                <a:latin typeface="NanumSquare Neo Regular" pitchFamily="2" charset="-127"/>
                <a:ea typeface="NanumSquare Neo Regular" pitchFamily="2" charset="-127"/>
              </a:rPr>
              <a:t>주간 전망 보고서에 예측구간 그림 1장 추가 — 도입 여부·형식·시범 기간 협의</a:t>
            </a:r>
          </a:p>
        </p:txBody>
      </p:sp>
      <p:sp>
        <p:nvSpPr>
          <p:cNvPr id="8" name="TextBox 7"/>
          <p:cNvSpPr txBox="1"/>
          <p:nvPr/>
        </p:nvSpPr>
        <p:spPr>
          <a:xfrm>
            <a:off x="10195560" y="1444752"/>
            <a:ext cx="1280160" cy="190821"/>
          </a:xfrm>
          <a:prstGeom prst="rect">
            <a:avLst/>
          </a:prstGeom>
          <a:noFill/>
        </p:spPr>
        <p:txBody>
          <a:bodyPr wrap="square" lIns="45720" tIns="18288" rIns="45720" bIns="18288" anchor="t">
            <a:spAutoFit/>
          </a:bodyPr>
          <a:lstStyle/>
          <a:p>
            <a:pPr algn="ctr">
              <a:spcAft>
                <a:spcPts val="200"/>
              </a:spcAft>
            </a:pPr>
            <a:r>
              <a:rPr sz="1000" b="1">
                <a:solidFill>
                  <a:srgbClr val="008A3E"/>
                </a:solidFill>
                <a:latin typeface="NanumSquare Neo Regular" pitchFamily="2" charset="-127"/>
                <a:ea typeface="NanumSquare Neo Regular" pitchFamily="2" charset="-127"/>
              </a:rPr>
              <a:t>결정 요청</a:t>
            </a:r>
          </a:p>
        </p:txBody>
      </p:sp>
      <p:sp>
        <p:nvSpPr>
          <p:cNvPr id="9" name="Rounded Rectangle 8"/>
          <p:cNvSpPr/>
          <p:nvPr/>
        </p:nvSpPr>
        <p:spPr>
          <a:xfrm>
            <a:off x="502920" y="2157984"/>
            <a:ext cx="11183112" cy="859536"/>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0" name="TextBox 9"/>
          <p:cNvSpPr txBox="1"/>
          <p:nvPr/>
        </p:nvSpPr>
        <p:spPr>
          <a:xfrm>
            <a:off x="731520" y="2267712"/>
            <a:ext cx="59436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A2</a:t>
            </a:r>
          </a:p>
        </p:txBody>
      </p:sp>
      <p:sp>
        <p:nvSpPr>
          <p:cNvPr id="11" name="TextBox 10"/>
          <p:cNvSpPr txBox="1"/>
          <p:nvPr/>
        </p:nvSpPr>
        <p:spPr>
          <a:xfrm>
            <a:off x="1371600" y="2267712"/>
            <a:ext cx="3017520" cy="213905"/>
          </a:xfrm>
          <a:prstGeom prst="rect">
            <a:avLst/>
          </a:prstGeom>
          <a:noFill/>
        </p:spPr>
        <p:txBody>
          <a:bodyPr wrap="square" lIns="45720" tIns="18288" rIns="45720" bIns="18288" anchor="t">
            <a:spAutoFit/>
          </a:bodyPr>
          <a:lstStyle/>
          <a:p>
            <a:pPr algn="l">
              <a:spcAft>
                <a:spcPts val="200"/>
              </a:spcAft>
            </a:pPr>
            <a:r>
              <a:rPr sz="1150" b="1">
                <a:solidFill>
                  <a:srgbClr val="243447"/>
                </a:solidFill>
                <a:latin typeface="NanumSquare Neo Regular" pitchFamily="2" charset="-127"/>
                <a:ea typeface="NanumSquare Neo Regular" pitchFamily="2" charset="-127"/>
              </a:rPr>
              <a:t>상시 3자 결합의 병행 산출</a:t>
            </a:r>
          </a:p>
        </p:txBody>
      </p:sp>
      <p:sp>
        <p:nvSpPr>
          <p:cNvPr id="12" name="TextBox 11"/>
          <p:cNvSpPr txBox="1"/>
          <p:nvPr/>
        </p:nvSpPr>
        <p:spPr>
          <a:xfrm>
            <a:off x="4480560" y="2267712"/>
            <a:ext cx="5577840" cy="187744"/>
          </a:xfrm>
          <a:prstGeom prst="rect">
            <a:avLst/>
          </a:prstGeom>
          <a:noFill/>
        </p:spPr>
        <p:txBody>
          <a:bodyPr wrap="square" lIns="45720" tIns="18288" rIns="45720" bIns="18288" anchor="t">
            <a:spAutoFit/>
          </a:bodyPr>
          <a:lstStyle/>
          <a:p>
            <a:pPr algn="l">
              <a:spcAft>
                <a:spcPts val="200"/>
              </a:spcAft>
            </a:pPr>
            <a:r>
              <a:rPr sz="980" b="0">
                <a:solidFill>
                  <a:srgbClr val="262626"/>
                </a:solidFill>
                <a:latin typeface="NanumSquare Neo Regular" pitchFamily="2" charset="-127"/>
                <a:ea typeface="NanumSquare Neo Regular" pitchFamily="2" charset="-127"/>
              </a:rPr>
              <a:t>현행 예측과 나란히 참고 지표로 산출·비교 축적 — 교체가 아닌 병행 검증</a:t>
            </a:r>
          </a:p>
        </p:txBody>
      </p:sp>
      <p:sp>
        <p:nvSpPr>
          <p:cNvPr id="13" name="TextBox 12"/>
          <p:cNvSpPr txBox="1"/>
          <p:nvPr/>
        </p:nvSpPr>
        <p:spPr>
          <a:xfrm>
            <a:off x="10195560" y="2414016"/>
            <a:ext cx="1280160" cy="190821"/>
          </a:xfrm>
          <a:prstGeom prst="rect">
            <a:avLst/>
          </a:prstGeom>
          <a:noFill/>
        </p:spPr>
        <p:txBody>
          <a:bodyPr wrap="square" lIns="45720" tIns="18288" rIns="45720" bIns="18288" anchor="t">
            <a:spAutoFit/>
          </a:bodyPr>
          <a:lstStyle/>
          <a:p>
            <a:pPr algn="ctr">
              <a:spcAft>
                <a:spcPts val="200"/>
              </a:spcAft>
            </a:pPr>
            <a:r>
              <a:rPr sz="1000" b="1">
                <a:solidFill>
                  <a:srgbClr val="6B6B6B"/>
                </a:solidFill>
                <a:latin typeface="NanumSquare Neo Regular" pitchFamily="2" charset="-127"/>
                <a:ea typeface="NanumSquare Neo Regular" pitchFamily="2" charset="-127"/>
              </a:rPr>
              <a:t>의견 요청</a:t>
            </a:r>
          </a:p>
        </p:txBody>
      </p:sp>
      <p:sp>
        <p:nvSpPr>
          <p:cNvPr id="14" name="Rounded Rectangle 13"/>
          <p:cNvSpPr/>
          <p:nvPr/>
        </p:nvSpPr>
        <p:spPr>
          <a:xfrm>
            <a:off x="502920" y="3127248"/>
            <a:ext cx="11183112" cy="859536"/>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15" name="TextBox 14"/>
          <p:cNvSpPr txBox="1"/>
          <p:nvPr/>
        </p:nvSpPr>
        <p:spPr>
          <a:xfrm>
            <a:off x="731520" y="3236976"/>
            <a:ext cx="59436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A3</a:t>
            </a:r>
          </a:p>
        </p:txBody>
      </p:sp>
      <p:sp>
        <p:nvSpPr>
          <p:cNvPr id="16" name="TextBox 15"/>
          <p:cNvSpPr txBox="1"/>
          <p:nvPr/>
        </p:nvSpPr>
        <p:spPr>
          <a:xfrm>
            <a:off x="1371600" y="3236976"/>
            <a:ext cx="3017520" cy="213905"/>
          </a:xfrm>
          <a:prstGeom prst="rect">
            <a:avLst/>
          </a:prstGeom>
          <a:noFill/>
        </p:spPr>
        <p:txBody>
          <a:bodyPr wrap="square" lIns="45720" tIns="18288" rIns="45720" bIns="18288" anchor="t">
            <a:spAutoFit/>
          </a:bodyPr>
          <a:lstStyle/>
          <a:p>
            <a:pPr algn="l">
              <a:spcAft>
                <a:spcPts val="200"/>
              </a:spcAft>
            </a:pPr>
            <a:r>
              <a:rPr sz="1150" b="1">
                <a:solidFill>
                  <a:srgbClr val="243447"/>
                </a:solidFill>
                <a:latin typeface="NanumSquare Neo Regular" pitchFamily="2" charset="-127"/>
                <a:ea typeface="NanumSquare Neo Regular" pitchFamily="2" charset="-127"/>
              </a:rPr>
              <a:t>전망변동 자동 설명 리포트</a:t>
            </a:r>
          </a:p>
        </p:txBody>
      </p:sp>
      <p:sp>
        <p:nvSpPr>
          <p:cNvPr id="17" name="TextBox 16"/>
          <p:cNvSpPr txBox="1"/>
          <p:nvPr/>
        </p:nvSpPr>
        <p:spPr>
          <a:xfrm>
            <a:off x="4480560" y="3236976"/>
            <a:ext cx="5577840" cy="187744"/>
          </a:xfrm>
          <a:prstGeom prst="rect">
            <a:avLst/>
          </a:prstGeom>
          <a:noFill/>
        </p:spPr>
        <p:txBody>
          <a:bodyPr wrap="square" lIns="45720" tIns="18288" rIns="45720" bIns="18288" anchor="t">
            <a:spAutoFit/>
          </a:bodyPr>
          <a:lstStyle/>
          <a:p>
            <a:pPr algn="l">
              <a:spcAft>
                <a:spcPts val="200"/>
              </a:spcAft>
            </a:pPr>
            <a:r>
              <a:rPr sz="980" b="0">
                <a:solidFill>
                  <a:srgbClr val="262626"/>
                </a:solidFill>
                <a:latin typeface="NanumSquare Neo Regular" pitchFamily="2" charset="-127"/>
                <a:ea typeface="NanumSquare Neo Regular" pitchFamily="2" charset="-127"/>
              </a:rPr>
              <a:t>주간 나우캐스트 변동의 원인(어떤 지표가 얼마나 움직였나)을 자동 서술 — 프로토타입 시연 후 협의</a:t>
            </a:r>
          </a:p>
        </p:txBody>
      </p:sp>
      <p:sp>
        <p:nvSpPr>
          <p:cNvPr id="18" name="TextBox 17"/>
          <p:cNvSpPr txBox="1"/>
          <p:nvPr/>
        </p:nvSpPr>
        <p:spPr>
          <a:xfrm>
            <a:off x="10195560" y="3383280"/>
            <a:ext cx="1280160" cy="190821"/>
          </a:xfrm>
          <a:prstGeom prst="rect">
            <a:avLst/>
          </a:prstGeom>
          <a:noFill/>
        </p:spPr>
        <p:txBody>
          <a:bodyPr wrap="square" lIns="45720" tIns="18288" rIns="45720" bIns="18288" anchor="t">
            <a:spAutoFit/>
          </a:bodyPr>
          <a:lstStyle/>
          <a:p>
            <a:pPr algn="ctr">
              <a:spcAft>
                <a:spcPts val="200"/>
              </a:spcAft>
            </a:pPr>
            <a:r>
              <a:rPr sz="1000" b="1">
                <a:solidFill>
                  <a:srgbClr val="6B6B6B"/>
                </a:solidFill>
                <a:latin typeface="NanumSquare Neo Regular" pitchFamily="2" charset="-127"/>
                <a:ea typeface="NanumSquare Neo Regular" pitchFamily="2" charset="-127"/>
              </a:rPr>
              <a:t>차기 시연</a:t>
            </a:r>
          </a:p>
        </p:txBody>
      </p:sp>
      <p:sp>
        <p:nvSpPr>
          <p:cNvPr id="19" name="Rounded Rectangle 18"/>
          <p:cNvSpPr/>
          <p:nvPr/>
        </p:nvSpPr>
        <p:spPr>
          <a:xfrm>
            <a:off x="502920" y="4096512"/>
            <a:ext cx="11183112" cy="859536"/>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0" name="TextBox 19"/>
          <p:cNvSpPr txBox="1"/>
          <p:nvPr/>
        </p:nvSpPr>
        <p:spPr>
          <a:xfrm>
            <a:off x="731520" y="4206240"/>
            <a:ext cx="59436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A4</a:t>
            </a:r>
          </a:p>
        </p:txBody>
      </p:sp>
      <p:sp>
        <p:nvSpPr>
          <p:cNvPr id="21" name="TextBox 20"/>
          <p:cNvSpPr txBox="1"/>
          <p:nvPr/>
        </p:nvSpPr>
        <p:spPr>
          <a:xfrm>
            <a:off x="1371600" y="4206240"/>
            <a:ext cx="3017520" cy="213905"/>
          </a:xfrm>
          <a:prstGeom prst="rect">
            <a:avLst/>
          </a:prstGeom>
          <a:noFill/>
        </p:spPr>
        <p:txBody>
          <a:bodyPr wrap="square" lIns="45720" tIns="18288" rIns="45720" bIns="18288" anchor="t">
            <a:spAutoFit/>
          </a:bodyPr>
          <a:lstStyle/>
          <a:p>
            <a:pPr algn="l">
              <a:spcAft>
                <a:spcPts val="200"/>
              </a:spcAft>
            </a:pPr>
            <a:r>
              <a:rPr sz="1150" b="1">
                <a:solidFill>
                  <a:srgbClr val="243447"/>
                </a:solidFill>
                <a:latin typeface="NanumSquare Neo Regular" pitchFamily="2" charset="-127"/>
                <a:ea typeface="NanumSquare Neo Regular" pitchFamily="2" charset="-127"/>
              </a:rPr>
              <a:t>속보-확정 개정 예측 트랙</a:t>
            </a:r>
          </a:p>
        </p:txBody>
      </p:sp>
      <p:sp>
        <p:nvSpPr>
          <p:cNvPr id="22" name="TextBox 21"/>
          <p:cNvSpPr txBox="1"/>
          <p:nvPr/>
        </p:nvSpPr>
        <p:spPr>
          <a:xfrm>
            <a:off x="4480560" y="4206240"/>
            <a:ext cx="5577840" cy="187744"/>
          </a:xfrm>
          <a:prstGeom prst="rect">
            <a:avLst/>
          </a:prstGeom>
          <a:noFill/>
        </p:spPr>
        <p:txBody>
          <a:bodyPr wrap="square" lIns="45720" tIns="18288" rIns="45720" bIns="18288" anchor="t">
            <a:spAutoFit/>
          </a:bodyPr>
          <a:lstStyle/>
          <a:p>
            <a:pPr algn="l">
              <a:spcAft>
                <a:spcPts val="200"/>
              </a:spcAft>
            </a:pPr>
            <a:r>
              <a:rPr sz="980" b="0">
                <a:solidFill>
                  <a:srgbClr val="262626"/>
                </a:solidFill>
                <a:latin typeface="NanumSquare Neo Regular" pitchFamily="2" charset="-127"/>
                <a:ea typeface="NanumSquare Neo Regular" pitchFamily="2" charset="-127"/>
              </a:rPr>
              <a:t>속보치와 확정치의 차이를 예측하는 신규 축 — 타당성 검토 착수 동의</a:t>
            </a:r>
          </a:p>
        </p:txBody>
      </p:sp>
      <p:sp>
        <p:nvSpPr>
          <p:cNvPr id="23" name="TextBox 22"/>
          <p:cNvSpPr txBox="1"/>
          <p:nvPr/>
        </p:nvSpPr>
        <p:spPr>
          <a:xfrm>
            <a:off x="10195560" y="4352544"/>
            <a:ext cx="1280160" cy="190821"/>
          </a:xfrm>
          <a:prstGeom prst="rect">
            <a:avLst/>
          </a:prstGeom>
          <a:noFill/>
        </p:spPr>
        <p:txBody>
          <a:bodyPr wrap="square" lIns="45720" tIns="18288" rIns="45720" bIns="18288" anchor="t">
            <a:spAutoFit/>
          </a:bodyPr>
          <a:lstStyle/>
          <a:p>
            <a:pPr algn="ctr">
              <a:spcAft>
                <a:spcPts val="200"/>
              </a:spcAft>
            </a:pPr>
            <a:r>
              <a:rPr sz="1000" b="1">
                <a:solidFill>
                  <a:srgbClr val="6B6B6B"/>
                </a:solidFill>
                <a:latin typeface="NanumSquare Neo Regular" pitchFamily="2" charset="-127"/>
                <a:ea typeface="NanumSquare Neo Regular" pitchFamily="2" charset="-127"/>
              </a:rPr>
              <a:t>동의 요청</a:t>
            </a:r>
          </a:p>
        </p:txBody>
      </p:sp>
      <p:sp>
        <p:nvSpPr>
          <p:cNvPr id="24" name="Rounded Rectangle 23"/>
          <p:cNvSpPr/>
          <p:nvPr/>
        </p:nvSpPr>
        <p:spPr>
          <a:xfrm>
            <a:off x="502920" y="5065776"/>
            <a:ext cx="11183112" cy="859536"/>
          </a:xfrm>
          <a:prstGeom prst="round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25" name="TextBox 24"/>
          <p:cNvSpPr txBox="1"/>
          <p:nvPr/>
        </p:nvSpPr>
        <p:spPr>
          <a:xfrm>
            <a:off x="731520" y="5175504"/>
            <a:ext cx="594360" cy="229294"/>
          </a:xfrm>
          <a:prstGeom prst="rect">
            <a:avLst/>
          </a:prstGeom>
          <a:noFill/>
        </p:spPr>
        <p:txBody>
          <a:bodyPr wrap="square" lIns="45720" tIns="18288" rIns="45720" bIns="18288" anchor="t">
            <a:spAutoFit/>
          </a:bodyPr>
          <a:lstStyle/>
          <a:p>
            <a:pPr algn="l">
              <a:spcAft>
                <a:spcPts val="200"/>
              </a:spcAft>
            </a:pPr>
            <a:r>
              <a:rPr sz="1250" b="1">
                <a:solidFill>
                  <a:srgbClr val="243447"/>
                </a:solidFill>
                <a:latin typeface="NanumSquare Neo Regular" pitchFamily="2" charset="-127"/>
                <a:ea typeface="NanumSquare Neo Regular" pitchFamily="2" charset="-127"/>
              </a:rPr>
              <a:t>A5</a:t>
            </a:r>
          </a:p>
        </p:txBody>
      </p:sp>
      <p:sp>
        <p:nvSpPr>
          <p:cNvPr id="26" name="TextBox 25"/>
          <p:cNvSpPr txBox="1"/>
          <p:nvPr/>
        </p:nvSpPr>
        <p:spPr>
          <a:xfrm>
            <a:off x="1371600" y="5175504"/>
            <a:ext cx="3017520" cy="213905"/>
          </a:xfrm>
          <a:prstGeom prst="rect">
            <a:avLst/>
          </a:prstGeom>
          <a:noFill/>
        </p:spPr>
        <p:txBody>
          <a:bodyPr wrap="square" lIns="45720" tIns="18288" rIns="45720" bIns="18288" anchor="t">
            <a:spAutoFit/>
          </a:bodyPr>
          <a:lstStyle/>
          <a:p>
            <a:pPr algn="l">
              <a:spcAft>
                <a:spcPts val="200"/>
              </a:spcAft>
            </a:pPr>
            <a:r>
              <a:rPr sz="1150" b="1">
                <a:solidFill>
                  <a:srgbClr val="243447"/>
                </a:solidFill>
                <a:latin typeface="NanumSquare Neo Regular" pitchFamily="2" charset="-127"/>
                <a:ea typeface="NanumSquare Neo Regular" pitchFamily="2" charset="-127"/>
              </a:rPr>
              <a:t>데이터 협조</a:t>
            </a:r>
          </a:p>
        </p:txBody>
      </p:sp>
      <p:sp>
        <p:nvSpPr>
          <p:cNvPr id="27" name="TextBox 26"/>
          <p:cNvSpPr txBox="1"/>
          <p:nvPr/>
        </p:nvSpPr>
        <p:spPr>
          <a:xfrm>
            <a:off x="4480560" y="5175504"/>
            <a:ext cx="5577840" cy="187744"/>
          </a:xfrm>
          <a:prstGeom prst="rect">
            <a:avLst/>
          </a:prstGeom>
          <a:noFill/>
        </p:spPr>
        <p:txBody>
          <a:bodyPr wrap="square" lIns="45720" tIns="18288" rIns="45720" bIns="18288" anchor="t">
            <a:spAutoFit/>
          </a:bodyPr>
          <a:lstStyle/>
          <a:p>
            <a:pPr algn="l">
              <a:spcAft>
                <a:spcPts val="200"/>
              </a:spcAft>
            </a:pPr>
            <a:r>
              <a:rPr sz="980" b="0" dirty="0" err="1">
                <a:solidFill>
                  <a:srgbClr val="262626"/>
                </a:solidFill>
                <a:latin typeface="NanumSquare Neo Regular" pitchFamily="2" charset="-127"/>
                <a:ea typeface="NanumSquare Neo Regular" pitchFamily="2" charset="-127"/>
              </a:rPr>
              <a:t>관세청</a:t>
            </a:r>
            <a:r>
              <a:rPr sz="980" b="0" dirty="0">
                <a:solidFill>
                  <a:srgbClr val="262626"/>
                </a:solidFill>
                <a:latin typeface="NanumSquare Neo Regular" pitchFamily="2" charset="-127"/>
                <a:ea typeface="NanumSquare Neo Regular" pitchFamily="2" charset="-127"/>
              </a:rPr>
              <a:t> 1~10일 </a:t>
            </a:r>
            <a:r>
              <a:rPr sz="980" b="0" dirty="0" err="1">
                <a:solidFill>
                  <a:srgbClr val="262626"/>
                </a:solidFill>
                <a:latin typeface="NanumSquare Neo Regular" pitchFamily="2" charset="-127"/>
                <a:ea typeface="NanumSquare Neo Regular" pitchFamily="2" charset="-127"/>
              </a:rPr>
              <a:t>수출</a:t>
            </a:r>
            <a:r>
              <a:rPr sz="980" b="0" dirty="0">
                <a:solidFill>
                  <a:srgbClr val="262626"/>
                </a:solidFill>
                <a:latin typeface="NanumSquare Neo Regular" pitchFamily="2" charset="-127"/>
                <a:ea typeface="NanumSquare Neo Regular" pitchFamily="2" charset="-127"/>
              </a:rPr>
              <a:t>(API) </a:t>
            </a:r>
            <a:r>
              <a:rPr sz="980" b="0" dirty="0" err="1">
                <a:solidFill>
                  <a:srgbClr val="262626"/>
                </a:solidFill>
                <a:latin typeface="NanumSquare Neo Regular" pitchFamily="2" charset="-127"/>
                <a:ea typeface="NanumSquare Neo Regular" pitchFamily="2" charset="-127"/>
              </a:rPr>
              <a:t>등</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고빈도</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공개</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데이터</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연계</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일부</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지표</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컬럼</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정의</a:t>
            </a:r>
            <a:r>
              <a:rPr sz="980" b="0" dirty="0">
                <a:solidFill>
                  <a:srgbClr val="262626"/>
                </a:solidFill>
                <a:latin typeface="NanumSquare Neo Regular" pitchFamily="2" charset="-127"/>
                <a:ea typeface="NanumSquare Neo Regular" pitchFamily="2" charset="-127"/>
              </a:rPr>
              <a:t> </a:t>
            </a:r>
            <a:r>
              <a:rPr sz="980" b="0" dirty="0" err="1">
                <a:solidFill>
                  <a:srgbClr val="262626"/>
                </a:solidFill>
                <a:latin typeface="NanumSquare Neo Regular" pitchFamily="2" charset="-127"/>
                <a:ea typeface="NanumSquare Neo Regular" pitchFamily="2" charset="-127"/>
              </a:rPr>
              <a:t>확인</a:t>
            </a:r>
            <a:endParaRPr sz="980" b="0" dirty="0">
              <a:solidFill>
                <a:srgbClr val="262626"/>
              </a:solidFill>
              <a:latin typeface="NanumSquare Neo Regular" pitchFamily="2" charset="-127"/>
              <a:ea typeface="NanumSquare Neo Regular" pitchFamily="2" charset="-127"/>
            </a:endParaRPr>
          </a:p>
        </p:txBody>
      </p:sp>
      <p:sp>
        <p:nvSpPr>
          <p:cNvPr id="28" name="TextBox 27"/>
          <p:cNvSpPr txBox="1"/>
          <p:nvPr/>
        </p:nvSpPr>
        <p:spPr>
          <a:xfrm>
            <a:off x="10195560" y="5321808"/>
            <a:ext cx="1280160" cy="190821"/>
          </a:xfrm>
          <a:prstGeom prst="rect">
            <a:avLst/>
          </a:prstGeom>
          <a:noFill/>
        </p:spPr>
        <p:txBody>
          <a:bodyPr wrap="square" lIns="45720" tIns="18288" rIns="45720" bIns="18288" anchor="t">
            <a:spAutoFit/>
          </a:bodyPr>
          <a:lstStyle/>
          <a:p>
            <a:pPr algn="ctr">
              <a:spcAft>
                <a:spcPts val="200"/>
              </a:spcAft>
            </a:pPr>
            <a:r>
              <a:rPr sz="1000" b="1">
                <a:solidFill>
                  <a:srgbClr val="6B6B6B"/>
                </a:solidFill>
                <a:latin typeface="NanumSquare Neo Regular" pitchFamily="2" charset="-127"/>
                <a:ea typeface="NanumSquare Neo Regular" pitchFamily="2" charset="-127"/>
              </a:rPr>
              <a:t>실무 협조</a:t>
            </a:r>
          </a:p>
        </p:txBody>
      </p:sp>
      <p:sp>
        <p:nvSpPr>
          <p:cNvPr id="29" name="Rectangle 28"/>
          <p:cNvSpPr/>
          <p:nvPr/>
        </p:nvSpPr>
        <p:spPr>
          <a:xfrm>
            <a:off x="502920" y="6309360"/>
            <a:ext cx="11183112" cy="365760"/>
          </a:xfrm>
          <a:prstGeom prst="rect">
            <a:avLst/>
          </a:prstGeom>
          <a:solidFill>
            <a:srgbClr val="F3F4F5"/>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NanumSquare Neo Regular" pitchFamily="2" charset="-127"/>
              <a:ea typeface="NanumSquare Neo Regular" pitchFamily="2" charset="-127"/>
            </a:endParaRPr>
          </a:p>
        </p:txBody>
      </p:sp>
      <p:sp>
        <p:nvSpPr>
          <p:cNvPr id="30" name="TextBox 29"/>
          <p:cNvSpPr txBox="1"/>
          <p:nvPr/>
        </p:nvSpPr>
        <p:spPr>
          <a:xfrm>
            <a:off x="685800" y="6406062"/>
            <a:ext cx="10881360" cy="172355"/>
          </a:xfrm>
          <a:prstGeom prst="rect">
            <a:avLst/>
          </a:prstGeom>
          <a:noFill/>
        </p:spPr>
        <p:txBody>
          <a:bodyPr wrap="square" lIns="45720" tIns="18288" rIns="45720" bIns="18288" anchor="ctr">
            <a:spAutoFit/>
          </a:bodyPr>
          <a:lstStyle/>
          <a:p>
            <a:pPr algn="l">
              <a:spcAft>
                <a:spcPts val="200"/>
              </a:spcAft>
            </a:pPr>
            <a:r>
              <a:rPr sz="880" b="0">
                <a:solidFill>
                  <a:srgbClr val="6B6B6B"/>
                </a:solidFill>
                <a:latin typeface="NanumSquare Neo Regular" pitchFamily="2" charset="-127"/>
                <a:ea typeface="NanumSquare Neo Regular" pitchFamily="2" charset="-127"/>
              </a:rPr>
              <a:t>제안 우선순위: A1(검증 완료·즉시 가능) → A3(주력, 프로토타입 준비 중) → A2·A4(협의 결과에 따라) · 모든 코드는 재현 가능 형태로 이관 예정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3720</Words>
  <Application>Microsoft Macintosh PowerPoint</Application>
  <PresentationFormat>와이드스크린</PresentationFormat>
  <Paragraphs>262</Paragraphs>
  <Slides>8</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Apple SD Gothic Neo</vt:lpstr>
      <vt:lpstr>NanumSquare Neo Regular</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김용민</cp:lastModifiedBy>
  <cp:revision>2</cp:revision>
  <dcterms:created xsi:type="dcterms:W3CDTF">2013-01-27T09:14:16Z</dcterms:created>
  <dcterms:modified xsi:type="dcterms:W3CDTF">2026-07-29T01:49:59Z</dcterms:modified>
  <cp:category/>
</cp:coreProperties>
</file>