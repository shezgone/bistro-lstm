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005840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243447"/>
                </a:solidFill>
                <a:latin typeface="Apple SD Gothic Neo"/>
                <a:ea typeface="Apple SD Gothic Neo"/>
              </a:rPr>
              <a:t>GDP 나우캐스트 Fan Chart — 예측은 그대로, 불확실성을 입힙니다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29184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>
                <a:solidFill>
                  <a:srgbClr val="6B6B6B"/>
                </a:solidFill>
                <a:latin typeface="Apple SD Gothic Neo"/>
                <a:ea typeface="Apple SD Gothic Neo"/>
              </a:rPr>
              <a:t>AX Lab | 2026. 07.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804672"/>
            <a:ext cx="11183112" cy="0"/>
          </a:xfrm>
          <a:prstGeom prst="line">
            <a:avLst/>
          </a:prstGeom>
          <a:ln w="2032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02920" y="877824"/>
            <a:ext cx="1115568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62626"/>
                </a:solidFill>
                <a:latin typeface="Apple SD Gothic Neo"/>
                <a:ea typeface="Apple SD Gothic Neo"/>
              </a:rPr>
              <a:t>현행 점 전망(DFM+XGBoost)은 한 글자도 바꾸지 않고, 주차별 예측구간(50·80%)을 부여 — </a:t>
            </a:r>
            <a:r>
              <a:rPr sz="1200" b="1">
                <a:solidFill>
                  <a:srgbClr val="008A3E"/>
                </a:solidFill>
                <a:latin typeface="Apple SD Gothic Neo"/>
                <a:ea typeface="Apple SD Gothic Neo"/>
              </a:rPr>
              <a:t>실시간 검증 커버리지 81~87% (명목 80%)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89888"/>
            <a:ext cx="3383280" cy="31089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008A3E"/>
                </a:solidFill>
                <a:latin typeface="Apple SD Gothic Neo"/>
                <a:ea typeface="Apple SD Gothic Neo"/>
              </a:rPr>
              <a:t>01  </a:t>
            </a: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방법 — 예측 불변 부가 레이어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1719072"/>
            <a:ext cx="338328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1810512"/>
            <a:ext cx="3383280" cy="4114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262626"/>
                </a:solidFill>
                <a:latin typeface="Apple SD Gothic Neo"/>
                <a:ea typeface="Apple SD Gothic Neo"/>
              </a:rPr>
              <a:t>중심선 = 현행 점 전망 그대로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모형·스킴 변경 없음. 구간만 얹음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262626"/>
                </a:solidFill>
                <a:latin typeface="Apple SD Gothic Neo"/>
                <a:ea typeface="Apple SD Gothic Neo"/>
              </a:rPr>
              <a:t>구간 = 과거 실시간 오차의 경험분포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컨포멀 예측: 분포 가정 없이 통계적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  보장, 전망주차 구간별로 폭 차등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학습·보정에 미래정보 미사용</a:t>
            </a:r>
          </a:p>
          <a:p>
            <a:pPr algn="l">
              <a:spcAft>
                <a:spcPts val="200"/>
              </a:spcAft>
            </a:pPr>
            <a:r>
              <a:rPr sz="880" b="0">
                <a:solidFill>
                  <a:srgbClr val="6B6B6B"/>
                </a:solidFill>
                <a:latin typeface="Apple SD Gothic Neo"/>
                <a:ea typeface="Apple SD Gothic Neo"/>
              </a:rPr>
              <a:t>  (확장창, 발표 전 분기 제외)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262626"/>
                </a:solidFill>
                <a:latin typeface="Apple SD Gothic Neo"/>
                <a:ea typeface="Apple SD Gothic Neo"/>
              </a:rPr>
              <a:t>조기 주차 정밀화 (딥러닝 기여)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발표 19~14주 전 구간은 사전학습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  시계열 모델(Chronos-2)의 분포를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  같은 방식으로 보정해 사용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전망 시계별 조건화 — 국면 판단이</a:t>
            </a:r>
          </a:p>
          <a:p>
            <a:pPr algn="l">
              <a:spcAft>
                <a:spcPts val="200"/>
              </a:spcAft>
            </a:pPr>
            <a:r>
              <a:rPr sz="880" b="0">
                <a:solidFill>
                  <a:srgbClr val="6B6B6B"/>
                </a:solidFill>
                <a:latin typeface="Apple SD Gothic Neo"/>
                <a:ea typeface="Apple SD Gothic Neo"/>
              </a:rPr>
              <a:t>  아닌 표준 관행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544568"/>
            <a:ext cx="338328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243447"/>
                </a:solidFill>
                <a:latin typeface="Apple SD Gothic Neo"/>
                <a:ea typeface="Apple SD Gothic Neo"/>
              </a:rPr>
              <a:t>도입 형태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주간 전망 보고서에 그림 1장 추가가 전부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기존 파이프라인 무수정 (산출물만 소비)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전 코드 재현 가능 형태로 이관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1389888"/>
            <a:ext cx="3291840" cy="31089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008A3E"/>
                </a:solidFill>
                <a:latin typeface="Apple SD Gothic Neo"/>
                <a:ea typeface="Apple SD Gothic Neo"/>
              </a:rPr>
              <a:t>02  </a:t>
            </a: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실시간 검증 (2020~2025, 23분기)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60520" y="1719072"/>
            <a:ext cx="329184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60520" y="1847088"/>
          <a:ext cx="32918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777240"/>
                <a:gridCol w="8229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</a:rPr>
                        <a:t>지표</a:t>
                      </a:r>
                    </a:p>
                  </a:txBody>
                  <a:tcPr marL="36576" marR="27432" marT="10972" marB="10972">
                    <a:solidFill>
                      <a:srgbClr val="2434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</a:rPr>
                        <a:t>구간 성능</a:t>
                      </a:r>
                    </a:p>
                  </a:txBody>
                  <a:tcPr marL="36576" marR="27432" marT="10972" marB="10972">
                    <a:solidFill>
                      <a:srgbClr val="2434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</a:rPr>
                        <a:t/>
                      </a:r>
                    </a:p>
                  </a:txBody>
                  <a:tcPr marL="36576" marR="27432" marT="10972" marB="10972">
                    <a:solidFill>
                      <a:srgbClr val="24344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62626"/>
                          </a:solidFill>
                          <a:latin typeface="Apple SD Gothic Neo"/>
                          <a:ea typeface="Apple SD Gothic Neo"/>
                        </a:rPr>
                        <a:t>커버리지(명목 80%)</a:t>
                      </a:r>
                    </a:p>
                  </a:txBody>
                  <a:tcPr marL="36576" marR="27432" marT="10972" marB="10972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262626"/>
                          </a:solidFill>
                          <a:latin typeface="Apple SD Gothic Neo"/>
                          <a:ea typeface="Apple SD Gothic Neo"/>
                        </a:rPr>
                        <a:t>81%</a:t>
                      </a:r>
                    </a:p>
                  </a:txBody>
                  <a:tcPr marL="36576" marR="27432" marT="10972" marB="10972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62626"/>
                          </a:solidFill>
                          <a:latin typeface="Apple SD Gothic Neo"/>
                          <a:ea typeface="Apple SD Gothic Neo"/>
                        </a:rPr>
                        <a:t>전체</a:t>
                      </a:r>
                    </a:p>
                  </a:txBody>
                  <a:tcPr marL="36576" marR="27432" marT="10972" marB="10972">
                    <a:solidFill>
                      <a:srgbClr val="E8F3E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62626"/>
                          </a:solidFill>
                          <a:latin typeface="Apple SD Gothic Neo"/>
                          <a:ea typeface="Apple SD Gothic Neo"/>
                        </a:rPr>
                        <a:t>〃 (COVID 3분기 제외)</a:t>
                      </a:r>
                    </a:p>
                  </a:txBody>
                  <a:tcPr marL="36576" marR="27432" marT="10972" marB="10972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262626"/>
                          </a:solidFill>
                          <a:latin typeface="Apple SD Gothic Neo"/>
                          <a:ea typeface="Apple SD Gothic Neo"/>
                        </a:rPr>
                        <a:t>87%</a:t>
                      </a:r>
                    </a:p>
                  </a:txBody>
                  <a:tcPr marL="36576" marR="27432" marT="10972" marB="10972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62626"/>
                          </a:solidFill>
                          <a:latin typeface="Apple SD Gothic Neo"/>
                          <a:ea typeface="Apple SD Gothic Neo"/>
                        </a:rPr>
                        <a:t/>
                      </a:r>
                    </a:p>
                  </a:txBody>
                  <a:tcPr marL="36576" marR="27432" marT="10972" marB="10972">
                    <a:solidFill>
                      <a:srgbClr val="E8F3E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62626"/>
                          </a:solidFill>
                          <a:latin typeface="Apple SD Gothic Neo"/>
                          <a:ea typeface="Apple SD Gothic Neo"/>
                        </a:rPr>
                        <a:t>평균 구간 폭</a:t>
                      </a:r>
                    </a:p>
                  </a:txBody>
                  <a:tcPr marL="36576" marR="27432" marT="10972" marB="109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62626"/>
                          </a:solidFill>
                          <a:latin typeface="Apple SD Gothic Neo"/>
                          <a:ea typeface="Apple SD Gothic Neo"/>
                        </a:rPr>
                        <a:t>1.86%p</a:t>
                      </a:r>
                    </a:p>
                  </a:txBody>
                  <a:tcPr marL="36576" marR="27432" marT="10972" marB="109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62626"/>
                          </a:solidFill>
                          <a:latin typeface="Apple SD Gothic Neo"/>
                          <a:ea typeface="Apple SD Gothic Neo"/>
                        </a:rPr>
                        <a:t>폭도 축소</a:t>
                      </a:r>
                    </a:p>
                  </a:txBody>
                  <a:tcPr marL="36576" marR="27432" marT="10972" marB="1097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62626"/>
                          </a:solidFill>
                          <a:latin typeface="Apple SD Gothic Neo"/>
                          <a:ea typeface="Apple SD Gothic Neo"/>
                        </a:rPr>
                        <a:t>구간 점수(Winkler)</a:t>
                      </a:r>
                    </a:p>
                  </a:txBody>
                  <a:tcPr marL="36576" marR="27432" marT="10972" marB="109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62626"/>
                          </a:solidFill>
                          <a:latin typeface="Apple SD Gothic Neo"/>
                          <a:ea typeface="Apple SD Gothic Neo"/>
                        </a:rPr>
                        <a:t>−5.5%</a:t>
                      </a:r>
                    </a:p>
                  </a:txBody>
                  <a:tcPr marL="36576" marR="27432" marT="10972" marB="109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62626"/>
                          </a:solidFill>
                          <a:latin typeface="Apple SD Gothic Neo"/>
                          <a:ea typeface="Apple SD Gothic Neo"/>
                        </a:rPr>
                        <a:t>DL 결합 효과</a:t>
                      </a:r>
                    </a:p>
                  </a:txBody>
                  <a:tcPr marL="36576" marR="27432" marT="10972" marB="1097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160520" y="3447288"/>
            <a:ext cx="3291840" cy="2377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262626"/>
                </a:solidFill>
                <a:latin typeface="Apple SD Gothic Neo"/>
                <a:ea typeface="Apple SD Gothic Neo"/>
              </a:rPr>
              <a:t>의의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현행 시스템은 점추정만 제공 — 전망의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  불확실성이 보고서에 수치로 없음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주요 중앙은행 관행(BoE Inflation Report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  fan chart)과 동일한 커뮤니케이션 형식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발표가 다가올수록 구간이 수축 —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  "확신의 정도"가 주차별로 표현됨</a:t>
            </a:r>
          </a:p>
          <a:p>
            <a:pPr algn="l">
              <a:spcAft>
                <a:spcPts val="200"/>
              </a:spcAft>
            </a:pPr>
            <a:r>
              <a:rPr sz="930" b="1">
                <a:solidFill>
                  <a:srgbClr val="262626"/>
                </a:solidFill>
                <a:latin typeface="Apple SD Gothic Neo"/>
                <a:ea typeface="Apple SD Gothic Neo"/>
              </a:rPr>
              <a:t>· 다음 단계: 한은 뉴스심리지수(NSI) 결합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  으로 조기 구간 정밀화, 전망 변동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  자동 설명 리포트와 통합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1389888"/>
            <a:ext cx="3977639" cy="31089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008A3E"/>
                </a:solidFill>
                <a:latin typeface="Apple SD Gothic Neo"/>
                <a:ea typeface="Apple SD Gothic Neo"/>
              </a:rPr>
              <a:t>03  </a:t>
            </a: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예시 — 2025년 2·3분기 (실시간 재현)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726679" y="1719072"/>
            <a:ext cx="397764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 descr="fanchart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2029967"/>
            <a:ext cx="4480559" cy="160446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26679" y="3904487"/>
            <a:ext cx="3977639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880" b="0">
                <a:solidFill>
                  <a:srgbClr val="6B6B6B"/>
                </a:solidFill>
                <a:latin typeface="Apple SD Gothic Neo"/>
                <a:ea typeface="Apple SD Gothic Neo"/>
              </a:rPr>
              <a:t>점선 = 이후 발표된 실제 속보치. 두 분기 모두 80% 구간 내에서</a:t>
            </a:r>
          </a:p>
          <a:p>
            <a:pPr algn="l">
              <a:spcAft>
                <a:spcPts val="200"/>
              </a:spcAft>
            </a:pPr>
            <a:r>
              <a:rPr sz="880" b="0">
                <a:solidFill>
                  <a:srgbClr val="6B6B6B"/>
                </a:solidFill>
                <a:latin typeface="Apple SD Gothic Neo"/>
                <a:ea typeface="Apple SD Gothic Neo"/>
              </a:rPr>
              <a:t>실현 — 반등 국면(2025Q2)에서도 구간이 리스크를 사전에 포괄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126480"/>
            <a:ext cx="11183112" cy="457200"/>
          </a:xfrm>
          <a:prstGeom prst="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199632"/>
            <a:ext cx="10881360" cy="32918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243447"/>
                </a:solidFill>
                <a:latin typeface="Apple SD Gothic Neo"/>
                <a:ea typeface="Apple SD Gothic Neo"/>
              </a:rPr>
              <a:t>검증 기준   </a:t>
            </a: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한은 제공 실시간 빈티지, 속보치 기준, 전망주차 w[−19,−1] · 구간 산출에 쓰인 오차는 해당 분기 이전 발표분만 사용 (release-safe)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