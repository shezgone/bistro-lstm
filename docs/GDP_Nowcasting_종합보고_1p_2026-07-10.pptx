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9601200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2300" b="1">
                <a:solidFill>
                  <a:srgbClr val="243447"/>
                </a:solidFill>
                <a:latin typeface="Apple SD Gothic Neo"/>
                <a:ea typeface="Apple SD Gothic Neo"/>
              </a:rPr>
              <a:t>GDP Nowcasting 고도화 — 종합 결과 보고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92640" y="329184"/>
            <a:ext cx="20116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spcAft>
                <a:spcPts val="200"/>
              </a:spcAft>
            </a:pPr>
            <a:r>
              <a:rPr sz="1050" b="0">
                <a:solidFill>
                  <a:srgbClr val="6B6B6B"/>
                </a:solidFill>
                <a:latin typeface="Apple SD Gothic Neo"/>
                <a:ea typeface="Apple SD Gothic Neo"/>
              </a:rPr>
              <a:t>AX Lab | 2026. 07.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804672"/>
            <a:ext cx="11183112" cy="0"/>
          </a:xfrm>
          <a:prstGeom prst="line">
            <a:avLst/>
          </a:prstGeom>
          <a:ln w="2032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02920" y="877824"/>
            <a:ext cx="11155680" cy="40233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262626"/>
                </a:solidFill>
                <a:latin typeface="Apple SD Gothic Neo"/>
                <a:ea typeface="Apple SD Gothic Neo"/>
              </a:rPr>
              <a:t>기존 전망체계 재현 → 국면전환 게이트 → 딥러닝 결합(v3)으로 </a:t>
            </a:r>
            <a:r>
              <a:rPr sz="1200" b="1">
                <a:solidFill>
                  <a:srgbClr val="008A3E"/>
                </a:solidFill>
                <a:latin typeface="Apple SD Gothic Neo"/>
                <a:ea typeface="Apple SD Gothic Neo"/>
              </a:rPr>
              <a:t>기존 최고 대비 오차 −6.2% (0.765→0.718)</a:t>
            </a:r>
            <a:r>
              <a:rPr sz="1050" b="0">
                <a:solidFill>
                  <a:srgbClr val="6B6B6B"/>
                </a:solidFill>
                <a:latin typeface="Apple SD Gothic Neo"/>
                <a:ea typeface="Apple SD Gothic Neo"/>
              </a:rPr>
              <a:t>   모든 결과는 실시간 빈티지·동일 검증체계 기준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3520440" cy="31089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8A3E"/>
                </a:solidFill>
                <a:latin typeface="Apple SD Gothic Neo"/>
                <a:ea typeface="Apple SD Gothic Neo"/>
              </a:rPr>
              <a:t>01  </a:t>
            </a:r>
            <a:r>
              <a:rPr sz="1300" b="1">
                <a:solidFill>
                  <a:srgbClr val="243447"/>
                </a:solidFill>
                <a:latin typeface="Apple SD Gothic Neo"/>
                <a:ea typeface="Apple SD Gothic Neo"/>
              </a:rPr>
              <a:t>제안 구조 — 국면전환 게이트 v3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1755648"/>
            <a:ext cx="3520440" cy="0"/>
          </a:xfrm>
          <a:prstGeom prst="line">
            <a:avLst/>
          </a:prstGeom>
          <a:ln w="12700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1837944"/>
            <a:ext cx="3520440" cy="6583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262626"/>
                </a:solidFill>
                <a:latin typeface="Apple SD Gothic Neo"/>
                <a:ea typeface="Apple SD Gothic Neo"/>
              </a:rPr>
              <a:t>매 분기, 이미 발표된 실적·심리지표만으로 국면을 판정한 뒤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262626"/>
                </a:solidFill>
                <a:latin typeface="Apple SD Gothic Neo"/>
                <a:ea typeface="Apple SD Gothic Neo"/>
              </a:rPr>
              <a:t>국면별 최적 조합으로 자동 전환 (미래정보 미사용)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532888"/>
            <a:ext cx="868680" cy="566928"/>
          </a:xfrm>
          <a:prstGeom prst="rect">
            <a:avLst/>
          </a:prstGeom>
          <a:solidFill>
            <a:srgbClr val="F3F4F5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9496" y="2679192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243447"/>
                </a:solidFill>
                <a:latin typeface="Apple SD Gothic Neo"/>
                <a:ea typeface="Apple SD Gothic Neo"/>
              </a:rPr>
              <a:t>충격기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5608" y="2560320"/>
            <a:ext cx="2587752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880" b="0">
                <a:solidFill>
                  <a:srgbClr val="6B6B6B"/>
                </a:solidFill>
                <a:latin typeface="Apple SD Gothic Neo"/>
                <a:ea typeface="Apple SD Gothic Neo"/>
              </a:rPr>
              <a:t>직전 4분기 변동성 &gt; 평소 중앙값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262626"/>
                </a:solidFill>
                <a:latin typeface="Apple SD Gothic Neo"/>
                <a:ea typeface="Apple SD Gothic Neo"/>
              </a:rPr>
              <a:t>DFM + XGBoost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3191256"/>
            <a:ext cx="868680" cy="566928"/>
          </a:xfrm>
          <a:prstGeom prst="rect">
            <a:avLst/>
          </a:prstGeom>
          <a:solidFill>
            <a:srgbClr val="F3F4F5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9496" y="333756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243447"/>
                </a:solidFill>
                <a:latin typeface="Apple SD Gothic Neo"/>
                <a:ea typeface="Apple SD Gothic Neo"/>
              </a:rPr>
              <a:t>평온기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35608" y="3218688"/>
            <a:ext cx="2587752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880" b="0">
                <a:solidFill>
                  <a:srgbClr val="6B6B6B"/>
                </a:solidFill>
                <a:latin typeface="Apple SD Gothic Neo"/>
                <a:ea typeface="Apple SD Gothic Neo"/>
              </a:rPr>
              <a:t>그 외 안정 구간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262626"/>
                </a:solidFill>
                <a:latin typeface="Apple SD Gothic Neo"/>
                <a:ea typeface="Apple SD Gothic Neo"/>
              </a:rPr>
              <a:t>DFM + RF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849624"/>
            <a:ext cx="868680" cy="566928"/>
          </a:xfrm>
          <a:prstGeom prst="rect">
            <a:avLst/>
          </a:prstGeom>
          <a:solidFill>
            <a:srgbClr val="E8F3EC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9496" y="3995928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8A3E"/>
                </a:solidFill>
                <a:latin typeface="Apple SD Gothic Neo"/>
                <a:ea typeface="Apple SD Gothic Neo"/>
              </a:rPr>
              <a:t>반등기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35608" y="3877056"/>
            <a:ext cx="2587752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880" b="0">
                <a:solidFill>
                  <a:srgbClr val="6B6B6B"/>
                </a:solidFill>
                <a:latin typeface="Apple SD Gothic Neo"/>
                <a:ea typeface="Apple SD Gothic Neo"/>
              </a:rPr>
              <a:t>직전 분기 역성장 + 심리 저점 통과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262626"/>
                </a:solidFill>
                <a:latin typeface="Apple SD Gothic Neo"/>
                <a:ea typeface="Apple SD Gothic Neo"/>
              </a:rPr>
              <a:t>DFM + 딥러닝(TTM)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4553712"/>
            <a:ext cx="3520440" cy="1371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243447"/>
                </a:solidFill>
                <a:latin typeface="Apple SD Gothic Neo"/>
                <a:ea typeface="Apple SD Gothic Neo"/>
              </a:rPr>
              <a:t>반등기가 핵심</a:t>
            </a:r>
          </a:p>
          <a:p>
            <a:pPr algn="l">
              <a:spcAft>
                <a:spcPts val="200"/>
              </a:spcAft>
            </a:pPr>
            <a:r>
              <a:rPr sz="930" b="0">
                <a:solidFill>
                  <a:srgbClr val="262626"/>
                </a:solidFill>
                <a:latin typeface="Apple SD Gothic Neo"/>
                <a:ea typeface="Apple SD Gothic Neo"/>
              </a:rPr>
              <a:t>· 역성장 직후 회복 국면은 과거 표본에 드물어 통계·트리</a:t>
            </a:r>
          </a:p>
          <a:p>
            <a:pPr algn="l">
              <a:spcAft>
                <a:spcPts val="200"/>
              </a:spcAft>
            </a:pPr>
            <a:r>
              <a:rPr sz="930" b="0">
                <a:solidFill>
                  <a:srgbClr val="262626"/>
                </a:solidFill>
                <a:latin typeface="Apple SD Gothic Neo"/>
                <a:ea typeface="Apple SD Gothic Neo"/>
              </a:rPr>
              <a:t>  모형의 보정이 오히려 오차를 키움 (해당 구간 0.815)</a:t>
            </a:r>
          </a:p>
          <a:p>
            <a:pPr algn="l">
              <a:spcAft>
                <a:spcPts val="200"/>
              </a:spcAft>
            </a:pPr>
            <a:r>
              <a:rPr sz="930" b="0">
                <a:solidFill>
                  <a:srgbClr val="262626"/>
                </a:solidFill>
                <a:latin typeface="Apple SD Gothic Neo"/>
                <a:ea typeface="Apple SD Gothic Neo"/>
              </a:rPr>
              <a:t>· 사전학습 딥러닝(TTM)을 결합하면 0.607로 개선 —</a:t>
            </a:r>
          </a:p>
          <a:p>
            <a:pPr algn="l">
              <a:spcAft>
                <a:spcPts val="200"/>
              </a:spcAft>
            </a:pPr>
            <a:r>
              <a:rPr sz="930" b="1">
                <a:solidFill>
                  <a:srgbClr val="262626"/>
                </a:solidFill>
                <a:latin typeface="Apple SD Gothic Neo"/>
                <a:ea typeface="Apple SD Gothic Neo"/>
              </a:rPr>
              <a:t>  딥러닝이 정확도에 기여하는 첫 구성</a:t>
            </a:r>
          </a:p>
          <a:p>
            <a:pPr algn="l">
              <a:spcAft>
                <a:spcPts val="200"/>
              </a:spcAft>
            </a:pPr>
            <a:r>
              <a:rPr sz="930" b="0">
                <a:solidFill>
                  <a:srgbClr val="262626"/>
                </a:solidFill>
                <a:latin typeface="Apple SD Gothic Neo"/>
                <a:ea typeface="Apple SD Gothic Neo"/>
              </a:rPr>
              <a:t>· 국면 판정을 연속 확신도(soft)로 바꿔도 동일 성능 유지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  → 판정 방식에 대한 강건성 확인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15968" y="1417320"/>
            <a:ext cx="3977639" cy="31089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8A3E"/>
                </a:solidFill>
                <a:latin typeface="Apple SD Gothic Neo"/>
                <a:ea typeface="Apple SD Gothic Neo"/>
              </a:rPr>
              <a:t>02  </a:t>
            </a:r>
            <a:r>
              <a:rPr sz="1300" b="1">
                <a:solidFill>
                  <a:srgbClr val="243447"/>
                </a:solidFill>
                <a:latin typeface="Apple SD Gothic Neo"/>
                <a:ea typeface="Apple SD Gothic Neo"/>
              </a:rPr>
              <a:t>종합 성능 — 26개 구성 전수 비교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315968" y="1755648"/>
            <a:ext cx="3977640" cy="0"/>
          </a:xfrm>
          <a:prstGeom prst="line">
            <a:avLst/>
          </a:prstGeom>
          <a:ln w="12700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315968" y="1837944"/>
            <a:ext cx="3977639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속보 GDP 예측오차(RMSE), 2018~2025 32개 분기 실시간 검증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4315968" y="2167128"/>
          <a:ext cx="3977640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2743200"/>
                <a:gridCol w="77724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</a:rPr>
                        <a:t>순위</a:t>
                      </a:r>
                    </a:p>
                  </a:txBody>
                  <a:tcPr marL="36576" marR="27432" marT="10972" marB="10972">
                    <a:solidFill>
                      <a:srgbClr val="24344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</a:rPr>
                        <a:t>구성</a:t>
                      </a:r>
                    </a:p>
                  </a:txBody>
                  <a:tcPr marL="36576" marR="27432" marT="10972" marB="10972">
                    <a:solidFill>
                      <a:srgbClr val="2434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</a:rPr>
                        <a:t>RMSE</a:t>
                      </a:r>
                    </a:p>
                  </a:txBody>
                  <a:tcPr marL="36576" marR="27432" marT="10972" marB="10972">
                    <a:solidFill>
                      <a:srgbClr val="24344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262626"/>
                          </a:solidFill>
                          <a:latin typeface="Apple SD Gothic Neo"/>
                          <a:ea typeface="Apple SD Gothic Neo"/>
                        </a:rPr>
                        <a:t>1</a:t>
                      </a:r>
                    </a:p>
                  </a:txBody>
                  <a:tcPr marL="36576" marR="27432" marT="10972" marB="10972"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62626"/>
                          </a:solidFill>
                          <a:latin typeface="Apple SD Gothic Neo"/>
                          <a:ea typeface="Apple SD Gothic Neo"/>
                        </a:rPr>
                        <a:t>제안: 게이트 v3 (반등기 딥러닝 결합)</a:t>
                      </a:r>
                    </a:p>
                  </a:txBody>
                  <a:tcPr marL="36576" marR="27432" marT="10972" marB="10972"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262626"/>
                          </a:solidFill>
                          <a:latin typeface="Apple SD Gothic Neo"/>
                          <a:ea typeface="Apple SD Gothic Neo"/>
                        </a:rPr>
                        <a:t>0.718</a:t>
                      </a:r>
                    </a:p>
                  </a:txBody>
                  <a:tcPr marL="36576" marR="27432" marT="10972" marB="10972">
                    <a:solidFill>
                      <a:srgbClr val="E8F3E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62626"/>
                          </a:solidFill>
                          <a:latin typeface="Apple SD Gothic Neo"/>
                          <a:ea typeface="Apple SD Gothic Neo"/>
                        </a:rPr>
                        <a:t>2</a:t>
                      </a:r>
                    </a:p>
                  </a:txBody>
                  <a:tcPr marL="36576" marR="27432" marT="10972" marB="109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62626"/>
                          </a:solidFill>
                          <a:latin typeface="Apple SD Gothic Neo"/>
                          <a:ea typeface="Apple SD Gothic Neo"/>
                        </a:rPr>
                        <a:t>DFM+XGBoost  — 기존 최고</a:t>
                      </a:r>
                    </a:p>
                  </a:txBody>
                  <a:tcPr marL="36576" marR="27432" marT="10972" marB="109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62626"/>
                          </a:solidFill>
                          <a:latin typeface="Apple SD Gothic Neo"/>
                          <a:ea typeface="Apple SD Gothic Neo"/>
                        </a:rPr>
                        <a:t>0.765</a:t>
                      </a:r>
                    </a:p>
                  </a:txBody>
                  <a:tcPr marL="36576" marR="27432" marT="10972" marB="10972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62626"/>
                          </a:solidFill>
                          <a:latin typeface="Apple SD Gothic Neo"/>
                          <a:ea typeface="Apple SD Gothic Neo"/>
                        </a:rPr>
                        <a:t>3</a:t>
                      </a:r>
                    </a:p>
                  </a:txBody>
                  <a:tcPr marL="36576" marR="27432" marT="10972" marB="109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62626"/>
                          </a:solidFill>
                          <a:latin typeface="Apple SD Gothic Neo"/>
                          <a:ea typeface="Apple SD Gothic Neo"/>
                        </a:rPr>
                        <a:t>DFM+TabPFN (사전학습 DL)</a:t>
                      </a:r>
                    </a:p>
                  </a:txBody>
                  <a:tcPr marL="36576" marR="27432" marT="10972" marB="109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62626"/>
                          </a:solidFill>
                          <a:latin typeface="Apple SD Gothic Neo"/>
                          <a:ea typeface="Apple SD Gothic Neo"/>
                        </a:rPr>
                        <a:t>0.815</a:t>
                      </a:r>
                    </a:p>
                  </a:txBody>
                  <a:tcPr marL="36576" marR="27432" marT="10972" marB="10972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62626"/>
                          </a:solidFill>
                          <a:latin typeface="Apple SD Gothic Neo"/>
                          <a:ea typeface="Apple SD Gothic Neo"/>
                        </a:rPr>
                        <a:t>4</a:t>
                      </a:r>
                    </a:p>
                  </a:txBody>
                  <a:tcPr marL="36576" marR="27432" marT="10972" marB="109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62626"/>
                          </a:solidFill>
                          <a:latin typeface="Apple SD Gothic Neo"/>
                          <a:ea typeface="Apple SD Gothic Neo"/>
                        </a:rPr>
                        <a:t>DFM+신경망(MLP)</a:t>
                      </a:r>
                    </a:p>
                  </a:txBody>
                  <a:tcPr marL="36576" marR="27432" marT="10972" marB="109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62626"/>
                          </a:solidFill>
                          <a:latin typeface="Apple SD Gothic Neo"/>
                          <a:ea typeface="Apple SD Gothic Neo"/>
                        </a:rPr>
                        <a:t>0.820</a:t>
                      </a:r>
                    </a:p>
                  </a:txBody>
                  <a:tcPr marL="36576" marR="27432" marT="10972" marB="10972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62626"/>
                          </a:solidFill>
                          <a:latin typeface="Apple SD Gothic Neo"/>
                          <a:ea typeface="Apple SD Gothic Neo"/>
                        </a:rPr>
                        <a:t>5</a:t>
                      </a:r>
                    </a:p>
                  </a:txBody>
                  <a:tcPr marL="36576" marR="27432" marT="10972" marB="109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62626"/>
                          </a:solidFill>
                          <a:latin typeface="Apple SD Gothic Neo"/>
                          <a:ea typeface="Apple SD Gothic Neo"/>
                        </a:rPr>
                        <a:t>DFM+TTM (사전학습 DL)</a:t>
                      </a:r>
                    </a:p>
                  </a:txBody>
                  <a:tcPr marL="36576" marR="27432" marT="10972" marB="109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62626"/>
                          </a:solidFill>
                          <a:latin typeface="Apple SD Gothic Neo"/>
                          <a:ea typeface="Apple SD Gothic Neo"/>
                        </a:rPr>
                        <a:t>0.846</a:t>
                      </a:r>
                    </a:p>
                  </a:txBody>
                  <a:tcPr marL="36576" marR="27432" marT="10972" marB="10972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62626"/>
                          </a:solidFill>
                          <a:latin typeface="Apple SD Gothic Neo"/>
                          <a:ea typeface="Apple SD Gothic Neo"/>
                        </a:rPr>
                        <a:t>6</a:t>
                      </a:r>
                    </a:p>
                  </a:txBody>
                  <a:tcPr marL="36576" marR="27432" marT="10972" marB="109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62626"/>
                          </a:solidFill>
                          <a:latin typeface="Apple SD Gothic Neo"/>
                          <a:ea typeface="Apple SD Gothic Neo"/>
                        </a:rPr>
                        <a:t>TTM 단독 — DL 단독 최초 기준선 상회</a:t>
                      </a:r>
                    </a:p>
                  </a:txBody>
                  <a:tcPr marL="36576" marR="27432" marT="10972" marB="109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62626"/>
                          </a:solidFill>
                          <a:latin typeface="Apple SD Gothic Neo"/>
                          <a:ea typeface="Apple SD Gothic Neo"/>
                        </a:rPr>
                        <a:t>0.854</a:t>
                      </a:r>
                    </a:p>
                  </a:txBody>
                  <a:tcPr marL="36576" marR="27432" marT="10972" marB="10972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62626"/>
                          </a:solidFill>
                          <a:latin typeface="Apple SD Gothic Neo"/>
                          <a:ea typeface="Apple SD Gothic Neo"/>
                        </a:rPr>
                        <a:t>7</a:t>
                      </a:r>
                    </a:p>
                  </a:txBody>
                  <a:tcPr marL="36576" marR="27432" marT="10972" marB="109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62626"/>
                          </a:solidFill>
                          <a:latin typeface="Apple SD Gothic Neo"/>
                          <a:ea typeface="Apple SD Gothic Neo"/>
                        </a:rPr>
                        <a:t>DFM 단독 (기준선)</a:t>
                      </a:r>
                    </a:p>
                  </a:txBody>
                  <a:tcPr marL="36576" marR="27432" marT="10972" marB="109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62626"/>
                          </a:solidFill>
                          <a:latin typeface="Apple SD Gothic Neo"/>
                          <a:ea typeface="Apple SD Gothic Neo"/>
                        </a:rPr>
                        <a:t>0.865</a:t>
                      </a:r>
                    </a:p>
                  </a:txBody>
                  <a:tcPr marL="36576" marR="27432" marT="10972" marB="10972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62626"/>
                          </a:solidFill>
                          <a:latin typeface="Apple SD Gothic Neo"/>
                          <a:ea typeface="Apple SD Gothic Neo"/>
                        </a:rPr>
                        <a:t>8</a:t>
                      </a:r>
                    </a:p>
                  </a:txBody>
                  <a:tcPr marL="36576" marR="27432" marT="10972" marB="109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62626"/>
                          </a:solidFill>
                          <a:latin typeface="Apple SD Gothic Neo"/>
                          <a:ea typeface="Apple SD Gothic Neo"/>
                        </a:rPr>
                        <a:t>DFM+D2FM (딥러닝 요인모형)</a:t>
                      </a:r>
                    </a:p>
                  </a:txBody>
                  <a:tcPr marL="36576" marR="27432" marT="10972" marB="109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262626"/>
                          </a:solidFill>
                          <a:latin typeface="Apple SD Gothic Neo"/>
                          <a:ea typeface="Apple SD Gothic Neo"/>
                        </a:rPr>
                        <a:t>0.868</a:t>
                      </a:r>
                    </a:p>
                  </a:txBody>
                  <a:tcPr marL="36576" marR="27432" marT="10972" marB="10972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9A9A9A"/>
                          </a:solidFill>
                          <a:latin typeface="Apple SD Gothic Neo"/>
                          <a:ea typeface="Apple SD Gothic Neo"/>
                        </a:rPr>
                        <a:t>…</a:t>
                      </a:r>
                    </a:p>
                  </a:txBody>
                  <a:tcPr marL="36576" marR="27432" marT="10972" marB="109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9A9A9A"/>
                          </a:solidFill>
                          <a:latin typeface="Apple SD Gothic Neo"/>
                          <a:ea typeface="Apple SD Gothic Neo"/>
                        </a:rPr>
                        <a:t>AttnLSTM·NCDE 등 자체학습 DL (21~24위)</a:t>
                      </a:r>
                    </a:p>
                  </a:txBody>
                  <a:tcPr marL="36576" marR="27432" marT="10972" marB="109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9A9A9A"/>
                          </a:solidFill>
                          <a:latin typeface="Apple SD Gothic Neo"/>
                          <a:ea typeface="Apple SD Gothic Neo"/>
                        </a:rPr>
                        <a:t>1.09~1.28</a:t>
                      </a:r>
                    </a:p>
                  </a:txBody>
                  <a:tcPr marL="36576" marR="27432" marT="10972" marB="10972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9A9A9A"/>
                          </a:solidFill>
                          <a:latin typeface="Apple SD Gothic Neo"/>
                          <a:ea typeface="Apple SD Gothic Neo"/>
                        </a:rPr>
                        <a:t>25</a:t>
                      </a:r>
                    </a:p>
                  </a:txBody>
                  <a:tcPr marL="36576" marR="27432" marT="10972" marB="109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9A9A9A"/>
                          </a:solidFill>
                          <a:latin typeface="Apple SD Gothic Neo"/>
                          <a:ea typeface="Apple SD Gothic Neo"/>
                        </a:rPr>
                        <a:t>Chronos 파운데이션 (zero-shot)</a:t>
                      </a:r>
                    </a:p>
                  </a:txBody>
                  <a:tcPr marL="36576" marR="27432" marT="10972" marB="109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9A9A9A"/>
                          </a:solidFill>
                          <a:latin typeface="Apple SD Gothic Neo"/>
                          <a:ea typeface="Apple SD Gothic Neo"/>
                        </a:rPr>
                        <a:t>1.351</a:t>
                      </a:r>
                    </a:p>
                  </a:txBody>
                  <a:tcPr marL="36576" marR="27432" marT="10972" marB="10972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9A9A9A"/>
                          </a:solidFill>
                          <a:latin typeface="Apple SD Gothic Neo"/>
                          <a:ea typeface="Apple SD Gothic Neo"/>
                        </a:rPr>
                        <a:t>26</a:t>
                      </a:r>
                    </a:p>
                  </a:txBody>
                  <a:tcPr marL="36576" marR="27432" marT="10972" marB="109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9A9A9A"/>
                          </a:solidFill>
                          <a:latin typeface="Apple SD Gothic Neo"/>
                          <a:ea typeface="Apple SD Gothic Neo"/>
                        </a:rPr>
                        <a:t>Moirai 파운데이션 (zero-shot)</a:t>
                      </a:r>
                    </a:p>
                  </a:txBody>
                  <a:tcPr marL="36576" marR="27432" marT="10972" marB="1097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9A9A9A"/>
                          </a:solidFill>
                          <a:latin typeface="Apple SD Gothic Neo"/>
                          <a:ea typeface="Apple SD Gothic Neo"/>
                        </a:rPr>
                        <a:t>1.453</a:t>
                      </a:r>
                    </a:p>
                  </a:txBody>
                  <a:tcPr marL="36576" marR="27432" marT="10972" marB="1097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4315968" y="5715000"/>
            <a:ext cx="3977639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262626"/>
                </a:solidFill>
                <a:latin typeface="Apple SD Gothic Neo"/>
                <a:ea typeface="Apple SD Gothic Neo"/>
              </a:rPr>
              <a:t>· 통계 검정: 제안 v3 vs 기존 최고, DM p=0.088 (10% 수준 유의)</a:t>
            </a:r>
          </a:p>
          <a:p>
            <a:pPr algn="l">
              <a:spcAft>
                <a:spcPts val="200"/>
              </a:spcAft>
            </a:pPr>
            <a:r>
              <a:rPr sz="880" b="0">
                <a:solidFill>
                  <a:srgbClr val="6B6B6B"/>
                </a:solidFill>
                <a:latin typeface="Apple SD Gothic Neo"/>
                <a:ea typeface="Apple SD Gothic Neo"/>
              </a:rPr>
              <a:t>· 하위권 공통점: 소표본 자체학습 DL·무보정(zero-shot) 대형 모델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13648" y="1417320"/>
            <a:ext cx="3072384" cy="31089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8A3E"/>
                </a:solidFill>
                <a:latin typeface="Apple SD Gothic Neo"/>
                <a:ea typeface="Apple SD Gothic Neo"/>
              </a:rPr>
              <a:t>03  </a:t>
            </a:r>
            <a:r>
              <a:rPr sz="1300" b="1">
                <a:solidFill>
                  <a:srgbClr val="243447"/>
                </a:solidFill>
                <a:latin typeface="Apple SD Gothic Neo"/>
                <a:ea typeface="Apple SD Gothic Neo"/>
              </a:rPr>
              <a:t>검증 방식과 시사점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613648" y="1755648"/>
            <a:ext cx="3072384" cy="0"/>
          </a:xfrm>
          <a:prstGeom prst="line">
            <a:avLst/>
          </a:prstGeom>
          <a:ln w="12700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613648" y="1837944"/>
            <a:ext cx="3072384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262626"/>
                </a:solidFill>
                <a:latin typeface="Apple SD Gothic Neo"/>
                <a:ea typeface="Apple SD Gothic Neo"/>
              </a:rPr>
              <a:t>전수 검증 원칙</a:t>
            </a:r>
          </a:p>
          <a:p>
            <a:pPr algn="l">
              <a:spcAft>
                <a:spcPts val="200"/>
              </a:spcAft>
            </a:pPr>
            <a:r>
              <a:rPr sz="930" b="0">
                <a:solidFill>
                  <a:srgbClr val="262626"/>
                </a:solidFill>
                <a:latin typeface="Apple SD Gothic Neo"/>
                <a:ea typeface="Apple SD Gothic Neo"/>
              </a:rPr>
              <a:t>· 12개 아키텍처·26개 구성을 전부 동일 조건</a:t>
            </a:r>
          </a:p>
          <a:p>
            <a:pPr algn="l">
              <a:spcAft>
                <a:spcPts val="200"/>
              </a:spcAft>
            </a:pPr>
            <a:r>
              <a:rPr sz="930" b="0">
                <a:solidFill>
                  <a:srgbClr val="262626"/>
                </a:solidFill>
                <a:latin typeface="Apple SD Gothic Neo"/>
                <a:ea typeface="Apple SD Gothic Neo"/>
              </a:rPr>
              <a:t>  (동일 데이터·기간·walk-forward)에서 비교</a:t>
            </a:r>
          </a:p>
          <a:p>
            <a:pPr algn="l">
              <a:spcAft>
                <a:spcPts val="200"/>
              </a:spcAft>
            </a:pPr>
            <a:r>
              <a:rPr sz="930" b="0">
                <a:solidFill>
                  <a:srgbClr val="262626"/>
                </a:solidFill>
                <a:latin typeface="Apple SD Gothic Neo"/>
                <a:ea typeface="Apple SD Gothic Neo"/>
              </a:rPr>
              <a:t>· 기존 성과(DFM 0.865, DFM+XGB 0.765)를</a:t>
            </a:r>
          </a:p>
          <a:p>
            <a:pPr algn="l">
              <a:spcAft>
                <a:spcPts val="200"/>
              </a:spcAft>
            </a:pPr>
            <a:r>
              <a:rPr sz="930" b="0">
                <a:solidFill>
                  <a:srgbClr val="262626"/>
                </a:solidFill>
                <a:latin typeface="Apple SD Gothic Neo"/>
                <a:ea typeface="Apple SD Gothic Neo"/>
              </a:rPr>
              <a:t>  소수점 수준 재현한 뒤에만 개선 논의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262626"/>
                </a:solidFill>
                <a:latin typeface="Apple SD Gothic Neo"/>
                <a:ea typeface="Apple SD Gothic Neo"/>
              </a:rPr>
              <a:t>딥러닝의 자리</a:t>
            </a:r>
          </a:p>
          <a:p>
            <a:pPr algn="l">
              <a:spcAft>
                <a:spcPts val="200"/>
              </a:spcAft>
            </a:pPr>
            <a:r>
              <a:rPr sz="930" b="0">
                <a:solidFill>
                  <a:srgbClr val="262626"/>
                </a:solidFill>
                <a:latin typeface="Apple SD Gothic Neo"/>
                <a:ea typeface="Apple SD Gothic Neo"/>
              </a:rPr>
              <a:t>· 소표본에서 자체학습 DL은 전패 —</a:t>
            </a:r>
          </a:p>
          <a:p>
            <a:pPr algn="l">
              <a:spcAft>
                <a:spcPts val="200"/>
              </a:spcAft>
            </a:pPr>
            <a:r>
              <a:rPr sz="930" b="1">
                <a:solidFill>
                  <a:srgbClr val="262626"/>
                </a:solidFill>
                <a:latin typeface="Apple SD Gothic Neo"/>
                <a:ea typeface="Apple SD Gothic Neo"/>
              </a:rPr>
              <a:t>  "안 해본 게 아니라 다 검증한 결론"</a:t>
            </a:r>
          </a:p>
          <a:p>
            <a:pPr algn="l">
              <a:spcAft>
                <a:spcPts val="200"/>
              </a:spcAft>
            </a:pPr>
            <a:r>
              <a:rPr sz="930" b="0">
                <a:solidFill>
                  <a:srgbClr val="262626"/>
                </a:solidFill>
                <a:latin typeface="Apple SD Gothic Neo"/>
                <a:ea typeface="Apple SD Gothic Neo"/>
              </a:rPr>
              <a:t>· 생존 계열은 사전학습+소량적응(TTM·TabPFN)</a:t>
            </a:r>
          </a:p>
          <a:p>
            <a:pPr algn="l">
              <a:spcAft>
                <a:spcPts val="200"/>
              </a:spcAft>
            </a:pPr>
            <a:r>
              <a:rPr sz="930" b="0">
                <a:solidFill>
                  <a:srgbClr val="262626"/>
                </a:solidFill>
                <a:latin typeface="Apple SD Gothic Neo"/>
                <a:ea typeface="Apple SD Gothic Neo"/>
              </a:rPr>
              <a:t>  뿐이며, 가치는 반등 국면 보완에 집중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13648" y="4069080"/>
            <a:ext cx="3072384" cy="17373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262626"/>
                </a:solidFill>
                <a:latin typeface="Apple SD Gothic Neo"/>
                <a:ea typeface="Apple SD Gothic Neo"/>
              </a:rPr>
              <a:t>향후 계획</a:t>
            </a:r>
          </a:p>
          <a:p>
            <a:pPr algn="l">
              <a:spcAft>
                <a:spcPts val="200"/>
              </a:spcAft>
            </a:pPr>
            <a:r>
              <a:rPr sz="930" b="0">
                <a:solidFill>
                  <a:srgbClr val="262626"/>
                </a:solidFill>
                <a:latin typeface="Apple SD Gothic Neo"/>
                <a:ea typeface="Apple SD Gothic Neo"/>
              </a:rPr>
              <a:t>1) v3 강건성 스윕·유의성 보강 후 정식 제안</a:t>
            </a:r>
          </a:p>
          <a:p>
            <a:pPr algn="l">
              <a:spcAft>
                <a:spcPts val="200"/>
              </a:spcAft>
            </a:pPr>
            <a:r>
              <a:rPr sz="930" b="0">
                <a:solidFill>
                  <a:srgbClr val="262626"/>
                </a:solidFill>
                <a:latin typeface="Apple SD Gothic Neo"/>
                <a:ea typeface="Apple SD Gothic Neo"/>
              </a:rPr>
              <a:t>2) 충격탐지 고도화 (월별지표 조기감지,</a:t>
            </a:r>
          </a:p>
          <a:p>
            <a:pPr algn="l">
              <a:spcAft>
                <a:spcPts val="200"/>
              </a:spcAft>
            </a:pPr>
            <a:r>
              <a:rPr sz="930" b="0">
                <a:solidFill>
                  <a:srgbClr val="262626"/>
                </a:solidFill>
                <a:latin typeface="Apple SD Gothic Neo"/>
                <a:ea typeface="Apple SD Gothic Neo"/>
              </a:rPr>
              <a:t>    MS-DFM·딥러닝 신호 통합)</a:t>
            </a:r>
          </a:p>
          <a:p>
            <a:pPr algn="l">
              <a:spcAft>
                <a:spcPts val="200"/>
              </a:spcAft>
            </a:pPr>
            <a:r>
              <a:rPr sz="930" b="0">
                <a:solidFill>
                  <a:srgbClr val="262626"/>
                </a:solidFill>
                <a:latin typeface="Apple SD Gothic Neo"/>
                <a:ea typeface="Apple SD Gothic Neo"/>
              </a:rPr>
              <a:t>3) 설명가능성(XAI) 레이어 — 전망 근거를</a:t>
            </a:r>
          </a:p>
          <a:p>
            <a:pPr algn="l">
              <a:spcAft>
                <a:spcPts val="200"/>
              </a:spcAft>
            </a:pPr>
            <a:r>
              <a:rPr sz="930" b="0">
                <a:solidFill>
                  <a:srgbClr val="262626"/>
                </a:solidFill>
                <a:latin typeface="Apple SD Gothic Neo"/>
                <a:ea typeface="Apple SD Gothic Neo"/>
              </a:rPr>
              <a:t>    변수·경로 단위로 자동 서술</a:t>
            </a:r>
          </a:p>
          <a:p>
            <a:pPr algn="l">
              <a:spcAft>
                <a:spcPts val="200"/>
              </a:spcAft>
            </a:pPr>
            <a:r>
              <a:rPr sz="930" b="0">
                <a:solidFill>
                  <a:srgbClr val="262626"/>
                </a:solidFill>
                <a:latin typeface="Apple SD Gothic Neo"/>
                <a:ea typeface="Apple SD Gothic Neo"/>
              </a:rPr>
              <a:t>4) 뉴스 텍스트 기반 국면 판정 벤치마크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6053328"/>
            <a:ext cx="11183112" cy="512064"/>
          </a:xfrm>
          <a:prstGeom prst="rect">
            <a:avLst/>
          </a:prstGeom>
          <a:solidFill>
            <a:srgbClr val="F3F4F5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6126480"/>
            <a:ext cx="10881360" cy="38404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243447"/>
                </a:solidFill>
                <a:latin typeface="Apple SD Gothic Neo"/>
                <a:ea typeface="Apple SD Gothic Neo"/>
              </a:rPr>
              <a:t>수행 방식   </a:t>
            </a:r>
            <a:r>
              <a:rPr sz="950" b="0">
                <a:solidFill>
                  <a:srgbClr val="262626"/>
                </a:solidFill>
                <a:latin typeface="Apple SD Gothic Neo"/>
                <a:ea typeface="Apple SD Gothic Neo"/>
              </a:rPr>
              <a:t>귀행 검증체계 재현 → 동일 조건 확장 평가 → 개선 후보의 한계까지 투명 공유 — 확정 결과가 아닌 검증 단계의 후보는 반드시 구분해 보고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