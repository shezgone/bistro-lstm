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2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6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9601200" cy="3908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dirty="0">
                <a:solidFill>
                  <a:srgbClr val="243447"/>
                </a:solidFill>
                <a:latin typeface="NanumSquare Neo Bold" pitchFamily="2" charset="-127"/>
                <a:ea typeface="NanumSquare Neo Bold" pitchFamily="2" charset="-127"/>
              </a:rPr>
              <a:t>GDP Nowcasting </a:t>
            </a:r>
            <a:r>
              <a:rPr sz="2300" b="1" dirty="0" err="1">
                <a:solidFill>
                  <a:srgbClr val="243447"/>
                </a:solidFill>
                <a:latin typeface="NanumSquare Neo Bold" pitchFamily="2" charset="-127"/>
                <a:ea typeface="NanumSquare Neo Bold" pitchFamily="2" charset="-127"/>
              </a:rPr>
              <a:t>고도화</a:t>
            </a:r>
            <a:r>
              <a:rPr sz="2300" b="1" dirty="0">
                <a:solidFill>
                  <a:srgbClr val="243447"/>
                </a:solidFill>
                <a:latin typeface="NanumSquare Neo Bold" pitchFamily="2" charset="-127"/>
                <a:ea typeface="NanumSquare Neo Bold" pitchFamily="2" charset="-127"/>
              </a:rPr>
              <a:t> — </a:t>
            </a:r>
            <a:r>
              <a:rPr sz="2300" b="1" dirty="0" err="1">
                <a:solidFill>
                  <a:srgbClr val="243447"/>
                </a:solidFill>
                <a:latin typeface="NanumSquare Neo Bold" pitchFamily="2" charset="-127"/>
                <a:ea typeface="NanumSquare Neo Bold" pitchFamily="2" charset="-127"/>
              </a:rPr>
              <a:t>종합</a:t>
            </a:r>
            <a:r>
              <a:rPr sz="2300" b="1" dirty="0">
                <a:solidFill>
                  <a:srgbClr val="243447"/>
                </a:solidFill>
                <a:latin typeface="NanumSquare Neo Bold" pitchFamily="2" charset="-127"/>
                <a:ea typeface="NanumSquare Neo Bold" pitchFamily="2" charset="-127"/>
              </a:rPr>
              <a:t> </a:t>
            </a:r>
            <a:r>
              <a:rPr sz="2300" b="1" dirty="0" err="1">
                <a:solidFill>
                  <a:srgbClr val="243447"/>
                </a:solidFill>
                <a:latin typeface="NanumSquare Neo Bold" pitchFamily="2" charset="-127"/>
                <a:ea typeface="NanumSquare Neo Bold" pitchFamily="2" charset="-127"/>
              </a:rPr>
              <a:t>결과</a:t>
            </a:r>
            <a:r>
              <a:rPr sz="2300" b="1" dirty="0">
                <a:solidFill>
                  <a:srgbClr val="243447"/>
                </a:solidFill>
                <a:latin typeface="NanumSquare Neo Bold" pitchFamily="2" charset="-127"/>
                <a:ea typeface="NanumSquare Neo Bold" pitchFamily="2" charset="-127"/>
              </a:rPr>
              <a:t> </a:t>
            </a:r>
            <a:r>
              <a:rPr sz="2300" b="1" dirty="0" err="1">
                <a:solidFill>
                  <a:srgbClr val="243447"/>
                </a:solidFill>
                <a:latin typeface="NanumSquare Neo Bold" pitchFamily="2" charset="-127"/>
                <a:ea typeface="NanumSquare Neo Bold" pitchFamily="2" charset="-127"/>
              </a:rPr>
              <a:t>보고</a:t>
            </a:r>
            <a:endParaRPr sz="2300" b="1" dirty="0">
              <a:solidFill>
                <a:srgbClr val="243447"/>
              </a:solidFill>
              <a:latin typeface="NanumSquare Neo Bold" pitchFamily="2" charset="-127"/>
              <a:ea typeface="NanumSquare Neo Bold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92640" y="329184"/>
            <a:ext cx="2011680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AX Lab | 2026. 07.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04672"/>
            <a:ext cx="11183112" cy="0"/>
          </a:xfrm>
          <a:prstGeom prst="line">
            <a:avLst/>
          </a:prstGeom>
          <a:ln w="2032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877824"/>
            <a:ext cx="111556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기존 전망체계 재현 → 국면전환 게이트 → 딥러닝 결합(v3)으로 </a:t>
            </a:r>
            <a:r>
              <a:rPr sz="1200" b="1">
                <a:solidFill>
                  <a:srgbClr val="008A3E"/>
                </a:solidFill>
                <a:latin typeface="NanumSquare Neo Regular" pitchFamily="2" charset="-127"/>
                <a:ea typeface="NanumSquare Neo Regular" pitchFamily="2" charset="-127"/>
              </a:rPr>
              <a:t>기존 최고 대비 오차 −6.2% (0.765→0.718)</a:t>
            </a:r>
            <a:r>
              <a:rPr sz="105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   모든 결과는 실시간 빈티지·동일 검증체계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3520440" cy="2369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08A3E"/>
                </a:solidFill>
                <a:latin typeface="NanumSquare Neo Regular" pitchFamily="2" charset="-127"/>
                <a:ea typeface="NanumSquare Neo Regular" pitchFamily="2" charset="-127"/>
              </a:rPr>
              <a:t>01  </a:t>
            </a:r>
            <a:r>
              <a:rPr sz="1300" b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제안 구조 — 국면전환 게이트 v3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755648"/>
            <a:ext cx="3520440" cy="0"/>
          </a:xfrm>
          <a:prstGeom prst="line">
            <a:avLst/>
          </a:prstGeom>
          <a:ln w="1270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837944"/>
            <a:ext cx="3520440" cy="35496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매 분기, 이미 발표된 실적·심리지표만으로 국면을 판정한 뒤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국면별 최적 조합으로 자동 전환 (미래정보 미사용)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532888"/>
            <a:ext cx="868680" cy="566928"/>
          </a:xfrm>
          <a:prstGeom prst="rect">
            <a:avLst/>
          </a:prstGeom>
          <a:solidFill>
            <a:srgbClr val="F3F4F5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9496" y="2711466"/>
            <a:ext cx="822960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dirty="0" err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충격기</a:t>
            </a:r>
            <a:endParaRPr sz="1050" b="1" dirty="0">
              <a:solidFill>
                <a:srgbClr val="243447"/>
              </a:solidFill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35608" y="2560320"/>
            <a:ext cx="2587752" cy="35189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8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직전 4분기 변동성 &gt; 평소 중앙값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DFM + XGBoost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191256"/>
            <a:ext cx="868680" cy="566928"/>
          </a:xfrm>
          <a:prstGeom prst="rect">
            <a:avLst/>
          </a:prstGeom>
          <a:solidFill>
            <a:srgbClr val="F3F4F5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9496" y="3369834"/>
            <a:ext cx="822960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평온기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8" y="3218688"/>
            <a:ext cx="2587752" cy="35189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8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그 외 안정 구간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DFM + RF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849624"/>
            <a:ext cx="868680" cy="566928"/>
          </a:xfrm>
          <a:prstGeom prst="rect">
            <a:avLst/>
          </a:prstGeom>
          <a:solidFill>
            <a:srgbClr val="E8F3EC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9496" y="4028202"/>
            <a:ext cx="822960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8A3E"/>
                </a:solidFill>
                <a:latin typeface="NanumSquare Neo Regular" pitchFamily="2" charset="-127"/>
                <a:ea typeface="NanumSquare Neo Regular" pitchFamily="2" charset="-127"/>
              </a:rPr>
              <a:t>반등기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8" y="3877056"/>
            <a:ext cx="2587752" cy="35189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8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직전 분기 역성장 + 심리 저점 통과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DFM + 딥러닝(TTM)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553712"/>
            <a:ext cx="3520440" cy="119879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반등기가 핵심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역성장 직후 회복 국면은 과거 표본에 드물어 통계·트리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 모형의 보정이 오히려 오차를 키움 (해당 구간 0.815)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사전학습 딥러닝(TTM)을 결합하면 0.607로 개선 —</a:t>
            </a:r>
          </a:p>
          <a:p>
            <a:pPr algn="l">
              <a:spcAft>
                <a:spcPts val="200"/>
              </a:spcAft>
            </a:pPr>
            <a:r>
              <a:rPr sz="930" b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 딥러닝이 정확도에 기여하는 첫 구성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국면 판정을 연속 확신도(soft)로 바꿔도 동일 성능 유지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  → 판정 방식에 대한 강건성 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1417320"/>
            <a:ext cx="3977639" cy="2369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08A3E"/>
                </a:solidFill>
                <a:latin typeface="NanumSquare Neo Regular" pitchFamily="2" charset="-127"/>
                <a:ea typeface="NanumSquare Neo Regular" pitchFamily="2" charset="-127"/>
              </a:rPr>
              <a:t>02  </a:t>
            </a:r>
            <a:r>
              <a:rPr sz="1300" b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종합 성능 — 26개 구성 전수 비교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315968" y="1755648"/>
            <a:ext cx="3977640" cy="0"/>
          </a:xfrm>
          <a:prstGeom prst="line">
            <a:avLst/>
          </a:prstGeom>
          <a:ln w="1270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15968" y="1837944"/>
            <a:ext cx="3977639" cy="17543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속보 GDP 예측오차(RMSE), 2018~2025 32개 분기 실시간 검증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987384"/>
              </p:ext>
            </p:extLst>
          </p:nvPr>
        </p:nvGraphicFramePr>
        <p:xfrm>
          <a:off x="4315968" y="2167128"/>
          <a:ext cx="397764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880" b="1" dirty="0" err="1">
                          <a:solidFill>
                            <a:srgbClr val="FFFFFF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순위</a:t>
                      </a:r>
                      <a:endParaRPr sz="880" b="1" dirty="0">
                        <a:solidFill>
                          <a:srgbClr val="FFFFFF"/>
                        </a:solidFill>
                        <a:latin typeface="NanumSquare Neo Regular" pitchFamily="2" charset="-127"/>
                        <a:ea typeface="NanumSquare Neo Regular" pitchFamily="2" charset="-127"/>
                      </a:endParaRPr>
                    </a:p>
                  </a:txBody>
                  <a:tcPr marL="36576" marR="27432" marT="10972" marB="10972" anchor="ctr"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1" dirty="0" err="1">
                          <a:solidFill>
                            <a:srgbClr val="FFFFFF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구성</a:t>
                      </a:r>
                      <a:endParaRPr sz="880" b="1" dirty="0">
                        <a:solidFill>
                          <a:srgbClr val="FFFFFF"/>
                        </a:solidFill>
                        <a:latin typeface="NanumSquare Neo Regular" pitchFamily="2" charset="-127"/>
                        <a:ea typeface="NanumSquare Neo Regular" pitchFamily="2" charset="-127"/>
                      </a:endParaRPr>
                    </a:p>
                  </a:txBody>
                  <a:tcPr marL="36576" marR="27432" marT="10972" marB="10972" anchor="ctr">
                    <a:solidFill>
                      <a:srgbClr val="2434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RMSE</a:t>
                      </a:r>
                    </a:p>
                  </a:txBody>
                  <a:tcPr marL="36576" marR="27432" marT="10972" marB="10972" anchor="ctr">
                    <a:solidFill>
                      <a:srgbClr val="243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1</a:t>
                      </a:r>
                    </a:p>
                  </a:txBody>
                  <a:tcPr marL="36576" marR="27432" marT="10972" marB="10972" anchor="ctr"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1" dirty="0" err="1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제안</a:t>
                      </a:r>
                      <a:r>
                        <a:rPr sz="880" b="1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: </a:t>
                      </a:r>
                      <a:r>
                        <a:rPr sz="880" b="1" dirty="0" err="1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게이트</a:t>
                      </a:r>
                      <a:r>
                        <a:rPr sz="880" b="1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 v3 (</a:t>
                      </a:r>
                      <a:r>
                        <a:rPr sz="880" b="1" dirty="0" err="1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반등기</a:t>
                      </a:r>
                      <a:r>
                        <a:rPr sz="880" b="1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 </a:t>
                      </a:r>
                      <a:r>
                        <a:rPr sz="880" b="1" dirty="0" err="1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딥러닝</a:t>
                      </a:r>
                      <a:r>
                        <a:rPr sz="880" b="1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 </a:t>
                      </a:r>
                      <a:r>
                        <a:rPr sz="880" b="1" dirty="0" err="1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결합</a:t>
                      </a:r>
                      <a:r>
                        <a:rPr sz="880" b="1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)</a:t>
                      </a:r>
                    </a:p>
                  </a:txBody>
                  <a:tcPr marL="36576" marR="27432" marT="10972" marB="10972" anchor="ctr"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0.718</a:t>
                      </a:r>
                    </a:p>
                  </a:txBody>
                  <a:tcPr marL="36576" marR="27432" marT="10972" marB="10972" anchor="ctr">
                    <a:solidFill>
                      <a:srgbClr val="E8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2</a:t>
                      </a:r>
                    </a:p>
                  </a:txBody>
                  <a:tcPr marL="36576" marR="27432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 dirty="0" err="1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DFM+XGBoost</a:t>
                      </a:r>
                      <a:r>
                        <a:rPr sz="880" b="0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  — </a:t>
                      </a:r>
                      <a:r>
                        <a:rPr sz="880" b="0" dirty="0" err="1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기존</a:t>
                      </a:r>
                      <a:r>
                        <a:rPr sz="880" b="0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 </a:t>
                      </a:r>
                      <a:r>
                        <a:rPr sz="880" b="0" dirty="0" err="1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최고</a:t>
                      </a:r>
                      <a:endParaRPr sz="880" b="0" dirty="0">
                        <a:solidFill>
                          <a:srgbClr val="262626"/>
                        </a:solidFill>
                        <a:latin typeface="NanumSquare Neo Regular" pitchFamily="2" charset="-127"/>
                        <a:ea typeface="NanumSquare Neo Regular" pitchFamily="2" charset="-127"/>
                      </a:endParaRPr>
                    </a:p>
                  </a:txBody>
                  <a:tcPr marL="36576" marR="27432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0.765</a:t>
                      </a:r>
                    </a:p>
                  </a:txBody>
                  <a:tcPr marL="36576" marR="27432" marT="10972" marB="109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3</a:t>
                      </a:r>
                    </a:p>
                  </a:txBody>
                  <a:tcPr marL="36576" marR="27432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 dirty="0" err="1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DFM+TabPFN</a:t>
                      </a:r>
                      <a:r>
                        <a:rPr sz="880" b="0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 (</a:t>
                      </a:r>
                      <a:r>
                        <a:rPr sz="880" b="0" dirty="0" err="1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사전학습</a:t>
                      </a:r>
                      <a:r>
                        <a:rPr sz="880" b="0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 DL)</a:t>
                      </a:r>
                    </a:p>
                  </a:txBody>
                  <a:tcPr marL="36576" marR="27432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0.815</a:t>
                      </a:r>
                    </a:p>
                  </a:txBody>
                  <a:tcPr marL="36576" marR="27432" marT="10972" marB="109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880" b="0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4</a:t>
                      </a:r>
                    </a:p>
                  </a:txBody>
                  <a:tcPr marL="36576" marR="27432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 dirty="0" err="1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DFM+신경망</a:t>
                      </a:r>
                      <a:r>
                        <a:rPr sz="880" b="0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(MLP)</a:t>
                      </a:r>
                    </a:p>
                  </a:txBody>
                  <a:tcPr marL="36576" marR="27432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0.820</a:t>
                      </a:r>
                    </a:p>
                  </a:txBody>
                  <a:tcPr marL="36576" marR="27432" marT="10972" marB="109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5</a:t>
                      </a:r>
                    </a:p>
                  </a:txBody>
                  <a:tcPr marL="36576" marR="27432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DFM+TTM (</a:t>
                      </a:r>
                      <a:r>
                        <a:rPr sz="880" b="0" dirty="0" err="1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사전학습</a:t>
                      </a:r>
                      <a:r>
                        <a:rPr sz="880" b="0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 DL)</a:t>
                      </a:r>
                    </a:p>
                  </a:txBody>
                  <a:tcPr marL="36576" marR="27432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0.846</a:t>
                      </a:r>
                    </a:p>
                  </a:txBody>
                  <a:tcPr marL="36576" marR="27432" marT="10972" marB="109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6</a:t>
                      </a:r>
                    </a:p>
                  </a:txBody>
                  <a:tcPr marL="36576" marR="27432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TTM </a:t>
                      </a:r>
                      <a:r>
                        <a:rPr sz="880" b="0" dirty="0" err="1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단독</a:t>
                      </a:r>
                      <a:r>
                        <a:rPr sz="880" b="0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 — DL </a:t>
                      </a:r>
                      <a:r>
                        <a:rPr sz="880" b="0" dirty="0" err="1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단독</a:t>
                      </a:r>
                      <a:r>
                        <a:rPr sz="880" b="0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 </a:t>
                      </a:r>
                      <a:r>
                        <a:rPr sz="880" b="0" dirty="0" err="1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최초</a:t>
                      </a:r>
                      <a:r>
                        <a:rPr sz="880" b="0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 </a:t>
                      </a:r>
                      <a:r>
                        <a:rPr sz="880" b="0" dirty="0" err="1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기준선</a:t>
                      </a:r>
                      <a:r>
                        <a:rPr sz="880" b="0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 </a:t>
                      </a:r>
                      <a:r>
                        <a:rPr sz="880" b="0" dirty="0" err="1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상회</a:t>
                      </a:r>
                      <a:endParaRPr sz="880" b="0" dirty="0">
                        <a:solidFill>
                          <a:srgbClr val="262626"/>
                        </a:solidFill>
                        <a:latin typeface="NanumSquare Neo Regular" pitchFamily="2" charset="-127"/>
                        <a:ea typeface="NanumSquare Neo Regular" pitchFamily="2" charset="-127"/>
                      </a:endParaRPr>
                    </a:p>
                  </a:txBody>
                  <a:tcPr marL="36576" marR="27432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0.854</a:t>
                      </a:r>
                    </a:p>
                  </a:txBody>
                  <a:tcPr marL="36576" marR="27432" marT="10972" marB="109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7</a:t>
                      </a:r>
                    </a:p>
                  </a:txBody>
                  <a:tcPr marL="36576" marR="27432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DFM </a:t>
                      </a:r>
                      <a:r>
                        <a:rPr sz="880" b="0" dirty="0" err="1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단독</a:t>
                      </a:r>
                      <a:r>
                        <a:rPr sz="880" b="0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 (</a:t>
                      </a:r>
                      <a:r>
                        <a:rPr sz="880" b="0" dirty="0" err="1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기준선</a:t>
                      </a:r>
                      <a:r>
                        <a:rPr sz="880" b="0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)</a:t>
                      </a:r>
                    </a:p>
                  </a:txBody>
                  <a:tcPr marL="36576" marR="27432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0.865</a:t>
                      </a:r>
                    </a:p>
                  </a:txBody>
                  <a:tcPr marL="36576" marR="27432" marT="10972" marB="109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8</a:t>
                      </a:r>
                    </a:p>
                  </a:txBody>
                  <a:tcPr marL="36576" marR="27432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DFM+D2FM (</a:t>
                      </a:r>
                      <a:r>
                        <a:rPr sz="880" b="0" dirty="0" err="1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딥러닝</a:t>
                      </a:r>
                      <a:r>
                        <a:rPr sz="880" b="0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 </a:t>
                      </a:r>
                      <a:r>
                        <a:rPr sz="880" b="0" dirty="0" err="1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요인모형</a:t>
                      </a:r>
                      <a:r>
                        <a:rPr sz="880" b="0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)</a:t>
                      </a:r>
                    </a:p>
                  </a:txBody>
                  <a:tcPr marL="36576" marR="27432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 dirty="0">
                          <a:solidFill>
                            <a:srgbClr val="262626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0.868</a:t>
                      </a:r>
                    </a:p>
                  </a:txBody>
                  <a:tcPr marL="36576" marR="27432" marT="10972" marB="109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9A9A9A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…</a:t>
                      </a:r>
                    </a:p>
                  </a:txBody>
                  <a:tcPr marL="36576" marR="27432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 dirty="0" err="1">
                          <a:solidFill>
                            <a:srgbClr val="9A9A9A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AttnLSTM·NCDE</a:t>
                      </a:r>
                      <a:r>
                        <a:rPr sz="880" b="0" dirty="0">
                          <a:solidFill>
                            <a:srgbClr val="9A9A9A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 </a:t>
                      </a:r>
                      <a:r>
                        <a:rPr sz="880" b="0" dirty="0" err="1">
                          <a:solidFill>
                            <a:srgbClr val="9A9A9A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등</a:t>
                      </a:r>
                      <a:r>
                        <a:rPr sz="880" b="0" dirty="0">
                          <a:solidFill>
                            <a:srgbClr val="9A9A9A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 </a:t>
                      </a:r>
                      <a:r>
                        <a:rPr sz="880" b="0" dirty="0" err="1">
                          <a:solidFill>
                            <a:srgbClr val="9A9A9A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자체학습</a:t>
                      </a:r>
                      <a:r>
                        <a:rPr sz="880" b="0" dirty="0">
                          <a:solidFill>
                            <a:srgbClr val="9A9A9A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 DL (21~24위)</a:t>
                      </a:r>
                    </a:p>
                  </a:txBody>
                  <a:tcPr marL="36576" marR="27432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 dirty="0">
                          <a:solidFill>
                            <a:srgbClr val="9A9A9A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1.09~1.28</a:t>
                      </a:r>
                    </a:p>
                  </a:txBody>
                  <a:tcPr marL="36576" marR="27432" marT="10972" marB="109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9A9A9A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25</a:t>
                      </a:r>
                    </a:p>
                  </a:txBody>
                  <a:tcPr marL="36576" marR="27432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 dirty="0">
                          <a:solidFill>
                            <a:srgbClr val="9A9A9A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Chronos </a:t>
                      </a:r>
                      <a:r>
                        <a:rPr sz="880" b="0" dirty="0" err="1">
                          <a:solidFill>
                            <a:srgbClr val="9A9A9A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파운데이션</a:t>
                      </a:r>
                      <a:r>
                        <a:rPr sz="880" b="0" dirty="0">
                          <a:solidFill>
                            <a:srgbClr val="9A9A9A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 (zero-shot)</a:t>
                      </a:r>
                    </a:p>
                  </a:txBody>
                  <a:tcPr marL="36576" marR="27432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 dirty="0">
                          <a:solidFill>
                            <a:srgbClr val="9A9A9A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1.351</a:t>
                      </a:r>
                    </a:p>
                  </a:txBody>
                  <a:tcPr marL="36576" marR="27432" marT="10972" marB="109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9A9A9A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26</a:t>
                      </a:r>
                    </a:p>
                  </a:txBody>
                  <a:tcPr marL="36576" marR="27432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 dirty="0">
                          <a:solidFill>
                            <a:srgbClr val="9A9A9A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Moirai </a:t>
                      </a:r>
                      <a:r>
                        <a:rPr sz="880" b="0" dirty="0" err="1">
                          <a:solidFill>
                            <a:srgbClr val="9A9A9A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파운데이션</a:t>
                      </a:r>
                      <a:r>
                        <a:rPr sz="880" b="0" dirty="0">
                          <a:solidFill>
                            <a:srgbClr val="9A9A9A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 (zero-shot)</a:t>
                      </a:r>
                    </a:p>
                  </a:txBody>
                  <a:tcPr marL="36576" marR="27432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 dirty="0">
                          <a:solidFill>
                            <a:srgbClr val="9A9A9A"/>
                          </a:solidFill>
                          <a:latin typeface="NanumSquare Neo Regular" pitchFamily="2" charset="-127"/>
                          <a:ea typeface="NanumSquare Neo Regular" pitchFamily="2" charset="-127"/>
                        </a:rPr>
                        <a:t>1.453</a:t>
                      </a:r>
                    </a:p>
                  </a:txBody>
                  <a:tcPr marL="36576" marR="27432" marT="10972" marB="109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4315968" y="5715000"/>
            <a:ext cx="3977639" cy="33650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통계 검정: 제안 v3 vs 기존 최고, DM p=0.088 (10% 수준 유의)</a:t>
            </a:r>
          </a:p>
          <a:p>
            <a:pPr algn="l">
              <a:spcAft>
                <a:spcPts val="200"/>
              </a:spcAft>
            </a:pPr>
            <a:r>
              <a:rPr sz="880" b="0">
                <a:solidFill>
                  <a:srgbClr val="6B6B6B"/>
                </a:solidFill>
                <a:latin typeface="NanumSquare Neo Regular" pitchFamily="2" charset="-127"/>
                <a:ea typeface="NanumSquare Neo Regular" pitchFamily="2" charset="-127"/>
              </a:rPr>
              <a:t>· 하위권 공통점: 소표본 자체학습 DL·무보정(zero-shot) 대형 모델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3648" y="1417320"/>
            <a:ext cx="3072384" cy="23698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08A3E"/>
                </a:solidFill>
                <a:latin typeface="NanumSquare Neo Regular" pitchFamily="2" charset="-127"/>
                <a:ea typeface="NanumSquare Neo Regular" pitchFamily="2" charset="-127"/>
              </a:rPr>
              <a:t>03  </a:t>
            </a:r>
            <a:r>
              <a:rPr sz="1300" b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검증 방식과 시사점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613648" y="1755648"/>
            <a:ext cx="3072384" cy="0"/>
          </a:xfrm>
          <a:prstGeom prst="line">
            <a:avLst/>
          </a:prstGeom>
          <a:ln w="1270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613648" y="1837944"/>
            <a:ext cx="3072384" cy="172047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전수 검증 원칙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12개 아키텍처·26개 구성을 전부 동일 조건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 (동일 데이터·기간·walk-forward)에서 비교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기존 성과(DFM 0.865, DFM+XGB 0.765)를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 소수점 수준 재현한 뒤에만 개선 논의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딥러닝의 자리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소표본에서 자체학습 DL은 전패 —</a:t>
            </a:r>
          </a:p>
          <a:p>
            <a:pPr algn="l">
              <a:spcAft>
                <a:spcPts val="200"/>
              </a:spcAft>
            </a:pPr>
            <a:r>
              <a:rPr sz="930" b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 "안 해본 게 아니라 다 검증한 결론"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· 생존 계열은 사전학습+소량적응(TTM·TabPFN)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 뿐이며, 가치는 반등 국면 보완에 집중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13648" y="4069080"/>
            <a:ext cx="3072384" cy="120340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향후 계획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1) v3 강건성 스윕·유의성 보강 후 정식 제안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2) 충격탐지 고도화 (월별지표 조기감지,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   MS-DFM·딥러닝 신호 통합)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3) 설명가능성(XAI) 레이어 — 전망 근거를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   변수·경로 단위로 자동 서술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4) 뉴스 텍스트 기반 국면 판정 벤치마크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118982"/>
            <a:ext cx="11183112" cy="446409"/>
          </a:xfrm>
          <a:prstGeom prst="rect">
            <a:avLst/>
          </a:prstGeom>
          <a:solidFill>
            <a:srgbClr val="F3F4F5"/>
          </a:solidFill>
          <a:ln w="9525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anumSquare Neo Regular" pitchFamily="2" charset="-127"/>
              <a:ea typeface="NanumSquare Neo Regular" pitchFamily="2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5800" y="6255367"/>
            <a:ext cx="10881360" cy="19082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dirty="0" err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수행</a:t>
            </a:r>
            <a:r>
              <a:rPr sz="1000" b="1" dirty="0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1000" b="1" dirty="0" err="1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방식</a:t>
            </a:r>
            <a:r>
              <a:rPr sz="1000" b="1" dirty="0">
                <a:solidFill>
                  <a:srgbClr val="243447"/>
                </a:solidFill>
                <a:latin typeface="NanumSquare Neo Regular" pitchFamily="2" charset="-127"/>
                <a:ea typeface="NanumSquare Neo Regular" pitchFamily="2" charset="-127"/>
              </a:rPr>
              <a:t>  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귀행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검증체계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재현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→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동일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조건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확장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평가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→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개선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후보의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한계까지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투명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공유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—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확정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결과가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아닌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검증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단계의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후보는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반드시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구분해</a:t>
            </a:r>
            <a:r>
              <a:rPr sz="950" b="0" dirty="0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 </a:t>
            </a:r>
            <a:r>
              <a:rPr sz="950" b="0" dirty="0" err="1">
                <a:solidFill>
                  <a:srgbClr val="262626"/>
                </a:solidFill>
                <a:latin typeface="NanumSquare Neo Regular" pitchFamily="2" charset="-127"/>
                <a:ea typeface="NanumSquare Neo Regular" pitchFamily="2" charset="-127"/>
              </a:rPr>
              <a:t>보고</a:t>
            </a:r>
            <a:endParaRPr sz="950" b="0" dirty="0">
              <a:solidFill>
                <a:srgbClr val="262626"/>
              </a:solidFill>
              <a:latin typeface="NanumSquare Neo Regular" pitchFamily="2" charset="-127"/>
              <a:ea typeface="NanumSquare Neo Regular" pitchFamily="2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1867</TotalTime>
  <Words>490</Words>
  <Application>Microsoft Macintosh PowerPoint</Application>
  <PresentationFormat>와이드스크린</PresentationFormat>
  <Paragraphs>81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NanumSquare Neo Bold</vt:lpstr>
      <vt:lpstr>NanumSquare Neo Regular</vt:lpstr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김용민</cp:lastModifiedBy>
  <cp:revision>4</cp:revision>
  <dcterms:created xsi:type="dcterms:W3CDTF">2013-01-27T09:14:16Z</dcterms:created>
  <dcterms:modified xsi:type="dcterms:W3CDTF">2026-07-14T21:40:07Z</dcterms:modified>
  <cp:category/>
</cp:coreProperties>
</file>