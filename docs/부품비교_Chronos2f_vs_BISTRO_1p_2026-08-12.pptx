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부품 교체 실험  |  네이버클라우드 AX Forward Lab · 2026. 8.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같은 결합 규칙에 부품만 바꾸면 — Chronos-2f는 개선, BISTRO는 악화됩니다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61872"/>
            <a:ext cx="110642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실험 설계: 검증된 주차별 결합에서 </a:t>
            </a: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조기 슬롯의 부품 하나만 교체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하고 나머지는 전부 동일 — 조기(발표 19~14주 전) = (GBM + [부품])÷2, 이후 = XGBoost 단독. 부품 = Chronos-2f 또는 BISTRO(이식판).</a:t>
            </a:r>
          </a:p>
        </p:txBody>
      </p:sp>
      <p:pic>
        <p:nvPicPr>
          <p:cNvPr id="6" name="Picture 5" descr="c2f_vs_bis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83080"/>
            <a:ext cx="6675120" cy="27889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828032"/>
            <a:ext cx="649224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3447"/>
                </a:solidFill>
                <a:latin typeface="Apple SD Gothic Neo"/>
                <a:ea typeface="Apple SD Gothic Neo"/>
              </a:rPr>
              <a:t>원인 ①  증상 — 조기 구간 단독 성능이 갈립니다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5120640"/>
            <a:ext cx="6492239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5212080"/>
            <a:ext cx="649224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6B6B6B"/>
                </a:solidFill>
                <a:latin typeface="Apple SD Gothic Neo"/>
                <a:ea typeface="Apple SD Gothic Neo"/>
              </a:rPr>
              <a:t>조기 구간 단독 RMSE   </a:t>
            </a:r>
            <a:r>
              <a:rPr sz="950" b="0">
                <a:solidFill>
                  <a:srgbClr val="262626"/>
                </a:solidFill>
                <a:latin typeface="Apple SD Gothic Neo"/>
                <a:ea typeface="Apple SD Gothic Neo"/>
              </a:rPr>
              <a:t>GBM 0.997  ·  Chronos-2f 0.999  ·  XGBoost 1.024  ·  </a:t>
            </a:r>
            <a:r>
              <a:rPr sz="950" b="1">
                <a:solidFill>
                  <a:srgbClr val="B0532F"/>
                </a:solidFill>
                <a:latin typeface="Apple SD Gothic Neo"/>
                <a:ea typeface="Apple SD Gothic Neo"/>
              </a:rPr>
              <a:t>BISTRO 1.277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262626"/>
                </a:solidFill>
                <a:latin typeface="Apple SD Gothic Neo"/>
                <a:ea typeface="Apple SD Gothic Neo"/>
              </a:rPr>
              <a:t>Chronos-2f는 GBM과 대등(±0.002), BISTRO는 1.28배 열세 — 평균에 넣는 순간 조합 전체를 끌어내립니다.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742432"/>
            <a:ext cx="649224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3447"/>
                </a:solidFill>
                <a:latin typeface="Apple SD Gothic Neo"/>
                <a:ea typeface="Apple SD Gothic Neo"/>
              </a:rPr>
              <a:t>원인 ②  근본 — 같은 딥러닝 계열이지만 “지식의 출처”가 다릅니다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035040"/>
            <a:ext cx="6492239" cy="0"/>
          </a:xfrm>
          <a:prstGeom prst="line">
            <a:avLst/>
          </a:prstGeom>
          <a:ln w="9525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089904"/>
            <a:ext cx="6492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50"/>
              </a:spcAft>
            </a:pPr>
            <a:r>
              <a:rPr sz="880" b="0">
                <a:solidFill>
                  <a:srgbClr val="262626"/>
                </a:solidFill>
                <a:latin typeface="Apple SD Gothic Neo"/>
                <a:ea typeface="Apple SD Gothic Neo"/>
              </a:rPr>
              <a:t>· Chronos-2f = </a:t>
            </a:r>
            <a:r>
              <a:rPr sz="880" b="1">
                <a:solidFill>
                  <a:srgbClr val="008A3E"/>
                </a:solidFill>
                <a:latin typeface="Apple SD Gothic Neo"/>
                <a:ea typeface="Apple SD Gothic Neo"/>
              </a:rPr>
              <a:t>사전학습</a:t>
            </a:r>
            <a:r>
              <a:rPr sz="880" b="0">
                <a:solidFill>
                  <a:srgbClr val="262626"/>
                </a:solidFill>
                <a:latin typeface="Apple SD Gothic Neo"/>
                <a:ea typeface="Apple SD Gothic Neo"/>
              </a:rPr>
              <a:t>: 전 세계 시계열로 학습 후 동결(우리 데이터는 문맥으로만) → 140행에 과적합 통로 없음 + 유일하게 일별 신호 입력</a:t>
            </a:r>
          </a:p>
          <a:p>
            <a:pPr algn="l">
              <a:spcAft>
                <a:spcPts val="150"/>
              </a:spcAft>
            </a:pPr>
            <a:r>
              <a:rPr sz="880" b="0">
                <a:solidFill>
                  <a:srgbClr val="262626"/>
                </a:solidFill>
                <a:latin typeface="Apple SD Gothic Neo"/>
                <a:ea typeface="Apple SD Gothic Neo"/>
              </a:rPr>
              <a:t>· BISTRO = </a:t>
            </a:r>
            <a:r>
              <a:rPr sz="880" b="1">
                <a:solidFill>
                  <a:srgbClr val="B0532F"/>
                </a:solidFill>
                <a:latin typeface="Apple SD Gothic Neo"/>
                <a:ea typeface="Apple SD Gothic Neo"/>
              </a:rPr>
              <a:t>직접학습</a:t>
            </a:r>
            <a:r>
              <a:rPr sz="880" b="0">
                <a:solidFill>
                  <a:srgbClr val="262626"/>
                </a:solidFill>
                <a:latin typeface="Apple SD Gothic Neo"/>
                <a:ea typeface="Apple SD Gothic Neo"/>
              </a:rPr>
              <a:t>: 월 140행으로 파라미터 학습 → 과적합·급변기 붕괴(반등 단독 2.40), 입력도 월별 패널뿐</a:t>
            </a:r>
          </a:p>
          <a:p>
            <a:pPr algn="l">
              <a:spcAft>
                <a:spcPts val="150"/>
              </a:spcAft>
            </a:pPr>
            <a:r>
              <a:rPr sz="880" b="0">
                <a:solidFill>
                  <a:srgbClr val="262626"/>
                </a:solidFill>
                <a:latin typeface="Apple SD Gothic Neo"/>
                <a:ea typeface="Apple SD Gothic Neo"/>
              </a:rPr>
              <a:t>→ 갈림길은 아키텍처가 아니라 </a:t>
            </a:r>
            <a:r>
              <a:rPr sz="880" b="1">
                <a:solidFill>
                  <a:srgbClr val="262626"/>
                </a:solidFill>
                <a:latin typeface="Apple SD Gothic Neo"/>
                <a:ea typeface="Apple SD Gothic Neo"/>
              </a:rPr>
              <a:t>①지식의 출처(외부 사전학습 vs 내부 소표본) ②정보원 주기(일별 vs 월별)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52360" y="1783080"/>
            <a:ext cx="41148" cy="196596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35240" y="1783080"/>
            <a:ext cx="4023359" cy="20116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결합 규칙의 공이 아니라, 부품의 역량입니다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주차별 결합(-1.4%)의 개선분은 “섞는 기술”이 아니라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Chronos-2f가 지표 공백 구간에서 실제로 경쟁력이 있기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때문입니다. 같은 자리에 BISTRO를 넣으면 동일 규칙이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+3.2% 악화로 뒤집힙니다 (반등 분기는 0.85 → 1.01).</a:t>
            </a:r>
          </a:p>
          <a:p>
            <a:pPr algn="l">
              <a:spcAft>
                <a:spcPts val="200"/>
              </a:spcAft>
            </a:pPr>
            <a:r>
              <a:rPr sz="4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오차 상관도 답을 바꾸지 못합니다 — BISTRO가 GBM과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덜 겹치지만(0.904 vs 0.959), 다양성 이득이 정확도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격차를 메우기엔 턱없이 부족합니다.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52360" y="3977639"/>
            <a:ext cx="41148" cy="137160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3977639"/>
            <a:ext cx="4023359" cy="1417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243447"/>
                </a:solidFill>
                <a:latin typeface="Apple SD Gothic Neo"/>
                <a:ea typeface="Apple SD Gothic Neo"/>
              </a:rPr>
              <a:t>시사점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조기 슬롯 부품의 자격 요건은 “지표 공백 구간에서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GBM과 대등한 단독 성능”입니다. 사전학습 계열은 이를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충족하고, 소표본 직접학습 계열은 충족하지 못합니다 —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62626"/>
                </a:solidFill>
                <a:latin typeface="Apple SD Gothic Neo"/>
                <a:ea typeface="Apple SD Gothic Neo"/>
              </a:rPr>
              <a:t>7월 전수 검증의 결론이 부품 단위에서도 재확인됩니다.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5532120"/>
            <a:ext cx="4206240" cy="713232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5532120"/>
            <a:ext cx="41148" cy="713232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5605272"/>
            <a:ext cx="3840479" cy="594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150"/>
              </a:spcAft>
            </a:pPr>
            <a:r>
              <a:rPr sz="880" b="0">
                <a:solidFill>
                  <a:srgbClr val="6B6B6B"/>
                </a:solidFill>
                <a:latin typeface="Apple SD Gothic Neo"/>
                <a:ea typeface="Apple SD Gothic Neo"/>
              </a:rPr>
              <a:t>유의: BISTRO는 당사 GDP 이식 재구현판 기준이며, 원 연구·타 과제</a:t>
            </a:r>
          </a:p>
          <a:p>
            <a:pPr algn="l">
              <a:spcAft>
                <a:spcPts val="150"/>
              </a:spcAft>
            </a:pPr>
            <a:r>
              <a:rPr sz="880" b="0">
                <a:solidFill>
                  <a:srgbClr val="6B6B6B"/>
                </a:solidFill>
                <a:latin typeface="Apple SD Gothic Neo"/>
                <a:ea typeface="Apple SD Gothic Neo"/>
              </a:rPr>
              <a:t>성능에 대한 판정이 아닙니다. 원본도 동일 규약 채점 시 비교 가능합니다.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601968"/>
            <a:ext cx="105156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75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공통표본 26개 분기(BISTRO 예측이 없는 2018Q1~2019Q2 제외) — 32개 분기 리더보드 수치(XGBoost 0.750 등)와 직접 비교 불가. 실시간 빈티지 · 속보치 · w[-19,-1] 평균 RMSE · schema v2. 낮을수록 정확.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83680"/>
            <a:ext cx="45720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