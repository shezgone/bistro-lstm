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9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18872"/>
            <a:ext cx="11521440" cy="4247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regime-gated v2 (3-arm) — </a:t>
            </a:r>
            <a:r>
              <a:rPr lang="en-US" sz="24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One Pager Summary</a:t>
            </a:r>
            <a:endParaRPr sz="2400" b="1" dirty="0">
              <a:solidFill>
                <a:srgbClr val="1F3B5C"/>
              </a:solidFill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576072"/>
            <a:ext cx="11521440" cy="240066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매 </a:t>
            </a:r>
            <a:r>
              <a:rPr sz="120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분기</a:t>
            </a:r>
            <a:r>
              <a:rPr sz="120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, 이미 발표된 데이터만으로 국면을 선(先)판정 → 국면별 앙상블로 예측.  v2 = </a:t>
            </a:r>
            <a:r>
              <a:rPr sz="120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반등(REBOUND) 국면 추가: 보정 모델을 끄고 DFM 단독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05840"/>
            <a:ext cx="6446520" cy="1024128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① 준비 — 분기 q 시작 시 1번, 예측하기 전에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재료: DFM · XGBoost · RF 예측 (매 전망주차 w−19~−1)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판정 입력:  flash(q−1) 직전 분기 속보치 | vol(q)=std(직전 4분기 flash)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θ(q)=과거 vol들의 중앙값(확장창) | S=월별 심리지표(ESI, 분기 시작 전월까지)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345223"/>
            <a:ext cx="6446520" cy="3862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② </a:t>
            </a:r>
            <a:r>
              <a:rPr sz="12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판정</a:t>
            </a:r>
            <a:r>
              <a:rPr sz="12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— </a:t>
            </a:r>
            <a:r>
              <a:rPr sz="12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위에서부터</a:t>
            </a:r>
            <a:r>
              <a:rPr sz="12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2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순서대로</a:t>
            </a:r>
            <a:r>
              <a:rPr sz="12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, </a:t>
            </a:r>
            <a:r>
              <a:rPr sz="12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먼저</a:t>
            </a:r>
            <a:r>
              <a:rPr sz="12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2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걸리는</a:t>
            </a:r>
            <a:r>
              <a:rPr sz="12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2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국면</a:t>
            </a:r>
            <a:r>
              <a:rPr sz="12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20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적용</a:t>
            </a:r>
            <a:r>
              <a:rPr sz="120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(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순서가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핵심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: 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반등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분기는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vol도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높아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②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에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걸리므로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①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을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먼저</a:t>
            </a:r>
            <a:r>
              <a:rPr sz="950" b="0" dirty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816352"/>
            <a:ext cx="3977639" cy="658368"/>
          </a:xfrm>
          <a:prstGeom prst="rect">
            <a:avLst/>
          </a:prstGeom>
          <a:solidFill>
            <a:srgbClr val="F2F2F2"/>
          </a:solidFill>
          <a:ln w="9525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1) REBOUND (반등)?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flash(q−1) &lt; 0  AND  심리 저점통과(S_last &gt; S_min, 저점이 마지막 달 이전)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43399" y="2976593"/>
            <a:ext cx="256032" cy="274320"/>
          </a:xfrm>
          <a:prstGeom prst="rightArrow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45151" y="2816352"/>
            <a:ext cx="209397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ŷ = DFM 단독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보정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7185" y="3569645"/>
            <a:ext cx="1097280" cy="201168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877056"/>
            <a:ext cx="39776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Aft>
                <a:spcPts val="200"/>
              </a:spcAft>
            </a:pPr>
            <a:r>
              <a:rPr sz="115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2) SHOCK (</a:t>
            </a:r>
            <a:r>
              <a:rPr sz="1150" b="1" dirty="0" err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충격</a:t>
            </a:r>
            <a:r>
              <a:rPr sz="1150" b="1" dirty="0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)?</a:t>
            </a:r>
          </a:p>
          <a:p>
            <a:pPr algn="l">
              <a:spcAft>
                <a:spcPts val="200"/>
              </a:spcAft>
            </a:pPr>
            <a:r>
              <a:rPr sz="930" b="0" dirty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vol(q) &gt; </a:t>
            </a:r>
            <a:r>
              <a:rPr sz="930" b="0" dirty="0" err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θ</a:t>
            </a:r>
            <a:r>
              <a:rPr sz="930" b="0" dirty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(q)   — </a:t>
            </a:r>
            <a:r>
              <a:rPr sz="930" b="0" dirty="0" err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최근</a:t>
            </a:r>
            <a:r>
              <a:rPr sz="930" b="0" dirty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 4분기 </a:t>
            </a:r>
            <a:r>
              <a:rPr sz="930" b="0" dirty="0" err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출렁임이</a:t>
            </a:r>
            <a:r>
              <a:rPr sz="930" b="0" dirty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30" b="0" dirty="0" err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평소</a:t>
            </a:r>
            <a:r>
              <a:rPr sz="930" b="0" dirty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30" b="0" dirty="0" err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중앙값보다</a:t>
            </a:r>
            <a:r>
              <a:rPr sz="930" b="0" dirty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30" b="0" dirty="0" err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큼</a:t>
            </a:r>
            <a:endParaRPr sz="930" b="0" dirty="0">
              <a:solidFill>
                <a:srgbClr val="222222"/>
              </a:solidFill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343399" y="4037298"/>
            <a:ext cx="256032" cy="274320"/>
          </a:xfrm>
          <a:prstGeom prst="rightArrow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45151" y="3877056"/>
            <a:ext cx="209397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ŷ = (DFM+XGBoost)/2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7185" y="4630349"/>
            <a:ext cx="1097280" cy="201168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937760"/>
            <a:ext cx="39776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3) CALM (평온)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위 둘 다 아니면 전부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343399" y="5098002"/>
            <a:ext cx="256032" cy="274320"/>
          </a:xfrm>
          <a:prstGeom prst="rightArrow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645151" y="4937760"/>
            <a:ext cx="209397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ŷ = (DFM+RF)/2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713695"/>
            <a:ext cx="6446520" cy="404213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적용: </a:t>
            </a:r>
            <a:r>
              <a:rPr sz="105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판정된 국면은 그 분기의 모든 주차 예측(19개)에 동일 적용, 다음 분기에 재판정.  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예외: </a:t>
            </a:r>
            <a:r>
              <a:rPr sz="105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과거 vol 2개 미만→SHOCK 처리 | 심리 3개월 미만 or flash(q−1) 미발표→REBOUND 불성립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7728" y="1005840"/>
            <a:ext cx="4892040" cy="1720616"/>
          </a:xfrm>
          <a:prstGeom prst="rect">
            <a:avLst/>
          </a:prstGeom>
          <a:solidFill>
            <a:srgbClr val="FFFFFF"/>
          </a:solidFill>
          <a:ln w="9525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왜 반등 arm에서 보정을 끄나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음성장 직후 + 심리 회복 국면은 훈련 데이터에 드묾 → XGB/RF의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과거 패턴 보정이 잡음이 됨. 반등 6분기에서 DFM 단독 0.621 vs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DFM+XGB 0.817 — 보정이 체계적으로 해악.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심리 조건의 역할 = 연속 추락기 제외: 2020Q2(직전 분기 음성장이지만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심리 자유낙하 중)를 반등으로 오분류하지 않음. ESI/CSI × 윈도우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4~12개월 8개 변형 모두 동일 분류 (조건은 2020Q2 하나에서만 발동).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반등 판정 6분기: 2018Q1 · 2019Q2 · 2020Q3 · 2023Q1 · 2024Q3 · 2025Q2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67728" y="2926080"/>
            <a:ext cx="4892040" cy="14077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B5C"/>
                </a:solidFill>
                <a:latin typeface="NanumSquare Neo Regular" pitchFamily="2" charset="-127"/>
                <a:ea typeface="NanumSquare Neo Regular" pitchFamily="2" charset="-127"/>
              </a:rPr>
              <a:t>성과 (flash w[−19,−1] 평균 RMSE, 2018Q1–2025Q4)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907628"/>
              </p:ext>
            </p:extLst>
          </p:nvPr>
        </p:nvGraphicFramePr>
        <p:xfrm>
          <a:off x="7077456" y="3218688"/>
          <a:ext cx="4672582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게이트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950" b="1" dirty="0" err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구성</a:t>
                      </a:r>
                      <a:endParaRPr sz="950" b="1" dirty="0">
                        <a:solidFill>
                          <a:srgbClr val="FFFFFF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36576" marR="36576" marT="9144" marB="9144" anchor="ctr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전체 32Q</a:t>
                      </a:r>
                    </a:p>
                  </a:txBody>
                  <a:tcPr marL="36576" marR="36576" marT="9144" marB="9144" anchor="ctr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반등 6Q</a:t>
                      </a:r>
                    </a:p>
                  </a:txBody>
                  <a:tcPr marL="36576" marR="36576" marT="9144" marB="9144" anchor="ctr">
                    <a:solidFill>
                      <a:srgbClr val="1F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3-arm (v2, </a:t>
                      </a:r>
                      <a:r>
                        <a:rPr sz="950" b="1" dirty="0" err="1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제안</a:t>
                      </a:r>
                      <a:r>
                        <a:rPr sz="950" b="1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)</a:t>
                      </a: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0.7219</a:t>
                      </a: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0.621</a:t>
                      </a:r>
                    </a:p>
                  </a:txBody>
                  <a:tcPr marL="36576" marR="36576" marT="9144" marB="9144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95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2-arm (v1, 7/2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보고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0.7548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950" b="0" dirty="0" err="1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DFM+XGBoost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(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기존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최고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0.7650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 dirty="0">
                          <a:solidFill>
                            <a:srgbClr val="222222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0.815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967728" y="4553712"/>
            <a:ext cx="4892040" cy="156419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검증 상태 — “유망 후보”, 확정 아님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· 반등→DFM 단독 arm은 6분기 성적을 보고 고른 구조 → 선택편향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 (기존 2-arm보다 사후 선택이 한 단계 더 쌓임)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· 반등 분기별 4승 2패(2023Q1·2024Q3 소폭 열세) — 소표본</a:t>
            </a:r>
          </a:p>
          <a:p>
            <a:pPr algn="l">
              <a:spcAft>
                <a:spcPts val="200"/>
              </a:spcAft>
            </a:pPr>
            <a:r>
              <a:rPr sz="980" b="1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· DM 유의성 미검증 — 한은 보고 전 필수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NanumSquare Neo Regular" pitchFamily="2" charset="-127"/>
                <a:ea typeface="NanumSquare Neo Regular" pitchFamily="2" charset="-127"/>
              </a:rPr>
              <a:t>· LLM·AttnLSTM 반등 arm은 기각/보류: AttnLSTM은 DFM 단독에 열세,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5A5A"/>
                </a:solidFill>
                <a:latin typeface="NanumSquare Neo Regular" pitchFamily="2" charset="-127"/>
                <a:ea typeface="NanumSquare Neo Regular" pitchFamily="2" charset="-127"/>
              </a:rPr>
              <a:t>  LLM은 무오염 검증 전 (새 기준: 반등기에 DFM 단독을 넘어야 함)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309360"/>
            <a:ext cx="11539728" cy="402336"/>
          </a:xfrm>
          <a:prstGeom prst="rect">
            <a:avLst/>
          </a:prstGeom>
          <a:solidFill>
            <a:srgbClr val="1F3B5C"/>
          </a:solidFill>
          <a:ln w="9525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NanumSquare Neo Regular" pitchFamily="2" charset="-127"/>
                <a:ea typeface="NanumSquare Neo Regular" pitchFamily="2" charset="-127"/>
              </a:rPr>
              <a:t>핵심: 국면마다 이기는 모델이 다르다 — 충격기엔 XGB 보정, 평온기엔 RF 보정, 반등기엔 보정 OFF(DFM). 규칙 3개만으로 0.765 → 0.722.</a:t>
            </a:r>
          </a:p>
        </p:txBody>
      </p:sp>
      <p:sp>
        <p:nvSpPr>
          <p:cNvPr id="26" name="Right Arrow 7">
            <a:extLst>
              <a:ext uri="{FF2B5EF4-FFF2-40B4-BE49-F238E27FC236}">
                <a16:creationId xmlns:a16="http://schemas.microsoft.com/office/drawing/2014/main" id="{1E045122-4218-9AD6-ABFA-DF766185EBBF}"/>
              </a:ext>
            </a:extLst>
          </p:cNvPr>
          <p:cNvSpPr/>
          <p:nvPr/>
        </p:nvSpPr>
        <p:spPr>
          <a:xfrm rot="5400000">
            <a:off x="3278124" y="2073952"/>
            <a:ext cx="256032" cy="274320"/>
          </a:xfrm>
          <a:prstGeom prst="rightArrow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27" name="Right Arrow 7">
            <a:extLst>
              <a:ext uri="{FF2B5EF4-FFF2-40B4-BE49-F238E27FC236}">
                <a16:creationId xmlns:a16="http://schemas.microsoft.com/office/drawing/2014/main" id="{FA3ECAF5-16E0-01AB-4041-9BBA58B11FD2}"/>
              </a:ext>
            </a:extLst>
          </p:cNvPr>
          <p:cNvSpPr/>
          <p:nvPr/>
        </p:nvSpPr>
        <p:spPr>
          <a:xfrm rot="5400000">
            <a:off x="2213503" y="3533499"/>
            <a:ext cx="256032" cy="274320"/>
          </a:xfrm>
          <a:prstGeom prst="rightArrow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28" name="Right Arrow 7">
            <a:extLst>
              <a:ext uri="{FF2B5EF4-FFF2-40B4-BE49-F238E27FC236}">
                <a16:creationId xmlns:a16="http://schemas.microsoft.com/office/drawing/2014/main" id="{03BEDB98-E0B0-0367-44FE-0AF9FD814262}"/>
              </a:ext>
            </a:extLst>
          </p:cNvPr>
          <p:cNvSpPr/>
          <p:nvPr/>
        </p:nvSpPr>
        <p:spPr>
          <a:xfrm rot="5400000">
            <a:off x="2213503" y="4602045"/>
            <a:ext cx="256032" cy="274320"/>
          </a:xfrm>
          <a:prstGeom prst="rightArrow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8018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CD9691-EE12-0243-B2F9-880D980120A3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5b632c94-cf93-4b68-9707-8a9958156a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546</Words>
  <Application>Microsoft Macintosh PowerPoint</Application>
  <PresentationFormat>와이드스크린</PresentationFormat>
  <Paragraphs>50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NanumSquare Neo Regular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김용민</cp:lastModifiedBy>
  <cp:revision>4</cp:revision>
  <dcterms:created xsi:type="dcterms:W3CDTF">2013-01-27T09:14:16Z</dcterms:created>
  <dcterms:modified xsi:type="dcterms:W3CDTF">2026-07-10T08:23:38Z</dcterms:modified>
  <cp:category/>
</cp:coreProperties>
</file>