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45858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regime-gated </a:t>
            </a:r>
            <a:r>
              <a:rPr sz="25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앙상블</a:t>
            </a:r>
            <a:r>
              <a:rPr sz="25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— </a:t>
            </a:r>
            <a:r>
              <a:rPr sz="25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동작</a:t>
            </a:r>
            <a:r>
              <a:rPr sz="25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25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원리</a:t>
            </a:r>
            <a:r>
              <a:rPr sz="25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25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한</a:t>
            </a:r>
            <a:r>
              <a:rPr sz="25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25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장</a:t>
            </a:r>
            <a:r>
              <a:rPr sz="25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25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요약</a:t>
            </a:r>
            <a:endParaRPr sz="2500" b="1" dirty="0">
              <a:solidFill>
                <a:srgbClr val="1F3B5C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521440" cy="45858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매 </a:t>
            </a:r>
            <a:r>
              <a:rPr sz="1250" b="1">
                <a:solidFill>
                  <a:srgbClr val="E06B1F"/>
                </a:solidFill>
                <a:latin typeface="NanumSquare Neo Regular" pitchFamily="2" charset="-127"/>
                <a:ea typeface="NanumSquare Neo Regular" pitchFamily="2" charset="-127"/>
              </a:rPr>
              <a:t>분기</a:t>
            </a:r>
            <a:r>
              <a:rPr sz="12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, 이미 발표된 GDP만 보고 “지금이 급변기(shock)인가?”를 판정 → 그 국면에 강한 앙상블로 자동 전환.  </a:t>
            </a:r>
            <a:r>
              <a:rPr sz="12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판정이 먼저, 예측이 나중(선판정→후예측)</a:t>
            </a:r>
            <a:r>
              <a:rPr sz="12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— 예측 결과는 판정에 쓰지 않음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78992"/>
            <a:ext cx="6309360" cy="749808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① 재료 준비 — 세 모델이 각자 예측을 만들어 둠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DFM(한은 기준모형) · XGBoost · RF  →  매 전망주차(w−19 ~ w−1)마다 예측치 산출</a:t>
            </a:r>
          </a:p>
        </p:txBody>
      </p:sp>
      <p:sp>
        <p:nvSpPr>
          <p:cNvPr id="5" name="Down Arrow 4"/>
          <p:cNvSpPr/>
          <p:nvPr/>
        </p:nvSpPr>
        <p:spPr>
          <a:xfrm>
            <a:off x="3346704" y="1856231"/>
            <a:ext cx="256032" cy="219456"/>
          </a:xfrm>
          <a:prstGeom prst="down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0040" y="2103120"/>
            <a:ext cx="6309360" cy="96012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② 충격 탐지 — </a:t>
            </a:r>
            <a:r>
              <a:rPr sz="1250" b="1">
                <a:solidFill>
                  <a:srgbClr val="E06B1F"/>
                </a:solidFill>
                <a:latin typeface="NanumSquare Neo Regular" pitchFamily="2" charset="-127"/>
                <a:ea typeface="NanumSquare Neo Regular" pitchFamily="2" charset="-127"/>
              </a:rPr>
              <a:t>분기가 시작될 때 딱 1번, 예측하기 전에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“직전 4분기 변동성” = 직전 4개 분기의 이미 발표된 GDP 속보치의 표준편차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예) 2020Q3 판정 → std(2019Q3~2020Q2 발표치) — 미래 정보·예측값 사용 X</a:t>
            </a:r>
          </a:p>
        </p:txBody>
      </p:sp>
      <p:sp>
        <p:nvSpPr>
          <p:cNvPr id="7" name="Down Arrow 6"/>
          <p:cNvSpPr/>
          <p:nvPr/>
        </p:nvSpPr>
        <p:spPr>
          <a:xfrm>
            <a:off x="3346704" y="3090672"/>
            <a:ext cx="256032" cy="219456"/>
          </a:xfrm>
          <a:prstGeom prst="down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8" name="Hexagon 7"/>
          <p:cNvSpPr/>
          <p:nvPr/>
        </p:nvSpPr>
        <p:spPr>
          <a:xfrm>
            <a:off x="868680" y="3337560"/>
            <a:ext cx="5212080" cy="658368"/>
          </a:xfrm>
          <a:prstGeom prst="hexagon">
            <a:avLst/>
          </a:prstGeom>
          <a:solidFill>
            <a:srgbClr val="FFF3CD"/>
          </a:solidFill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③ 판정:  직전 4분기 변동성 &gt; 과거 변동성들의 중앙값?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(“과거 변동성” = 이전 분기들을 판정할 때 쓴 같은 잣대의 값들 → 계산법은 오른쪽 ▶)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554480" y="4023360"/>
            <a:ext cx="256032" cy="219456"/>
          </a:xfrm>
          <a:prstGeom prst="downArrow">
            <a:avLst/>
          </a:prstGeom>
          <a:solidFill>
            <a:srgbClr val="E0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5138928" y="4023360"/>
            <a:ext cx="256032" cy="219456"/>
          </a:xfrm>
          <a:prstGeom prst="downArrow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0040" y="4279392"/>
            <a:ext cx="3017520" cy="11887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0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B1F"/>
                </a:solidFill>
                <a:latin typeface="NanumSquare Neo Regular" pitchFamily="2" charset="-127"/>
                <a:ea typeface="NanumSquare Neo Regular" pitchFamily="2" charset="-127"/>
              </a:rPr>
              <a:t>YES → shock (급변기)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최종예측 = (DFM + XGBoost) / 2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예) 2020Q3: 직전 4분기에 COVID 급락 포함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→ 변동성 급등 → shock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4279392"/>
            <a:ext cx="3017520" cy="1188720"/>
          </a:xfrm>
          <a:prstGeom prst="roundRect">
            <a:avLst/>
          </a:prstGeom>
          <a:solidFill>
            <a:srgbClr val="DFF0D8"/>
          </a:solidFill>
          <a:ln w="19050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E8E41"/>
                </a:solidFill>
                <a:latin typeface="NanumSquare Neo Regular" pitchFamily="2" charset="-127"/>
                <a:ea typeface="NanumSquare Neo Regular" pitchFamily="2" charset="-127"/>
              </a:rPr>
              <a:t>NO → calm (평온기)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최종예측 = (DFM + RF) / 2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예) 2024Q3: 직전 4분기 흐름 완만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→ 변동성 낮음 → calm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41264"/>
            <a:ext cx="6309360" cy="43806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④ 적용 범위: </a:t>
            </a:r>
            <a:r>
              <a:rPr sz="11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한 번 판정된 국면은 그 분기의 모든 주차 예측(19개)에 동일하게 적용.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     다음 분기가 되면 새 발표치를 반영해 다시 판정 (분기마다 갱신)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078992"/>
            <a:ext cx="4956048" cy="1993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판정 기준 자세히 — “직전 4분기” vs “과거” 변동성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vol(2018Q1) = std(2017Q1~2017Q4 속보치)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vol(2018Q2) = std(2017Q2~2018Q1)  ← 한 분기씩 밀림(rolling)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     ⋮                (창들은 서로 겹침)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vol(2020Q2) = std(2019Q2~2020Q1)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임계값 = 위 vol(std)들의 중앙값 → 숫자 1개 </a:t>
            </a: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— 분기마다 쌓이는 확장창(갱신)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E06B1F"/>
                </a:solidFill>
                <a:latin typeface="NanumSquare Neo Regular" pitchFamily="2" charset="-127"/>
                <a:ea typeface="NanumSquare Neo Regular" pitchFamily="2" charset="-127"/>
              </a:rPr>
              <a:t>이번 값 = vol(2020Q3) = std(2019Q3~2020Q2) → 숫자 1개끼리 비교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(std를 먼저, 중앙값을 나중 — “std들의 중앙값”이지 “중앙값들의 std”가 아님)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직관: “요즘 4분기 출렁임이, 평소 보던 출렁임의 중간 수준보다 큰가?”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* 쌓인 과거 vol이 2개 미만인 초기 분기는 보수적으로 shock 처리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182112"/>
            <a:ext cx="4956048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자주 나오는 질문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Q. 예측할 때마다 매번 다시 판정하나요?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A. 아니요, 분기당 1번. 19개 주차 예측 모두 같은 조합 → 다음 분기에 갱신.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Q. 예측 결과를 보고 나서 판정하는 건가요?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A. 아니요. 판정은 예측 전에, 이미 발표된 속보치만으로 끝남(vintage-safe).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Q. 충격이 시작되는 첫 분기도 잡아내나요?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A. 급락이 발표된 뒤에야 창에 반영 → 한 박자 늦음. 월별지표 조기감지 = 고도화 과제.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864608"/>
            <a:ext cx="4956048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성과 (flash w[−19,−1] 평균 RMSE, 2018Q1–2025Q4)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525435"/>
              </p:ext>
            </p:extLst>
          </p:nvPr>
        </p:nvGraphicFramePr>
        <p:xfrm>
          <a:off x="7013448" y="5138928"/>
          <a:ext cx="473658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모형</a:t>
                      </a:r>
                      <a:endParaRPr sz="950" b="1" dirty="0">
                        <a:solidFill>
                          <a:srgbClr val="FFFFFF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36576" marR="36576" marT="9144" marB="914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전체</a:t>
                      </a:r>
                      <a:endParaRPr sz="950" b="1" dirty="0">
                        <a:solidFill>
                          <a:srgbClr val="FFFFFF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36576" marR="36576" marT="9144" marB="914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COVID</a:t>
                      </a:r>
                    </a:p>
                  </a:txBody>
                  <a:tcPr marL="36576" marR="36576" marT="9144" marB="914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최근</a:t>
                      </a:r>
                    </a:p>
                  </a:txBody>
                  <a:tcPr marL="36576" marR="36576" marT="9144" marB="9144">
                    <a:solidFill>
                      <a:srgbClr val="1F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regime-gated (제안)</a:t>
                      </a:r>
                    </a:p>
                  </a:txBody>
                  <a:tcPr marL="36576" marR="36576" marT="9144" marB="9144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0.7548</a:t>
                      </a:r>
                    </a:p>
                  </a:txBody>
                  <a:tcPr marL="36576" marR="36576" marT="9144" marB="9144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0.9917</a:t>
                      </a:r>
                    </a:p>
                  </a:txBody>
                  <a:tcPr marL="36576" marR="36576" marT="9144" marB="9144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0.5198</a:t>
                      </a:r>
                    </a:p>
                  </a:txBody>
                  <a:tcPr marL="36576" marR="36576" marT="9144" marB="9144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DFM+XGBoost (기존 최고)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0.765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0.999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0.542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 (기준선)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0.865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1.255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0.541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0040" y="6199632"/>
            <a:ext cx="11539728" cy="475488"/>
          </a:xfrm>
          <a:prstGeom prst="rect">
            <a:avLst/>
          </a:prstGeom>
          <a:solidFill>
            <a:srgbClr val="1F3B5C"/>
          </a:solidFill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핵심: “국면마다 이기는 모델이 다르다” — 분기마다 과거 데이터만으로 국면을 판정해 자동 전환. 양 국면 모두 우위, K=3~8 견고.  </a:t>
            </a:r>
            <a:r>
              <a:rPr sz="1000" b="0">
                <a:solidFill>
                  <a:srgbClr val="C9D6E4"/>
                </a:solidFill>
                <a:latin typeface="NanumSquare Neo Regular" pitchFamily="2" charset="-127"/>
                <a:ea typeface="NanumSquare Neo Regular" pitchFamily="2" charset="-127"/>
              </a:rPr>
              <a:t>(단, 개선폭 ~1%는 32분기 소표본이라 통계적 유의성은 별도 검증 필요)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564</Words>
  <Application>Microsoft Macintosh PowerPoint</Application>
  <PresentationFormat>와이드스크린</PresentationFormat>
  <Paragraphs>54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NanumSquare Neo Regular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김용민</cp:lastModifiedBy>
  <cp:revision>2</cp:revision>
  <dcterms:created xsi:type="dcterms:W3CDTF">2013-01-27T09:14:16Z</dcterms:created>
  <dcterms:modified xsi:type="dcterms:W3CDTF">2026-07-08T06:34:14Z</dcterms:modified>
  <cp:category/>
</cp:coreProperties>
</file>