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6장 요약본(9/1 11장본의 개정판 — 상세 수치와 통계 논거는 각 장의 노트로 이동). 발표 10분 기준. 대표님은 한은 FDE 전사 사례(우선순위 1위 규정 온톨로지, 코딩 어시스턴트 등)를 이미 보고받으심 — 본 건은 그 지도에서 우선순위 2위 '시계열 Track1'의 상세 보고. 시계열 Track2(뉴스 인과관계, 데이터사이언스팀)와는 별개 트랙.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 수치: 기준선 = 한은 개정판 XGBoost 0.750, 최종 구성 0.7326(-2.3%), 32개 분기 중 18개 분기 승. 통계적 수위는 4장 노트 참조. 7월 국면전환 연구(0.718, 전 여정 최고 성능)는 '실시간으로 경기 국면을 단정할 수 있는가'라는 중앙은행 설명책임 요건과 충돌해 보류 — 그 직관은 '분기 초 6주 교대'라는 수용 가능한 형태로 최종 구성에 계승됨.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정확한 구조(질문 대비): 단일 공용 저장소가 아니라 양측 저장소를 상호 구독(pull)하는 구조 — 당사는 한은 저장소에 푸시하지 않음(권한·기밀 분리). 한은 빈티지 데이터는 당사 저장소에 커밋하지 않는 규칙 유지(기밀 관리). 'FDE = 고객 코드를 읽는 것이 요구사항 분석': 8월 초 개정 커밋의 diff에서 단위 결함의 의미를, 8월 말 커밋에서 실험 설계와 한계까지 독해해 대응함.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통계 상세(질문 대비): 검정력 분석상 이 표본(유효 32개)에서는 6.2% 개선도 p≈0.09 — 애초 '확정 우위'가 성립할 수 없는 표본 크기. 한은 자체 Model Confidence Set 검정도 비교 12개 모형 전원 잔류로 같은 결론. 최종 구성은 32분기 중 18분기 승. 차트 회색 막대(국면전환 0.718): 성능은 전 여정 최고 — (구두 대응 전용) 대표님이 과거 언급하신 HMM(은닉 마르코프 모형)과 같은 계보의 접근. 질문이 나오면: '그 방향이 성능으로는 옳았고, 실시간 국면 단정의 수용성 문제 때문에 분기 초 교대라는 형태로 번역해 계승했다'로 답변. 선제 언급은 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수치 상세(질문 대비): LoRA 적응 후(2021~2025 평가창, seed 3회 예측 평균) BISTRO 0.596→0.560(-6.0%), Chronos-2 0.619→0.564(-8.9%). '새 지표 반영' 정량화 = 예측 초반 6주 대비 다음 6주의 오차 감소율 — BISTRO는 적응 전 역행(+10.1%)이 적응 후 +3.2%로 완화. BISTRO는 seed 간 편차가 커(±0.028) 단일 실행을 믿지 않고 3회 평균만 보고 — 이 원칙이 두 차례 성급한 결론을 걸러냄. BISTRO는 BIS Working Paper 1337의 공개 모델을 공개 체크포인트 그대로, 당사 채점 규약으로 실측한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(구두 전용 — 문서에는 쓰지 않음) ① 10/26 주간현안포럼의 총재님은 BISTRO 논문(BIS WP 1337)의 1저자(BIS 재직 시). 디지털혁신실의 논문 해석 질의가 본 프로젝트의 기점이었고, 원 논문 모델의 동일 규약 실측과 적응 개선으로 답한 수미상관 구조 — BISTRO 관련 서술은 항상 '동일 규약·공개 체크포인트 실측' 프레임 유지. ② 조직 지형: 디지털혁신실(협업 파트너, 딥러닝 시스템 개선)과 경제모형실(전문가 판단 전망, 최근 산학협력으로 BISTRO 연구)은 경쟁 구도로 보임 — 산학 파트너 실명 포함 문서 명시 금지. ③ 논문 저자 구성 등 회사 차원 조율이 필요해지면 별도 보고.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6B6B6B"/>
                </a:solidFill>
                <a:latin typeface="NanumSquare"/>
                <a:ea typeface="NanumSquare"/>
              </a:rPr>
              <a:t>네이버클라우드 AX Forward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81360" cy="1645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3560" b="1">
                <a:solidFill>
                  <a:srgbClr val="243447"/>
                </a:solidFill>
                <a:latin typeface="NanumSquare"/>
                <a:ea typeface="NanumSquare"/>
              </a:rPr>
              <a:t>한국은행 GDP 나우캐스팅 협업 — 3개월의 여정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262626"/>
                </a:solidFill>
                <a:latin typeface="NanumSquare"/>
                <a:ea typeface="NanumSquare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90" b="0">
                <a:solidFill>
                  <a:srgbClr val="6B6B6B"/>
                </a:solidFill>
                <a:latin typeface="NanumSquare"/>
                <a:ea typeface="NanumSquare"/>
              </a:rPr>
              <a:t>나우캐스팅(nowcasting) = 이번 분기 성장률을 공식 발표 전에 실시간 추정하는 일</a:t>
            </a:r>
          </a:p>
          <a:p>
            <a:pPr algn="l">
              <a:spcAft>
                <a:spcPts val="200"/>
              </a:spcAft>
            </a:pPr>
            <a:r>
              <a:rPr sz="1839" b="0">
                <a:solidFill>
                  <a:srgbClr val="262626"/>
                </a:solidFill>
                <a:latin typeface="NanumSquare"/>
                <a:ea typeface="NanumSquare"/>
              </a:rPr>
              <a:t>GitHub 커밋으로 일한 FDE 협업의 기록 — 성과, 일하는 방식, 그리고 10월의 무대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4114800"/>
            <a:ext cx="3840480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4297680"/>
            <a:ext cx="1024128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380" b="0">
                <a:solidFill>
                  <a:srgbClr val="6B6B6B"/>
                </a:solidFill>
                <a:latin typeface="NanumSquare"/>
                <a:ea typeface="NanumSquare"/>
              </a:rPr>
              <a:t>한국은행 기존 모형 대비 예측 오차 2.3% 개선 · 한은과 결과 합의 완료 · 10월 총재님·임원진 보고 일정 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66928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6B6B6B"/>
                </a:solidFill>
                <a:latin typeface="NanumSquare"/>
                <a:ea typeface="NanumSquare"/>
              </a:rPr>
              <a:t>한은–네이버 2026년 협력과제 8건 중 우선순위 2위 「시계열 Track1 (거시경제 예측)」 — 한은 담당: 이창훈·윤희근 (디지털혁신실)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016752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6B6B6B"/>
                </a:solidFill>
                <a:latin typeface="NanumSquare"/>
                <a:ea typeface="NanumSquare"/>
              </a:rPr>
              <a:t>2026. 9. 14.  |  대표 보고  |  작성: 김용민  |  FDE = Forward Deployed Engineering, 고객 현장 밀착 엔지니어링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6B6B6B"/>
                </a:solidFill>
                <a:latin typeface="NanumSquare"/>
                <a:ea typeface="NanumSquare"/>
              </a:rPr>
              <a:t>1  | 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50" b="1">
                <a:solidFill>
                  <a:srgbClr val="243447"/>
                </a:solidFill>
                <a:latin typeface="NanumSquare"/>
                <a:ea typeface="NanumSquare"/>
              </a:rPr>
              <a:t>세 가지만 기억해 주시면 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71600"/>
            <a:ext cx="41148" cy="86868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10" b="1">
                <a:solidFill>
                  <a:srgbClr val="008A3E"/>
                </a:solidFill>
                <a:latin typeface="NanumSquare"/>
                <a:ea typeface="NanumSquare"/>
              </a:rPr>
              <a:t>성과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89888"/>
            <a:ext cx="93268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60" b="0">
                <a:solidFill>
                  <a:srgbClr val="262626"/>
                </a:solidFill>
                <a:latin typeface="NanumSquare"/>
                <a:ea typeface="NanumSquare"/>
              </a:rPr>
              <a:t>한국은행 기존 모형보다 예측 오차(RMSE·평균제곱근오차)를 2.3% 줄인 구성을 찾았고, 9월 3일 회의에서 한은이 이 결과에 합의했습니다. 실패한 실험까지 전부 기록으로 남긴 3개월의 결론입니다.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1"/>
            <a:ext cx="41148" cy="86868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96311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10" b="1">
                <a:solidFill>
                  <a:srgbClr val="243447"/>
                </a:solidFill>
                <a:latin typeface="NanumSquare"/>
                <a:ea typeface="NanumSquare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468879"/>
            <a:ext cx="93268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60" b="0">
                <a:solidFill>
                  <a:srgbClr val="262626"/>
                </a:solidFill>
                <a:latin typeface="NanumSquare"/>
                <a:ea typeface="NanumSquare"/>
              </a:rPr>
              <a:t>모든 협업이 GitHub 저장소의 커밋으로 이루어졌습니다. 한은이 데이터와 채점 기준을 올리면 당사가 검증과 실험으로 회신했고, 서로의 결과를 서로의 코드로 재현해 확인했습니다 — FDE 방식의 실제 모습입니다.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9583"/>
            <a:ext cx="41148" cy="86868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75303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10" b="1">
                <a:solidFill>
                  <a:srgbClr val="B0532F"/>
                </a:solidFill>
                <a:latin typeface="NanumSquare"/>
                <a:ea typeface="NanumSquare"/>
              </a:rPr>
              <a:t>다음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547871"/>
            <a:ext cx="93268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60" b="0">
                <a:solidFill>
                  <a:srgbClr val="262626"/>
                </a:solidFill>
                <a:latin typeface="NanumSquare"/>
                <a:ea typeface="NanumSquare"/>
              </a:rPr>
              <a:t>협업의 성격이 "모형 검증 지원"에서 "공동 연구"로 넓어졌습니다. 10월 1일 한은 중간세미나(행원 대상), 10월 26일 주간현안포럼(총재님·임원진 보고)이 확정됐고, 공동 논문을 협의 중입니다.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81728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석 달의 흐름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56048"/>
            <a:ext cx="1691640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5029200"/>
            <a:ext cx="15270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6월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5321808"/>
            <a:ext cx="152704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"/>
                <a:ea typeface="NanumSquare"/>
              </a:rPr>
              <a:t>착수 — 한은 현행 시스템을 실시간 데이터로 재현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4956048"/>
            <a:ext cx="1691640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5456" y="5029200"/>
            <a:ext cx="15270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7월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5456" y="5321808"/>
            <a:ext cx="152704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"/>
                <a:ea typeface="NanumSquare"/>
              </a:rPr>
              <a:t>국면전환 연구 — 성능 최고였으나 채택 보류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956048"/>
            <a:ext cx="1691640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5" y="5029200"/>
            <a:ext cx="15270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8월 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5" y="5321808"/>
            <a:ext cx="152704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"/>
                <a:ea typeface="NanumSquare"/>
              </a:rPr>
              <a:t>한은 채점 개정 — 당일 전면 재검증 대응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199" y="4956048"/>
            <a:ext cx="1691640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5" y="5029200"/>
            <a:ext cx="15270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8월 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5" y="5321808"/>
            <a:ext cx="152704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"/>
                <a:ea typeface="NanumSquare"/>
              </a:rPr>
              <a:t>적응학습(LoRA) 실증 — 32분기 최고 기록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4956048"/>
            <a:ext cx="1691640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5" y="5029200"/>
            <a:ext cx="15270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9월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9015" y="5321808"/>
            <a:ext cx="152704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"/>
                <a:ea typeface="NanumSquare"/>
              </a:rPr>
              <a:t>결과 합의(3일 회의) · 본 보고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39" y="4956048"/>
            <a:ext cx="1691640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3535" y="5029200"/>
            <a:ext cx="15270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10월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3535" y="5321808"/>
            <a:ext cx="1527048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"/>
                <a:ea typeface="NanumSquare"/>
              </a:rPr>
              <a:t>중간세미나(1일) · 총재님 보고(26일)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6B6B6B"/>
                </a:solidFill>
                <a:latin typeface="NanumSquare"/>
                <a:ea typeface="NanumSquare"/>
              </a:rPr>
              <a:t>주: 채점 규약(전 장 공통): 각 시점에 실제 존재했던 데이터만 사용(실시간 빈티지) · 정답 = GDP 속보치 · 발표 19주 전부터 매주 예측 · 2018~2025년 32개 분기 · RMSE(평균제곱근오차) — 낮을수록 정확.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6B6B6B"/>
                </a:solidFill>
                <a:latin typeface="NanumSquare"/>
                <a:ea typeface="NanumSquare"/>
              </a:rPr>
              <a:t>2  |  일하는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50" b="1">
                <a:solidFill>
                  <a:srgbClr val="243447"/>
                </a:solidFill>
                <a:latin typeface="NanumSquare"/>
                <a:ea typeface="NanumSquare"/>
              </a:rPr>
              <a:t>저장소 하나를 가운데 두고 일했습니다 — 데이터, 코드, 결과가 모두 커밋으로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de_col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309360" cy="3769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417320"/>
            <a:ext cx="46177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40" b="1">
                <a:solidFill>
                  <a:srgbClr val="243447"/>
                </a:solidFill>
                <a:latin typeface="NanumSquare"/>
                <a:ea typeface="NanumSquare"/>
              </a:rPr>
              <a:t>실제 장면 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874519"/>
            <a:ext cx="41148" cy="1170432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44348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62626"/>
                </a:solidFill>
                <a:latin typeface="NanumSquare"/>
                <a:ea typeface="NanumSquare"/>
              </a:rPr>
              <a:t>한은이 채점 코드의 결함을 스스로 개정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185415"/>
            <a:ext cx="44348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>
                <a:solidFill>
                  <a:srgbClr val="6B6B6B"/>
                </a:solidFill>
                <a:latin typeface="NanumSquare"/>
                <a:ea typeface="NanumSquare"/>
              </a:rPr>
              <a:t>당사는 당일로 40여 개 모형을 전부 다시 채점해 회신했습니다. 당사의 종전 최고 기록이 무효가 되는 것도 함께 공개했습니다.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3246120"/>
            <a:ext cx="41148" cy="1170432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3246120"/>
            <a:ext cx="44348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62626"/>
                </a:solidFill>
                <a:latin typeface="NanumSquare"/>
                <a:ea typeface="NanumSquare"/>
              </a:rPr>
              <a:t>한은이 새 실험 코드 3만 7천 줄을 커밋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557015"/>
            <a:ext cx="44348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>
                <a:solidFill>
                  <a:srgbClr val="6B6B6B"/>
                </a:solidFill>
                <a:latin typeface="NanumSquare"/>
                <a:ea typeface="NanumSquare"/>
              </a:rPr>
              <a:t>당사가 이튿날 핵심 진단을 재현하고, 사흘 만에 한은이 제안만 했던 적응학습을 첫 실증으로 답했습니다.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4617720"/>
            <a:ext cx="41148" cy="1170432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4617720"/>
            <a:ext cx="44348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62626"/>
                </a:solidFill>
                <a:latin typeface="NanumSquare"/>
                <a:ea typeface="NanumSquare"/>
              </a:rPr>
              <a:t>당사 종합리포트를 한은이 자기 저장소에 커밋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928616"/>
            <a:ext cx="44348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>
                <a:solidFill>
                  <a:srgbClr val="6B6B6B"/>
                </a:solidFill>
                <a:latin typeface="NanumSquare"/>
                <a:ea typeface="NanumSquare"/>
              </a:rPr>
              <a:t>산출물이 고객의 공식 기록으로 편입됐습니다 — 문서가 아니라 커밋으로 받은 수신 확인입니다.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89320"/>
            <a:ext cx="41148" cy="41148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53328"/>
            <a:ext cx="10698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이 틀 — ① 데이터 기준(빈티지) 통일  ② 전처리 코드 공유  ③ 상호 재현 저장소 — 은 고객과 과제가 달라져도 그대로 쓸 수 있는 FDE 협업 템플릿입니다.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6B6B6B"/>
                </a:solidFill>
                <a:latin typeface="NanumSquare"/>
                <a:ea typeface="NanumSquare"/>
              </a:rPr>
              <a:t>주: 빈티지(vintage) = 각 시점에 실제로 존재했던 데이터의 스냅샷 — 나중에 개정된 값을 미리 쓰는 착시를 차단. 당사 저장소 커밋 90여 건(6~9월).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6B6B6B"/>
                </a:solidFill>
                <a:latin typeface="NanumSquare"/>
                <a:ea typeface="NanumSquare"/>
              </a:rPr>
              <a:t>3  | 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50" b="1">
                <a:solidFill>
                  <a:srgbClr val="243447"/>
                </a:solidFill>
                <a:latin typeface="NanumSquare"/>
                <a:ea typeface="NanumSquare"/>
              </a:rPr>
              <a:t>기존 모형 대비 오차 2.3% 개선 — "확정 우위"가 아니라 "개선 방향"으로 보고했습니다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eo_fina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6858000" cy="32931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00600"/>
            <a:ext cx="6583680" cy="1051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92040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NanumSquare"/>
                <a:ea typeface="NanumSquare"/>
              </a:rPr>
              <a:t>"분기 초 6주"란 — </a:t>
            </a: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공식 월간통계는 약 한 달 늦게 나오므로, 분기가 시작되고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6주 동안은 그 분기의 통계가 한 건도 없습니다. 통계 기반 모형이 힘을 못 쓰는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이 "지표 공백" 구간에만 파운데이션 모델을 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554480"/>
            <a:ext cx="41148" cy="19659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554480"/>
            <a:ext cx="402335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최종 구성 (말로 풀면)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평소에는 한은의 XGBoost(트리 기반 머신러닝) 모형을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그대로 쓰고, 분기 초 6주만 파운데이션 모델로 교대.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적응 사례가 12분기 넘게 쌓인 뒤에는 적응학습(LoRA)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부품으로 업그레이드합니다.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3794760"/>
            <a:ext cx="41148" cy="210312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94760"/>
            <a:ext cx="4023359" cy="2103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왜 "개선 방향"까지만 말하나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표본이 32개 분기뿐이라 이 크기의 차이는 통계적으로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확정할 수 없습니다 (Diebold-Mariano 검정, 두 모형의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예측력 차이 검정 — p=0.185). 한은에도 같은 수위로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보고했고, 이 정직한 수위가 신뢰의 바탕이 됐습니다.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6B6B6B"/>
                </a:solidFill>
                <a:latin typeface="NanumSquare"/>
                <a:ea typeface="NanumSquare"/>
              </a:rPr>
              <a:t>주: 채점 규약(전 장 공통): 각 시점에 실제 존재했던 데이터만 사용(실시간 빈티지) · 정답 = GDP 속보치 · 발표 19주 전부터 매주 예측 · 2018~2025년 32개 분기 · RMSE(평균제곱근오차) — 낮을수록 정확.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6B6B6B"/>
                </a:solidFill>
                <a:latin typeface="NanumSquare"/>
                <a:ea typeface="NanumSquare"/>
              </a:rPr>
              <a:t>4  |  기술 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50" b="1">
                <a:solidFill>
                  <a:srgbClr val="243447"/>
                </a:solidFill>
                <a:latin typeface="NanumSquare"/>
                <a:ea typeface="NanumSquare"/>
              </a:rPr>
              <a:t>파운데이션 모델을 쓰는 두 가지 방법 — 즉석 사용과 가벼운 적응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파운데이션 모델(foundation model) = 세계 각국의 시계열 수백만 개로 미리 학습해 둔 범용 예측 모델. 이번에는 Chronos-2(아마존)와 BISTRO(국제결제은행 BIS의 거시경제 특화 모델) 두 개를 같은 조건으로 실측했습니다.</a:t>
            </a:r>
          </a:p>
        </p:txBody>
      </p:sp>
      <p:pic>
        <p:nvPicPr>
          <p:cNvPr id="6" name="Picture 5" descr="icl_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6217920" cy="43586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1965960"/>
            <a:ext cx="41148" cy="182880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65960"/>
            <a:ext cx="4617720" cy="1828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왜 적응이 필요했나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즉석 사용만으로는 새 지표가 발표돼도 예측이 잘 바뀌지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않는 문제가 있었습니다 (한은이 먼저 지적한 현상).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가볍게 적응시키자 이 문제가 크게 줄었고, 두 모델 모두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오차가 6~9% 개선됐습니다.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114800"/>
            <a:ext cx="41148" cy="201168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114800"/>
            <a:ext cx="4617720" cy="2011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380" b="1">
                <a:solidFill>
                  <a:srgbClr val="B0532F"/>
                </a:solidFill>
                <a:latin typeface="NanumSquare"/>
                <a:ea typeface="NanumSquare"/>
              </a:rPr>
              <a:t>과적합(문제 암기)을 막는 안전장치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· 같은 학습을 3회 반복해 평균만 신뢰 (운 좋은 1회 배제)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· 학습에 쓴 분기는 채점에서 제외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· 사례가 12분기 넘게 쌓인 뒤에만 사용 — 그 전에는</a:t>
            </a:r>
          </a:p>
          <a:p>
            <a:pPr algn="l">
              <a:spcAft>
                <a:spcPts val="25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  오히려 나빠진다는 것을 실측으로 확인한 규칙입니다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6B6B6B"/>
                </a:solidFill>
                <a:latin typeface="NanumSquare"/>
                <a:ea typeface="NanumSquare"/>
              </a:rPr>
              <a:t>주: ICL(In-Context Learning·문맥 내 학습) · LoRA(Low-Rank Adaptation·저계수 적응). 학습 데이터는 모두 "그 시점에 알 수 있던 값"만 사용 — 미래 정보 유입 원천 차단.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1">
                <a:solidFill>
                  <a:srgbClr val="6B6B6B"/>
                </a:solidFill>
                <a:latin typeface="NanumSquare"/>
                <a:ea typeface="NanumSquare"/>
              </a:rPr>
              <a:t>5  | 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50" b="1">
                <a:solidFill>
                  <a:srgbClr val="243447"/>
                </a:solidFill>
                <a:latin typeface="NanumSquare"/>
                <a:ea typeface="NanumSquare"/>
              </a:rPr>
              <a:t>10월, 한국은행의 공식 무대 두 곳에 섭니다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71600"/>
            <a:ext cx="41148" cy="91440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99032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40" b="1">
                <a:solidFill>
                  <a:srgbClr val="243447"/>
                </a:solidFill>
                <a:latin typeface="NanumSquare"/>
                <a:ea typeface="NanumSquare"/>
              </a:rPr>
              <a:t>확정 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99032"/>
            <a:ext cx="8595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10월 1일 중간세미나(행원 대상) · 10월 26일 주간현안포럼(총재님·임원진 보고) — 9월 3일 회의에서 결과 합의와 함께 확정된 일정입니다. 세미나 자료는 당사가 초안을 만들어 사전 공유합니다.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41148" cy="91440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599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40" b="1">
                <a:solidFill>
                  <a:srgbClr val="243447"/>
                </a:solidFill>
                <a:latin typeface="NanumSquare"/>
                <a:ea typeface="NanumSquare"/>
              </a:rPr>
              <a:t>공동 논문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14599"/>
            <a:ext cx="8595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"사전학습 시계열 모델은 언제 가치를 더하는가" — 실측으로 확인한 기여 5건에 적응학습 장(章)을 더해, 한은 워킹페이퍼를 먼저 내고 국제 학술지에 투고하는 구도로 협의 중입니다.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02735"/>
            <a:ext cx="41148" cy="91440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7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40" b="1">
                <a:solidFill>
                  <a:srgbClr val="243447"/>
                </a:solidFill>
                <a:latin typeface="NanumSquare"/>
                <a:ea typeface="NanumSquare"/>
              </a:rPr>
              <a:t>협업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630167"/>
            <a:ext cx="8595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한은이 먼저 제안한 적응학습 공동 연구의 역할 분담을 협의 중 — 당사는 Chronos-2 트랙과 적응 안정화를 맡는 방향입니다.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18303"/>
            <a:ext cx="41148" cy="91440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45736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40" b="1">
                <a:solidFill>
                  <a:srgbClr val="243447"/>
                </a:solidFill>
                <a:latin typeface="NanumSquare"/>
                <a:ea typeface="NanumSquare"/>
              </a:rPr>
              <a:t>FDE 틀의 재사용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745736"/>
            <a:ext cx="8595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262626"/>
                </a:solidFill>
                <a:latin typeface="NanumSquare"/>
                <a:ea typeface="NanumSquare"/>
              </a:rPr>
              <a:t>이번에 검증한 협업 틀(데이터 기준 통일 → 전처리 코드 공유 → 상호 재현 저장소)은 고객과 과제가 달라져도 그대로 쓸 수 있습니다 — 전사 FDE 사례로 일반화할 수 있는 자산입니다.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출발점이었던 "모델 해석 질의"에 3개월 만에 실측과 개선으로 답했고, 이제 고객의 공식 일정에 함께 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6B6B6B"/>
                </a:solidFill>
                <a:latin typeface="NanumSquare"/>
                <a:ea typeface="NanumSquare"/>
              </a:rPr>
              <a:t>주: 채점 규약(전 장 공통): 각 시점에 실제 존재했던 데이터만 사용(실시간 빈티지) · 정답 = GDP 속보치 · 발표 19주 전부터 매주 예측 · 2018~2025년 32개 분기 · RMSE(평균제곱근오차) — 낮을수록 정확.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