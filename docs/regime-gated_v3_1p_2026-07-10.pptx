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118872"/>
            <a:ext cx="11521440" cy="47548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F3B5C"/>
                </a:solidFill>
                <a:latin typeface="Apple SD Gothic Neo"/>
                <a:ea typeface="Apple SD Gothic Neo"/>
              </a:rPr>
              <a:t>regime-gated v3 — 반등 국면에 딥러닝(TTM) 결합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20040" y="576072"/>
            <a:ext cx="11521440" cy="34747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A5A5A"/>
                </a:solidFill>
                <a:latin typeface="Apple SD Gothic Neo"/>
                <a:ea typeface="Apple SD Gothic Neo"/>
              </a:rPr>
              <a:t>매 </a:t>
            </a:r>
            <a:r>
              <a:rPr sz="1200" b="1">
                <a:solidFill>
                  <a:srgbClr val="E06B1F"/>
                </a:solidFill>
                <a:latin typeface="Apple SD Gothic Neo"/>
                <a:ea typeface="Apple SD Gothic Neo"/>
              </a:rPr>
              <a:t>분기</a:t>
            </a:r>
            <a:r>
              <a:rPr sz="1200" b="0">
                <a:solidFill>
                  <a:srgbClr val="5A5A5A"/>
                </a:solidFill>
                <a:latin typeface="Apple SD Gothic Neo"/>
                <a:ea typeface="Apple SD Gothic Neo"/>
              </a:rPr>
              <a:t>, 판정 구조는 v2와 동일(선판정→후예측, vintage-safe).  v3 = </a:t>
            </a:r>
            <a:r>
              <a:rPr sz="1200" b="1">
                <a:solidFill>
                  <a:srgbClr val="6A4CA8"/>
                </a:solidFill>
                <a:latin typeface="Apple SD Gothic Neo"/>
                <a:ea typeface="Apple SD Gothic Neo"/>
              </a:rPr>
              <a:t>반등 국면 예측을 DFM 단독 → (DFM+TTM)/2로 교체 — DL이 정확도에 기여하는 첫 구성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005840"/>
            <a:ext cx="6446520" cy="1024128"/>
          </a:xfrm>
          <a:prstGeom prst="roundRect">
            <a:avLst/>
          </a:prstGeom>
          <a:solidFill>
            <a:srgbClr val="DCE9F7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B5C"/>
                </a:solidFill>
                <a:latin typeface="Apple SD Gothic Neo"/>
                <a:ea typeface="Apple SD Gothic Neo"/>
              </a:rPr>
              <a:t>① 준비 — 분기 q 시작 시 1번, 예측하기 전에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pple SD Gothic Neo"/>
                <a:ea typeface="Apple SD Gothic Neo"/>
              </a:rPr>
              <a:t>재료: DFM · XGBoost · RF 예측 (매 전망주차 w−19~−1)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pple SD Gothic Neo"/>
                <a:ea typeface="Apple SD Gothic Neo"/>
              </a:rPr>
              <a:t>판정 입력:  flash(q−1) 직전 분기 속보치 | vol(q)=std(직전 4분기 flash)</a:t>
            </a:r>
          </a:p>
          <a:p>
            <a:pPr algn="l">
              <a:spcAft>
                <a:spcPts val="200"/>
              </a:spcAft>
            </a:pPr>
            <a:r>
              <a:rPr sz="1000" b="0">
                <a:solidFill>
                  <a:srgbClr val="222222"/>
                </a:solidFill>
                <a:latin typeface="Apple SD Gothic Neo"/>
                <a:ea typeface="Apple SD Gothic Neo"/>
              </a:rPr>
              <a:t>θ(q)=과거 vol들의 중앙값(확장창) | S=월별 심리지표(ESI, 분기 시작 전월까지)</a:t>
            </a:r>
          </a:p>
        </p:txBody>
      </p:sp>
      <p:sp>
        <p:nvSpPr>
          <p:cNvPr id="5" name="Down Arrow 4"/>
          <p:cNvSpPr/>
          <p:nvPr/>
        </p:nvSpPr>
        <p:spPr>
          <a:xfrm>
            <a:off x="3424428" y="2057400"/>
            <a:ext cx="237744" cy="182880"/>
          </a:xfrm>
          <a:prstGeom prst="downArrow">
            <a:avLst/>
          </a:prstGeom>
          <a:solidFill>
            <a:srgbClr val="1F3B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249424"/>
            <a:ext cx="6446520" cy="29260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1F3B5C"/>
                </a:solidFill>
                <a:latin typeface="Apple SD Gothic Neo"/>
                <a:ea typeface="Apple SD Gothic Neo"/>
              </a:rPr>
              <a:t>② 판정 — 위에서부터 순서대로, 먼저 걸리는 국면 적용 </a:t>
            </a:r>
            <a:r>
              <a:rPr sz="950" b="0">
                <a:solidFill>
                  <a:srgbClr val="5A5A5A"/>
                </a:solidFill>
                <a:latin typeface="Apple SD Gothic Neo"/>
                <a:ea typeface="Apple SD Gothic Neo"/>
              </a:rPr>
              <a:t>(순서가 핵심: 반등 분기는 vol도 높아 ②에 걸리므로 ①을 먼저)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578608"/>
            <a:ext cx="3977639" cy="896112"/>
          </a:xfrm>
          <a:prstGeom prst="roundRect">
            <a:avLst/>
          </a:prstGeom>
          <a:solidFill>
            <a:srgbClr val="E2DAF2"/>
          </a:solidFill>
          <a:ln w="1905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6A4CA8"/>
                </a:solidFill>
                <a:latin typeface="Apple SD Gothic Neo"/>
                <a:ea typeface="Apple SD Gothic Neo"/>
              </a:rPr>
              <a:t>1) REBOUND (반등)?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Apple SD Gothic Neo"/>
                <a:ea typeface="Apple SD Gothic Neo"/>
              </a:rPr>
              <a:t>flash(q−1) &lt; 0  AND  심리 저점통과(S_last &gt; S_min, 저점이 마지막 달 이전)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343399" y="2889503"/>
            <a:ext cx="256032" cy="274320"/>
          </a:xfrm>
          <a:prstGeom prst="rightArrow">
            <a:avLst/>
          </a:prstGeom>
          <a:solidFill>
            <a:srgbClr val="6A4C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645151" y="2578608"/>
            <a:ext cx="2093976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Apple SD Gothic Neo"/>
                <a:ea typeface="Apple SD Gothic Neo"/>
              </a:rPr>
              <a:t>ŷ = (DFM+TTM)/2</a:t>
            </a:r>
          </a:p>
          <a:p>
            <a:pPr algn="ctr">
              <a:spcAft>
                <a:spcPts val="200"/>
              </a:spcAft>
            </a:pPr>
            <a:r>
              <a:rPr sz="1000" b="1">
                <a:solidFill>
                  <a:srgbClr val="6A4CA8"/>
                </a:solidFill>
                <a:latin typeface="Apple SD Gothic Neo"/>
                <a:ea typeface="Apple SD Gothic Neo"/>
              </a:rPr>
              <a:t>사전학습 DL 결합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22960" y="3474720"/>
            <a:ext cx="182880" cy="146304"/>
          </a:xfrm>
          <a:prstGeom prst="down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3456432"/>
            <a:ext cx="1097280" cy="20116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A5A5A"/>
                </a:solidFill>
                <a:latin typeface="Apple SD Gothic Neo"/>
                <a:ea typeface="Apple SD Gothic Neo"/>
              </a:rPr>
              <a:t>NO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3639312"/>
            <a:ext cx="3977639" cy="896112"/>
          </a:xfrm>
          <a:prstGeom prst="roundRect">
            <a:avLst/>
          </a:prstGeom>
          <a:solidFill>
            <a:srgbClr val="FCE4D6"/>
          </a:solidFill>
          <a:ln w="19050">
            <a:solidFill>
              <a:srgbClr val="E0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E06B1F"/>
                </a:solidFill>
                <a:latin typeface="Apple SD Gothic Neo"/>
                <a:ea typeface="Apple SD Gothic Neo"/>
              </a:rPr>
              <a:t>2) SHOCK (충격)?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Apple SD Gothic Neo"/>
                <a:ea typeface="Apple SD Gothic Neo"/>
              </a:rPr>
              <a:t>vol(q) &gt; θ(q)   — 최근 4분기 출렁임이 평소 중앙값보다 큼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43399" y="3950208"/>
            <a:ext cx="256032" cy="274320"/>
          </a:xfrm>
          <a:prstGeom prst="rightArrow">
            <a:avLst/>
          </a:prstGeom>
          <a:solidFill>
            <a:srgbClr val="E06B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45151" y="3639312"/>
            <a:ext cx="2093976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06B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Apple SD Gothic Neo"/>
                <a:ea typeface="Apple SD Gothic Neo"/>
              </a:rPr>
              <a:t>ŷ = (DFM+XGBoost)/2</a:t>
            </a:r>
          </a:p>
        </p:txBody>
      </p:sp>
      <p:sp>
        <p:nvSpPr>
          <p:cNvPr id="15" name="Down Arrow 14"/>
          <p:cNvSpPr/>
          <p:nvPr/>
        </p:nvSpPr>
        <p:spPr>
          <a:xfrm>
            <a:off x="822960" y="4535424"/>
            <a:ext cx="182880" cy="146304"/>
          </a:xfrm>
          <a:prstGeom prst="downArrow">
            <a:avLst/>
          </a:prstGeom>
          <a:solidFill>
            <a:srgbClr val="5A5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517136"/>
            <a:ext cx="1097280" cy="20116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1">
                <a:solidFill>
                  <a:srgbClr val="5A5A5A"/>
                </a:solidFill>
                <a:latin typeface="Apple SD Gothic Neo"/>
                <a:ea typeface="Apple SD Gothic Neo"/>
              </a:rP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4700016"/>
            <a:ext cx="3977639" cy="896112"/>
          </a:xfrm>
          <a:prstGeom prst="roundRect">
            <a:avLst/>
          </a:prstGeom>
          <a:solidFill>
            <a:srgbClr val="DFF0D8"/>
          </a:solidFill>
          <a:ln w="19050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3E8E41"/>
                </a:solidFill>
                <a:latin typeface="Apple SD Gothic Neo"/>
                <a:ea typeface="Apple SD Gothic Neo"/>
              </a:rPr>
              <a:t>3) CALM (평온)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222222"/>
                </a:solidFill>
                <a:latin typeface="Apple SD Gothic Neo"/>
                <a:ea typeface="Apple SD Gothic Neo"/>
              </a:rPr>
              <a:t>위 둘 다 아니면 전부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343399" y="5010912"/>
            <a:ext cx="256032" cy="274320"/>
          </a:xfrm>
          <a:prstGeom prst="rightArrow">
            <a:avLst/>
          </a:prstGeom>
          <a:solidFill>
            <a:srgbClr val="3E8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45151" y="4700016"/>
            <a:ext cx="2093976" cy="8961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E8E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222222"/>
                </a:solidFill>
                <a:latin typeface="Apple SD Gothic Neo"/>
                <a:ea typeface="Apple SD Gothic Neo"/>
              </a:rPr>
              <a:t>ŷ = (DFM+RF)/2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687568"/>
            <a:ext cx="644652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1">
                <a:solidFill>
                  <a:srgbClr val="1F3B5C"/>
                </a:solidFill>
                <a:latin typeface="Apple SD Gothic Neo"/>
                <a:ea typeface="Apple SD Gothic Neo"/>
              </a:rPr>
              <a:t>적용: </a:t>
            </a: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</a:rPr>
              <a:t>판정된 국면은 그 분기의 모든 주차 예측(19개)에 동일 적용, 다음 분기에 재판정.  </a:t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F3B5C"/>
                </a:solidFill>
                <a:latin typeface="Apple SD Gothic Neo"/>
                <a:ea typeface="Apple SD Gothic Neo"/>
              </a:rPr>
              <a:t>예외: </a:t>
            </a:r>
            <a:r>
              <a:rPr sz="1050" b="0">
                <a:solidFill>
                  <a:srgbClr val="222222"/>
                </a:solidFill>
                <a:latin typeface="Apple SD Gothic Neo"/>
                <a:ea typeface="Apple SD Gothic Neo"/>
              </a:rPr>
              <a:t>과거 vol 2개 미만→SHOCK 처리 | 심리 3개월 미만 or flash(q−1) 미발표→REBOUND 불성립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67728" y="1005840"/>
            <a:ext cx="4892040" cy="181051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A4C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6A4CA8"/>
                </a:solidFill>
                <a:latin typeface="Apple SD Gothic Neo"/>
                <a:ea typeface="Apple SD Gothic Neo"/>
              </a:rPr>
              <a:t>TTM이란 — 반등 arm에 들어간 딥러닝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Apple SD Gothic Neo"/>
                <a:ea typeface="Apple SD Gothic Neo"/>
              </a:rPr>
              <a:t>IBM Tiny Time Mixers (NeurIPS 2024) — 공개 시계열 수억 샘플로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Apple SD Gothic Neo"/>
                <a:ea typeface="Apple SD Gothic Neo"/>
              </a:rPr>
              <a:t>사전학습한 소형 모델(수백만 파라미터, CPU 구동).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Apple SD Gothic Neo"/>
                <a:ea typeface="Apple SD Gothic Neo"/>
              </a:rPr>
              <a:t>우리 데이터로는 분기별 few-shot 미세조정만 수행 → 소표본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5A5A"/>
                </a:solidFill>
                <a:latin typeface="Apple SD Gothic Neo"/>
                <a:ea typeface="Apple SD Gothic Neo"/>
              </a:rPr>
              <a:t>과적합 회피 (처음부터 학습한 DL 5종 전패와 대비)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222222"/>
                </a:solidFill>
                <a:latin typeface="Apple SD Gothic Neo"/>
                <a:ea typeface="Apple SD Gothic Neo"/>
              </a:rPr>
              <a:t>검증: DL 단독 최초로 DFM 돌파(0.854 &lt; 0.865),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222222"/>
                </a:solidFill>
                <a:latin typeface="Apple SD Gothic Neo"/>
                <a:ea typeface="Apple SD Gothic Neo"/>
              </a:rPr>
              <a:t>반등 6분기 DFM+TTM 0.607 &lt; DFM 단독 0.621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5A5A5A"/>
                </a:solidFill>
                <a:latin typeface="Apple SD Gothic Neo"/>
                <a:ea typeface="Apple SD Gothic Neo"/>
              </a:rPr>
              <a:t>(DFM 값 승계 주차 4% 제외 실외삽 구간에서도 우위 확인)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2926080"/>
            <a:ext cx="4892040" cy="14813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A7EB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150" b="1">
                <a:solidFill>
                  <a:srgbClr val="1F3B5C"/>
                </a:solidFill>
                <a:latin typeface="Apple SD Gothic Neo"/>
                <a:ea typeface="Apple SD Gothic Neo"/>
              </a:rPr>
              <a:t>성과 (flash w[−19,−1] 평균 RMSE, 2018Q1–2025Q4)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077456" y="3218688"/>
          <a:ext cx="4672582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4600"/>
                <a:gridCol w="1078991"/>
                <a:gridCol w="1078991"/>
              </a:tblGrid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게이트 구성</a:t>
                      </a: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전체 32Q</a:t>
                      </a: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</a:rPr>
                        <a:t>반등 6Q</a:t>
                      </a:r>
                    </a:p>
                  </a:txBody>
                  <a:tcPr marL="36576" marR="36576" marT="9144" marB="9144">
                    <a:solidFill>
                      <a:srgbClr val="1F3B5C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v3 (반등→DFM+TTM)</a:t>
                      </a:r>
                    </a:p>
                  </a:txBody>
                  <a:tcPr marL="36576" marR="36576" marT="9144" marB="9144">
                    <a:solidFill>
                      <a:srgbClr val="E2D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0.7178</a:t>
                      </a:r>
                    </a:p>
                  </a:txBody>
                  <a:tcPr marL="36576" marR="36576" marT="9144" marB="9144">
                    <a:solidFill>
                      <a:srgbClr val="E2DA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0.607</a:t>
                      </a:r>
                    </a:p>
                  </a:txBody>
                  <a:tcPr marL="36576" marR="36576" marT="9144" marB="9144">
                    <a:solidFill>
                      <a:srgbClr val="E2DAF2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v2 (반등→DFM 단독)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0.7219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0.621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  <a:tr h="265176"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DFM+XGBoost (기존 최고)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0.7650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22222"/>
                          </a:solidFill>
                          <a:latin typeface="Apple SD Gothic Neo"/>
                          <a:ea typeface="Apple SD Gothic Neo"/>
                        </a:rPr>
                        <a:t>0.815</a:t>
                      </a:r>
                    </a:p>
                  </a:txBody>
                  <a:tcPr marL="36576" marR="36576" marT="9144" marB="914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6967728" y="4553712"/>
            <a:ext cx="4892040" cy="1645920"/>
          </a:xfrm>
          <a:prstGeom prst="roundRect">
            <a:avLst/>
          </a:prstGeom>
          <a:solidFill>
            <a:srgbClr val="FFF3CD"/>
          </a:solidFill>
          <a:ln w="19050">
            <a:solidFill>
              <a:srgbClr val="D4A01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222222"/>
                </a:solidFill>
                <a:latin typeface="Apple SD Gothic Neo"/>
                <a:ea typeface="Apple SD Gothic Neo"/>
              </a:rPr>
              <a:t>검증 상태 — 유망 후보 (v2 후속)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222222"/>
                </a:solidFill>
                <a:latin typeface="Apple SD Gothic Neo"/>
                <a:ea typeface="Apple SD Gothic Neo"/>
              </a:rPr>
              <a:t>· DM 검정(v3 vs 기존최고 DFM+XGB): p=0.088 — v2(0.099)보다 강화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5A5A"/>
                </a:solidFill>
                <a:latin typeface="Apple SD Gothic Neo"/>
                <a:ea typeface="Apple SD Gothic Neo"/>
              </a:rPr>
              <a:t>  10% 수준 유의, 5%는 미달 (32분기 소표본 한계)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Apple SD Gothic Neo"/>
                <a:ea typeface="Apple SD Gothic Neo"/>
              </a:rPr>
              <a:t>· v2 대비 증분 자체는 비유의(p=0.134) — 누적 개선으로 소통</a:t>
            </a:r>
          </a:p>
          <a:p>
            <a:pPr algn="l">
              <a:spcAft>
                <a:spcPts val="200"/>
              </a:spcAft>
            </a:pPr>
            <a:r>
              <a:rPr sz="980" b="0">
                <a:solidFill>
                  <a:srgbClr val="222222"/>
                </a:solidFill>
                <a:latin typeface="Apple SD Gothic Neo"/>
                <a:ea typeface="Apple SD Gothic Neo"/>
              </a:rPr>
              <a:t>· arm 선택 사후성: v1→v2→v3 모두 성적 관찰 후 구조 선택</a:t>
            </a:r>
          </a:p>
          <a:p>
            <a:pPr algn="l">
              <a:spcAft>
                <a:spcPts val="200"/>
              </a:spcAft>
            </a:pPr>
            <a:r>
              <a:rPr sz="980" b="1">
                <a:solidFill>
                  <a:srgbClr val="222222"/>
                </a:solidFill>
                <a:latin typeface="Apple SD Gothic Neo"/>
                <a:ea typeface="Apple SD Gothic Neo"/>
              </a:rPr>
              <a:t>· 공유 전 필수: TTM 시드·미세조정 에폭·채널 강건성 스윕</a:t>
            </a:r>
          </a:p>
          <a:p>
            <a:pPr algn="l">
              <a:spcAft>
                <a:spcPts val="200"/>
              </a:spcAft>
            </a:pPr>
            <a:r>
              <a:rPr sz="930" b="0">
                <a:solidFill>
                  <a:srgbClr val="5A5A5A"/>
                </a:solidFill>
                <a:latin typeface="Apple SD Gothic Neo"/>
                <a:ea typeface="Apple SD Gothic Neo"/>
              </a:rPr>
              <a:t>· 기각 이력: AttnLSTM·NCDE·D²FM·Hopp·38개국 풀링 — 전수 검증 후 채택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309360"/>
            <a:ext cx="11539728" cy="402336"/>
          </a:xfrm>
          <a:prstGeom prst="rect">
            <a:avLst/>
          </a:prstGeom>
          <a:solidFill>
            <a:srgbClr val="1F3B5C"/>
          </a:solidFill>
          <a:ln w="19050">
            <a:solidFill>
              <a:srgbClr val="1F3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27432" bIns="27432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FFFFFF"/>
                </a:solidFill>
                <a:latin typeface="Apple SD Gothic Neo"/>
                <a:ea typeface="Apple SD Gothic Neo"/>
              </a:rPr>
              <a:t>핵심: 충격기 XGB 보정 · 평온기 RF 보정 · 반등기 사전학습 DL(TTM) — 규칙 게이트 위에 딥러닝이 얹혀 0.765 → 0.718 (−6.2%).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