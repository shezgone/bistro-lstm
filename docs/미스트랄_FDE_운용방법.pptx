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3" r:id="rId3"/>
    <p:sldId id="264" r:id="rId4"/>
    <p:sldId id="268" r:id="rId5"/>
    <p:sldId id="269" r:id="rId6"/>
    <p:sldId id="26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75"/>
  </p:normalViewPr>
  <p:slideViewPr>
    <p:cSldViewPr snapToGrid="0">
      <p:cViewPr varScale="1">
        <p:scale>
          <a:sx n="119" d="100"/>
          <a:sy n="119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54EC4-127B-3603-F3FB-DA51225E4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4DFF0C-64C0-589C-6820-5AB4A9973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008D6C-F0DE-FE58-D857-EEF720153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CE21-C284-9045-AD4B-DF74F00E83D0}" type="datetimeFigureOut">
              <a:rPr kumimoji="1" lang="ko-KR" altLang="en-US" smtClean="0"/>
              <a:t>2026. 8. 7.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A18DD2-2908-5D07-DA91-56A7BDEAB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CF6393-808F-28F7-212D-F382A740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A84FC-A87D-5241-8B72-88F1E8CE99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4438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07B89-5A95-2211-9FDD-1F5753DBB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0DF466-74A0-07A5-529D-7647B37DD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8DAD75-B8FD-340E-4A63-FC3D4D42B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CE21-C284-9045-AD4B-DF74F00E83D0}" type="datetimeFigureOut">
              <a:rPr kumimoji="1" lang="ko-KR" altLang="en-US" smtClean="0"/>
              <a:t>2026. 8. 7.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D4152E-0B3A-0EEB-7864-1BBAC06DE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380CB9-0EF0-1DEB-AE72-43F81E44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A84FC-A87D-5241-8B72-88F1E8CE99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9163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CAB31-E0ED-0AAB-A6F6-73D60BBD4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0CA9AC-2AD5-B9C7-C68B-82E2CDE31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8190F5-406D-7469-9A50-949487926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CE21-C284-9045-AD4B-DF74F00E83D0}" type="datetimeFigureOut">
              <a:rPr kumimoji="1" lang="ko-KR" altLang="en-US" smtClean="0"/>
              <a:t>2026. 8. 7.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237C4B-BD30-E6C6-AF7A-4F23C6873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D284B4-AC8C-D988-4861-143837821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A84FC-A87D-5241-8B72-88F1E8CE99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7470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8938F5-2FC7-67AF-B3F3-380162A1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14FD59-7602-BA6C-6A2C-899221A9E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CCF63A-59CE-73CC-D1FB-33220BC7B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4B8812-7BB1-6148-CBDF-917BBFB36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CE21-C284-9045-AD4B-DF74F00E83D0}" type="datetimeFigureOut">
              <a:rPr kumimoji="1" lang="ko-KR" altLang="en-US" smtClean="0"/>
              <a:t>2026. 8. 7.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57A123-9A47-FB6B-6120-F956A464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7A8AD5-02FC-5B14-905C-4EED762D1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A84FC-A87D-5241-8B72-88F1E8CE99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519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91E2D2-F955-9C1B-D808-0EAEA8C72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C2D413-991F-C054-A9CC-A8D890FE7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B4D0F5-772E-A7F8-87A1-CF273D675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7E02CF-641B-ACA0-1BF6-A9DE308A7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95EA85-AB51-F92F-B020-3FB375E9F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F34B62-A60E-08D8-3DE9-6BC5739D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CE21-C284-9045-AD4B-DF74F00E83D0}" type="datetimeFigureOut">
              <a:rPr kumimoji="1" lang="ko-KR" altLang="en-US" smtClean="0"/>
              <a:t>2026. 8. 7.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528E1AF-5D94-E9D1-0E0E-3057376E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8AF67F-3C9B-D4A2-8FE8-D3F7FB41B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A84FC-A87D-5241-8B72-88F1E8CE99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7017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119486-9D9D-10AE-E998-0901BE92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6CD55D-6F91-B99E-5FDA-4B479DCFD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CE21-C284-9045-AD4B-DF74F00E83D0}" type="datetimeFigureOut">
              <a:rPr kumimoji="1" lang="ko-KR" altLang="en-US" smtClean="0"/>
              <a:t>2026. 8. 7.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2F0142-A2B8-0D7F-7B60-F49E4F50A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161EED-D115-5112-A655-4A101E39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A84FC-A87D-5241-8B72-88F1E8CE99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98608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1D23A4A-97AB-FB74-9925-87ED6CA46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CE21-C284-9045-AD4B-DF74F00E83D0}" type="datetimeFigureOut">
              <a:rPr kumimoji="1" lang="ko-KR" altLang="en-US" smtClean="0"/>
              <a:t>2026. 8. 7.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DD1F85-2E72-1D01-D2B6-F7250567D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58B3F2-7139-FB74-B3E6-5FE515CA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A84FC-A87D-5241-8B72-88F1E8CE99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2184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DAE7A-C4C1-689D-8036-E0430244A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299219-CC67-1CB5-2619-79072A517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C36ED7-2D0F-75F7-BF5F-040B4F9AB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4C1033-2CCF-4053-5AF9-DB88CA21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CE21-C284-9045-AD4B-DF74F00E83D0}" type="datetimeFigureOut">
              <a:rPr kumimoji="1" lang="ko-KR" altLang="en-US" smtClean="0"/>
              <a:t>2026. 8. 7.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46C6EA-9E3E-0A59-34E6-FD35DEDF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3C53DB-9A45-FE60-F3E4-F5817E8F4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A84FC-A87D-5241-8B72-88F1E8CE99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80913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2287F-1BC9-0520-CD83-928CB5AE8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B789030-6EB5-39C8-1C19-C56A693AB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6ECECE-A5B4-4651-305A-56A9CC2D9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8DD88F-ADC2-074F-E16B-E7BF8E10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CE21-C284-9045-AD4B-DF74F00E83D0}" type="datetimeFigureOut">
              <a:rPr kumimoji="1" lang="ko-KR" altLang="en-US" smtClean="0"/>
              <a:t>2026. 8. 7.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C0DED0-F0DF-811B-0354-50D043EB2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473DB6-0B69-D967-47B5-E8C7C9FA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A84FC-A87D-5241-8B72-88F1E8CE99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2002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7DECE-8FD8-D057-14EB-31AEFAD1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A8A53E-28C3-2E2A-4F58-449B703C4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83C2B0-3336-6972-8B70-743F93726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CE21-C284-9045-AD4B-DF74F00E83D0}" type="datetimeFigureOut">
              <a:rPr kumimoji="1" lang="ko-KR" altLang="en-US" smtClean="0"/>
              <a:t>2026. 8. 7.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29BC2D-AD53-7787-4D2B-0EF8E267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750A18-939B-1C90-E418-97D4781E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A84FC-A87D-5241-8B72-88F1E8CE99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22515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20F2962-99E6-B81E-77B8-F62B60D9BA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ADE1CB-F890-0099-AE06-03628499E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7E27C0-3701-3168-73FC-65848CFB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CE21-C284-9045-AD4B-DF74F00E83D0}" type="datetimeFigureOut">
              <a:rPr kumimoji="1" lang="ko-KR" altLang="en-US" smtClean="0"/>
              <a:t>2026. 8. 7.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0D3BBC-8D4D-9818-F36B-CEF2ABC4E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C312C1-8B84-B89B-51BD-B9E49277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A84FC-A87D-5241-8B72-88F1E8CE99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2521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DA4044-62CD-5C7D-FC40-870A1C3C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F40C6F-F858-3C2C-6B3F-63C3FFB77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99DAD8-4AF6-BB96-84D7-064C7856F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CCE21-C284-9045-AD4B-DF74F00E83D0}" type="datetimeFigureOut">
              <a:rPr kumimoji="1" lang="ko-KR" altLang="en-US" smtClean="0"/>
              <a:t>2026. 8. 7.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466CD1-6FF1-E3A9-3F4B-CF46CC9C3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3D9DB2-88FB-BE63-9436-4E8DB8FC6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A84FC-A87D-5241-8B72-88F1E8CE99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7963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ccentBar"/>
          <p:cNvSpPr/>
          <p:nvPr/>
        </p:nvSpPr>
        <p:spPr>
          <a:xfrm>
            <a:off x="889000" y="2095500"/>
            <a:ext cx="127000" cy="17526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01" name="TitleBox"/>
          <p:cNvSpPr/>
          <p:nvPr/>
        </p:nvSpPr>
        <p:spPr>
          <a:xfrm>
            <a:off x="1168400" y="2032000"/>
            <a:ext cx="10160000" cy="838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l">
              <a:buNone/>
            </a:pPr>
            <a:r>
              <a:rPr lang="ko-KR" sz="40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미스트랄은 FDE를 어떻게 굴리는가</a:t>
            </a:r>
          </a:p>
        </p:txBody>
      </p:sp>
      <p:sp>
        <p:nvSpPr>
          <p:cNvPr id="102" name="SubtitleBox"/>
          <p:cNvSpPr/>
          <p:nvPr/>
        </p:nvSpPr>
        <p:spPr>
          <a:xfrm>
            <a:off x="1206500" y="29464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l">
              <a:buNone/>
            </a:pPr>
            <a:r>
              <a:rPr lang="ko-KR" sz="1800" b="1" dirty="0">
                <a:solidFill>
                  <a:srgbClr val="156082"/>
                </a:solidFill>
                <a:latin typeface="NanumSquare Neo Regular" pitchFamily="2" charset="-127"/>
                <a:ea typeface="NanumSquare Neo Regular" pitchFamily="2" charset="-127"/>
              </a:rPr>
              <a:t>‘FDE + Applied Science’ 이중 구조 — 3개 문서 종합 브리핑</a:t>
            </a:r>
          </a:p>
        </p:txBody>
      </p:sp>
      <p:sp>
        <p:nvSpPr>
          <p:cNvPr id="103" name="MetaBox"/>
          <p:cNvSpPr/>
          <p:nvPr/>
        </p:nvSpPr>
        <p:spPr>
          <a:xfrm>
            <a:off x="1206500" y="3429000"/>
            <a:ext cx="1016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/>
          <a:lstStyle/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AX Lab 워크숍 · 토론용 자료</a:t>
            </a:r>
          </a:p>
        </p:txBody>
      </p:sp>
      <p:sp>
        <p:nvSpPr>
          <p:cNvPr id="110" name="Chip1"/>
          <p:cNvSpPr/>
          <p:nvPr/>
        </p:nvSpPr>
        <p:spPr>
          <a:xfrm>
            <a:off x="889000" y="5029200"/>
            <a:ext cx="2006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156082"/>
                </a:solidFill>
                <a:latin typeface="NanumSquare Neo Regular" pitchFamily="2" charset="-127"/>
                <a:ea typeface="NanumSquare Neo Regular" pitchFamily="2" charset="-127"/>
              </a:rPr>
              <a:t>1</a:t>
            </a:r>
          </a:p>
          <a:p>
            <a:pPr algn="ctr">
              <a:buNone/>
            </a:pPr>
            <a:r>
              <a:rPr lang="ko-KR" sz="14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포지셔닝</a:t>
            </a:r>
          </a:p>
        </p:txBody>
      </p:sp>
      <p:sp>
        <p:nvSpPr>
          <p:cNvPr id="111" name="Chip2"/>
          <p:cNvSpPr/>
          <p:nvPr/>
        </p:nvSpPr>
        <p:spPr>
          <a:xfrm>
            <a:off x="3048000" y="5029200"/>
            <a:ext cx="2006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156082"/>
                </a:solidFill>
                <a:latin typeface="NanumSquare Neo Regular" pitchFamily="2" charset="-127"/>
                <a:ea typeface="NanumSquare Neo Regular" pitchFamily="2" charset="-127"/>
              </a:rPr>
              <a:t>2</a:t>
            </a:r>
          </a:p>
          <a:p>
            <a:pPr algn="ctr">
              <a:buNone/>
            </a:pPr>
            <a:r>
              <a:rPr lang="ko-KR" sz="14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유스케이스 선정</a:t>
            </a:r>
          </a:p>
        </p:txBody>
      </p:sp>
      <p:sp>
        <p:nvSpPr>
          <p:cNvPr id="112" name="Chip3"/>
          <p:cNvSpPr/>
          <p:nvPr/>
        </p:nvSpPr>
        <p:spPr>
          <a:xfrm>
            <a:off x="5207000" y="5029200"/>
            <a:ext cx="2006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156082"/>
                </a:solidFill>
                <a:latin typeface="NanumSquare Neo Regular" pitchFamily="2" charset="-127"/>
                <a:ea typeface="NanumSquare Neo Regular" pitchFamily="2" charset="-127"/>
              </a:rPr>
              <a:t>3</a:t>
            </a:r>
          </a:p>
          <a:p>
            <a:pPr algn="ctr">
              <a:buNone/>
            </a:pPr>
            <a:r>
              <a:rPr lang="ko-KR" sz="14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딜리버리 구조</a:t>
            </a:r>
          </a:p>
        </p:txBody>
      </p:sp>
      <p:sp>
        <p:nvSpPr>
          <p:cNvPr id="113" name="Chip4"/>
          <p:cNvSpPr/>
          <p:nvPr/>
        </p:nvSpPr>
        <p:spPr>
          <a:xfrm>
            <a:off x="7366000" y="5029200"/>
            <a:ext cx="2006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156082"/>
                </a:solidFill>
                <a:latin typeface="NanumSquare Neo Regular" pitchFamily="2" charset="-127"/>
                <a:ea typeface="NanumSquare Neo Regular" pitchFamily="2" charset="-127"/>
              </a:rPr>
              <a:t>4</a:t>
            </a:r>
          </a:p>
          <a:p>
            <a:pPr algn="ctr">
              <a:buNone/>
            </a:pPr>
            <a:r>
              <a:rPr lang="ko-KR" sz="14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모델 공동개발</a:t>
            </a:r>
          </a:p>
        </p:txBody>
      </p:sp>
      <p:sp>
        <p:nvSpPr>
          <p:cNvPr id="114" name="Chip5"/>
          <p:cNvSpPr/>
          <p:nvPr/>
        </p:nvSpPr>
        <p:spPr>
          <a:xfrm>
            <a:off x="9525000" y="5029200"/>
            <a:ext cx="2006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156082"/>
                </a:solidFill>
                <a:latin typeface="NanumSquare Neo Regular" pitchFamily="2" charset="-127"/>
                <a:ea typeface="NanumSquare Neo Regular" pitchFamily="2" charset="-127"/>
              </a:rPr>
              <a:t>5</a:t>
            </a:r>
          </a:p>
          <a:p>
            <a:pPr algn="ctr">
              <a:buNone/>
            </a:pPr>
            <a:r>
              <a:rPr lang="ko-KR" sz="14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파트너 트랙</a:t>
            </a:r>
          </a:p>
        </p:txBody>
      </p:sp>
    </p:spTree>
    <p:extLst>
      <p:ext uri="{BB962C8B-B14F-4D97-AF65-F5344CB8AC3E}">
        <p14:creationId xmlns:p14="http://schemas.microsoft.com/office/powerpoint/2010/main" val="780595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679868-ECDE-91C4-EB15-E69323C04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ko-KR" sz="32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① 포지셔닝 — FDE는 플랫폼 맨 위층에 산다</a:t>
            </a:r>
          </a:p>
        </p:txBody>
      </p:sp>
      <p:sp>
        <p:nvSpPr>
          <p:cNvPr id="100" name="LayerRealize"/>
          <p:cNvSpPr/>
          <p:nvPr/>
        </p:nvSpPr>
        <p:spPr>
          <a:xfrm>
            <a:off x="838200" y="1879600"/>
            <a:ext cx="5334000" cy="1219200"/>
          </a:xfrm>
          <a:prstGeom prst="rect">
            <a:avLst/>
          </a:prstGeom>
          <a:solidFill>
            <a:srgbClr val="156082"/>
          </a:solidFill>
          <a:ln w="38100">
            <a:solidFill>
              <a:srgbClr val="E97132"/>
            </a:solidFill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600" b="1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REALIZE — Solutions  (= FDE 서비스가 사는 층)</a:t>
            </a:r>
          </a:p>
          <a:p>
            <a:pPr algn="l">
              <a:buNone/>
            </a:pPr>
            <a:r>
              <a:rPr lang="ko-KR" sz="1400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유스케이스 가속 · 도메인 리서치 · 엔터프라이즈 AI 전환</a:t>
            </a:r>
          </a:p>
        </p:txBody>
      </p:sp>
      <p:sp>
        <p:nvSpPr>
          <p:cNvPr id="101" name="LayerActivate"/>
          <p:cNvSpPr/>
          <p:nvPr/>
        </p:nvSpPr>
        <p:spPr>
          <a:xfrm>
            <a:off x="838200" y="3200400"/>
            <a:ext cx="5334000" cy="9906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6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ACTIVATE — Vibe Work / Vibe Code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AI를 일상 업무·개발에 녹이는 층</a:t>
            </a:r>
          </a:p>
        </p:txBody>
      </p:sp>
      <p:sp>
        <p:nvSpPr>
          <p:cNvPr id="102" name="LayerBuild"/>
          <p:cNvSpPr/>
          <p:nvPr/>
        </p:nvSpPr>
        <p:spPr>
          <a:xfrm>
            <a:off x="838200" y="4292600"/>
            <a:ext cx="5334000" cy="990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6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BUILD — Studio + Forge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모델과 플랫폼, 모든 것의 기반</a:t>
            </a:r>
          </a:p>
        </p:txBody>
      </p:sp>
      <p:sp>
        <p:nvSpPr>
          <p:cNvPr id="110" name="CompHeader"/>
          <p:cNvSpPr/>
          <p:nvPr/>
        </p:nvSpPr>
        <p:spPr>
          <a:xfrm>
            <a:off x="6604000" y="1879600"/>
            <a:ext cx="47498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6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Palantir와 뭐가 다른가?</a:t>
            </a:r>
          </a:p>
        </p:txBody>
      </p:sp>
      <p:sp>
        <p:nvSpPr>
          <p:cNvPr id="111" name="CardPalantir"/>
          <p:cNvSpPr/>
          <p:nvPr/>
        </p:nvSpPr>
        <p:spPr>
          <a:xfrm>
            <a:off x="6604000" y="2336800"/>
            <a:ext cx="4749800" cy="132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8E8"/>
            </a:solidFill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5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Palantir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FDE 딜리버리 모델의 원조 — 단, 모델 레벨 커스터마이징은 약함</a:t>
            </a:r>
          </a:p>
        </p:txBody>
      </p:sp>
      <p:sp>
        <p:nvSpPr>
          <p:cNvPr id="112" name="CardMistral"/>
          <p:cNvSpPr/>
          <p:nvPr/>
        </p:nvSpPr>
        <p:spPr>
          <a:xfrm>
            <a:off x="6604000" y="3784600"/>
            <a:ext cx="4749800" cy="1498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7132"/>
            </a:solidFill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500" b="1" dirty="0">
                <a:solidFill>
                  <a:srgbClr val="E97132"/>
                </a:solidFill>
                <a:latin typeface="NanumSquare Neo Regular" pitchFamily="2" charset="-127"/>
                <a:ea typeface="NanumSquare Neo Regular" pitchFamily="2" charset="-127"/>
              </a:rPr>
              <a:t>Mistral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FDE + Applied AI Scientist 콤보 — 파인튜닝, 공동 모델 개발까지 직접 내려감</a:t>
            </a:r>
          </a:p>
        </p:txBody>
      </p:sp>
      <p:sp>
        <p:nvSpPr>
          <p:cNvPr id="120" name="Takeaway"/>
          <p:cNvSpPr/>
          <p:nvPr/>
        </p:nvSpPr>
        <p:spPr>
          <a:xfrm>
            <a:off x="838200" y="5588000"/>
            <a:ext cx="10515600" cy="6858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pPr algn="ctr">
              <a:buNone/>
            </a:pPr>
            <a:r>
              <a:rPr lang="ko-KR" sz="1500" b="1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한 줄 요약  |  FDE는 독립 SI가 아니라 자사 플랫폼 위에서만 작동 — 그래서 모델까지 같이 만진다</a:t>
            </a:r>
          </a:p>
        </p:txBody>
      </p:sp>
    </p:spTree>
    <p:extLst>
      <p:ext uri="{BB962C8B-B14F-4D97-AF65-F5344CB8AC3E}">
        <p14:creationId xmlns:p14="http://schemas.microsoft.com/office/powerpoint/2010/main" val="2150866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B3B13-E1D0-E6A9-15D1-6A580C165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ko-KR" sz="32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② 유스케이스 선정 — ‘아이코닉’만 고른다</a:t>
            </a:r>
          </a:p>
        </p:txBody>
      </p:sp>
      <p:sp>
        <p:nvSpPr>
          <p:cNvPr id="100" name="CritHeader"/>
          <p:cNvSpPr/>
          <p:nvPr/>
        </p:nvSpPr>
        <p:spPr>
          <a:xfrm>
            <a:off x="838200" y="185420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6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착수 전 체크리스트 — 4가지 전부 충족해야 착수</a:t>
            </a:r>
          </a:p>
        </p:txBody>
      </p:sp>
      <p:sp>
        <p:nvSpPr>
          <p:cNvPr id="101" name="Crit1"/>
          <p:cNvSpPr/>
          <p:nvPr/>
        </p:nvSpPr>
        <p:spPr>
          <a:xfrm>
            <a:off x="838200" y="2336800"/>
            <a:ext cx="2603500" cy="147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500" b="1" dirty="0">
                <a:solidFill>
                  <a:srgbClr val="156082"/>
                </a:solidFill>
                <a:latin typeface="NanumSquare Neo Regular" pitchFamily="2" charset="-127"/>
                <a:ea typeface="NanumSquare Neo Regular" pitchFamily="2" charset="-127"/>
              </a:rPr>
              <a:t>1. 전략적 가치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핵심 비즈니스 프로세스일 것</a:t>
            </a:r>
          </a:p>
        </p:txBody>
      </p:sp>
      <p:sp>
        <p:nvSpPr>
          <p:cNvPr id="102" name="Crit2"/>
          <p:cNvSpPr/>
          <p:nvPr/>
        </p:nvSpPr>
        <p:spPr>
          <a:xfrm>
            <a:off x="3568700" y="2336800"/>
            <a:ext cx="2603500" cy="147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500" b="1" dirty="0">
                <a:solidFill>
                  <a:srgbClr val="156082"/>
                </a:solidFill>
                <a:latin typeface="NanumSquare Neo Regular" pitchFamily="2" charset="-127"/>
                <a:ea typeface="NanumSquare Neo Regular" pitchFamily="2" charset="-127"/>
              </a:rPr>
              <a:t>2. 높은 시급성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경영진 최우선 과제일 것</a:t>
            </a:r>
          </a:p>
        </p:txBody>
      </p:sp>
      <p:sp>
        <p:nvSpPr>
          <p:cNvPr id="103" name="Crit3"/>
          <p:cNvSpPr/>
          <p:nvPr/>
        </p:nvSpPr>
        <p:spPr>
          <a:xfrm>
            <a:off x="838200" y="3937000"/>
            <a:ext cx="2603500" cy="147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500" b="1" dirty="0">
                <a:solidFill>
                  <a:srgbClr val="156082"/>
                </a:solidFill>
                <a:latin typeface="NanumSquare Neo Regular" pitchFamily="2" charset="-127"/>
                <a:ea typeface="NanumSquare Neo Regular" pitchFamily="2" charset="-127"/>
              </a:rPr>
              <a:t>3. 실용성·임팩트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데모 말고, 첫날부터 프로덕션 목표</a:t>
            </a:r>
          </a:p>
        </p:txBody>
      </p:sp>
      <p:sp>
        <p:nvSpPr>
          <p:cNvPr id="104" name="Crit4"/>
          <p:cNvSpPr/>
          <p:nvPr/>
        </p:nvSpPr>
        <p:spPr>
          <a:xfrm>
            <a:off x="3568700" y="3937000"/>
            <a:ext cx="2603500" cy="147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500" b="1" dirty="0">
                <a:solidFill>
                  <a:srgbClr val="156082"/>
                </a:solidFill>
                <a:latin typeface="NanumSquare Neo Regular" pitchFamily="2" charset="-127"/>
                <a:ea typeface="NanumSquare Neo Regular" pitchFamily="2" charset="-127"/>
              </a:rPr>
              <a:t>4. 6개월 룰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6개월 안에 실현 가능할 것</a:t>
            </a:r>
          </a:p>
        </p:txBody>
      </p:sp>
      <p:sp>
        <p:nvSpPr>
          <p:cNvPr id="105" name="ScopeNote"/>
          <p:cNvSpPr/>
          <p:nvPr/>
        </p:nvSpPr>
        <p:spPr>
          <a:xfrm>
            <a:off x="838200" y="5537200"/>
            <a:ext cx="533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스코핑 렌즈 3개: 비즈니스 맥락 · 기술 평가 · ROI</a:t>
            </a:r>
          </a:p>
        </p:txBody>
      </p:sp>
      <p:sp>
        <p:nvSpPr>
          <p:cNvPr id="110" name="MotionHeader"/>
          <p:cNvSpPr/>
          <p:nvPr/>
        </p:nvSpPr>
        <p:spPr>
          <a:xfrm>
            <a:off x="6604000" y="1854200"/>
            <a:ext cx="47498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6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고른 다음엔, 두 모션으로 분류</a:t>
            </a:r>
          </a:p>
        </p:txBody>
      </p:sp>
      <p:sp>
        <p:nvSpPr>
          <p:cNvPr id="111" name="MotionSci"/>
          <p:cNvSpPr/>
          <p:nvPr/>
        </p:nvSpPr>
        <p:spPr>
          <a:xfrm>
            <a:off x="6604000" y="2336800"/>
            <a:ext cx="4749800" cy="14732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500" b="1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Scientific Iconic — 사이언스 문제</a:t>
            </a:r>
          </a:p>
          <a:p>
            <a:pPr algn="l">
              <a:buNone/>
            </a:pPr>
            <a:r>
              <a:rPr lang="ko-KR" sz="1400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범용 모델이 못 푸는 문제 → 커스텀 모델로 (소버린티 · 비용 · 엣지)</a:t>
            </a:r>
          </a:p>
        </p:txBody>
      </p:sp>
      <p:sp>
        <p:nvSpPr>
          <p:cNvPr id="112" name="MotionAgt"/>
          <p:cNvSpPr/>
          <p:nvPr/>
        </p:nvSpPr>
        <p:spPr>
          <a:xfrm>
            <a:off x="6604000" y="3937000"/>
            <a:ext cx="4749800" cy="14732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5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Agentic Iconic — 에이전틱 문제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에이전트가 수작업을 점진 대체 → 효율 · 품질 · 속도 · 리치</a:t>
            </a:r>
          </a:p>
        </p:txBody>
      </p:sp>
      <p:sp>
        <p:nvSpPr>
          <p:cNvPr id="120" name="Takeaway"/>
          <p:cNvSpPr/>
          <p:nvPr/>
        </p:nvSpPr>
        <p:spPr>
          <a:xfrm>
            <a:off x="838200" y="5969000"/>
            <a:ext cx="10515600" cy="4318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pPr algn="ctr">
              <a:buNone/>
            </a:pPr>
            <a:r>
              <a:rPr lang="ko-KR" sz="1500" b="1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한 줄 요약  |  두 모션을 같은 플랫폼 위에서 스프린트로 병행한다</a:t>
            </a:r>
          </a:p>
        </p:txBody>
      </p:sp>
    </p:spTree>
    <p:extLst>
      <p:ext uri="{BB962C8B-B14F-4D97-AF65-F5344CB8AC3E}">
        <p14:creationId xmlns:p14="http://schemas.microsoft.com/office/powerpoint/2010/main" val="329266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2CD489-D75A-BF9C-CF4D-7D7D1DC62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ko-KR" sz="32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③ 실행 — 3단계 딜리버리 × 4인 Pod</a:t>
            </a:r>
          </a:p>
        </p:txBody>
      </p:sp>
      <p:sp>
        <p:nvSpPr>
          <p:cNvPr id="100" name="Phase1"/>
          <p:cNvSpPr/>
          <p:nvPr/>
        </p:nvSpPr>
        <p:spPr>
          <a:xfrm>
            <a:off x="838200" y="1879600"/>
            <a:ext cx="3200400" cy="16002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500" b="1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1. Design  ·  2~4주</a:t>
            </a:r>
          </a:p>
          <a:p>
            <a:pPr algn="l">
              <a:buNone/>
            </a:pPr>
            <a:r>
              <a:rPr lang="ko-KR" sz="1400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스코프 · 경계 · 이해관계자 정의, 목표와 마일스톤 확정</a:t>
            </a:r>
          </a:p>
        </p:txBody>
      </p:sp>
      <p:sp>
        <p:nvSpPr>
          <p:cNvPr id="105" name="Arrow1"/>
          <p:cNvSpPr/>
          <p:nvPr/>
        </p:nvSpPr>
        <p:spPr>
          <a:xfrm>
            <a:off x="4089400" y="2514600"/>
            <a:ext cx="355600" cy="3302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01" name="Phase2"/>
          <p:cNvSpPr/>
          <p:nvPr/>
        </p:nvSpPr>
        <p:spPr>
          <a:xfrm>
            <a:off x="4495800" y="1879600"/>
            <a:ext cx="3200400" cy="16002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500" b="1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2. Delivery (MVP)  ·  3개월 스프린트</a:t>
            </a:r>
          </a:p>
          <a:p>
            <a:pPr algn="l">
              <a:buNone/>
            </a:pPr>
            <a:r>
              <a:rPr lang="ko-KR" sz="1400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우선순위 기반 반복 개발, 체크포인트마다 사용자 · 기술 테스트</a:t>
            </a:r>
          </a:p>
        </p:txBody>
      </p:sp>
      <p:sp>
        <p:nvSpPr>
          <p:cNvPr id="106" name="Arrow2"/>
          <p:cNvSpPr/>
          <p:nvPr/>
        </p:nvSpPr>
        <p:spPr>
          <a:xfrm>
            <a:off x="7747000" y="2514600"/>
            <a:ext cx="355600" cy="3302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02" name="Phase3"/>
          <p:cNvSpPr/>
          <p:nvPr/>
        </p:nvSpPr>
        <p:spPr>
          <a:xfrm>
            <a:off x="8153400" y="1879600"/>
            <a:ext cx="3200400" cy="16002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5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3. Roll-out  ·  약 3개월 [자문]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확산 실행은 고객 몫 — 핸드오버 · 문서화로 지식 이전 마무리</a:t>
            </a:r>
          </a:p>
        </p:txBody>
      </p:sp>
      <p:sp>
        <p:nvSpPr>
          <p:cNvPr id="110" name="PodHeader"/>
          <p:cNvSpPr/>
          <p:nvPr/>
        </p:nvSpPr>
        <p:spPr>
          <a:xfrm>
            <a:off x="838200" y="3683000"/>
            <a:ext cx="1051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6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투입 인력: 프로젝트당 4명 Pod — 고객 ML 엔지니어 · 도메인 전문가와 한 팀</a:t>
            </a:r>
          </a:p>
        </p:txBody>
      </p:sp>
      <p:sp>
        <p:nvSpPr>
          <p:cNvPr id="111" name="Pod1"/>
          <p:cNvSpPr/>
          <p:nvPr/>
        </p:nvSpPr>
        <p:spPr>
          <a:xfrm>
            <a:off x="838200" y="4114800"/>
            <a:ext cx="320040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8E8"/>
            </a:solidFill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500" b="1" dirty="0">
                <a:solidFill>
                  <a:srgbClr val="156082"/>
                </a:solidFill>
                <a:latin typeface="NanumSquare Neo Regular" pitchFamily="2" charset="-127"/>
                <a:ea typeface="NanumSquare Neo Regular" pitchFamily="2" charset="-127"/>
              </a:rPr>
              <a:t>Deployment Specialist  ×1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기술 + 비기술 전체 리딩, 프로젝트의 얼굴</a:t>
            </a:r>
          </a:p>
        </p:txBody>
      </p:sp>
      <p:sp>
        <p:nvSpPr>
          <p:cNvPr id="112" name="Pod2"/>
          <p:cNvSpPr/>
          <p:nvPr/>
        </p:nvSpPr>
        <p:spPr>
          <a:xfrm>
            <a:off x="4495800" y="4114800"/>
            <a:ext cx="320040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8E8"/>
            </a:solidFill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500" b="1" dirty="0">
                <a:solidFill>
                  <a:srgbClr val="156082"/>
                </a:solidFill>
                <a:latin typeface="NanumSquare Neo Regular" pitchFamily="2" charset="-127"/>
                <a:ea typeface="NanumSquare Neo Regular" pitchFamily="2" charset="-127"/>
              </a:rPr>
              <a:t>Applied AI Engineer  ×1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엔드투엔드 애플리케이션 구축 담당</a:t>
            </a:r>
          </a:p>
        </p:txBody>
      </p:sp>
      <p:sp>
        <p:nvSpPr>
          <p:cNvPr id="113" name="Pod3"/>
          <p:cNvSpPr/>
          <p:nvPr/>
        </p:nvSpPr>
        <p:spPr>
          <a:xfrm>
            <a:off x="8153400" y="4114800"/>
            <a:ext cx="320040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7132"/>
            </a:solidFill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500" b="1" dirty="0">
                <a:solidFill>
                  <a:srgbClr val="E97132"/>
                </a:solidFill>
                <a:latin typeface="NanumSquare Neo Regular" pitchFamily="2" charset="-127"/>
                <a:ea typeface="NanumSquare Neo Regular" pitchFamily="2" charset="-127"/>
              </a:rPr>
              <a:t>Applied AI Scientist  ×2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사이언스 유스케이스 · 과학적 타당성 담보 — 차별 포인트</a:t>
            </a:r>
          </a:p>
        </p:txBody>
      </p:sp>
      <p:sp>
        <p:nvSpPr>
          <p:cNvPr id="120" name="Takeaway"/>
          <p:cNvSpPr/>
          <p:nvPr/>
        </p:nvSpPr>
        <p:spPr>
          <a:xfrm>
            <a:off x="838200" y="5969000"/>
            <a:ext cx="10515600" cy="4318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 wrap="square" lIns="91440" tIns="36000" rIns="91440" bIns="36000" anchor="ctr"/>
          <a:lstStyle/>
          <a:p>
            <a:pPr algn="ctr">
              <a:buNone/>
            </a:pPr>
            <a:r>
              <a:rPr lang="ko-KR" sz="1500" b="1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한 줄 요약  |  운영 배포까지는 ‘공동 책임(shared accountability)’ — 단, 전사 확산의 주체는 고객</a:t>
            </a:r>
          </a:p>
        </p:txBody>
      </p:sp>
    </p:spTree>
    <p:extLst>
      <p:ext uri="{BB962C8B-B14F-4D97-AF65-F5344CB8AC3E}">
        <p14:creationId xmlns:p14="http://schemas.microsoft.com/office/powerpoint/2010/main" val="3044177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052E5-CADD-B231-E78C-B2CB40950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ko-KR" sz="32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④ 모델 공동개발 + 파트너 온보딩은 별도 트랙</a:t>
            </a:r>
          </a:p>
        </p:txBody>
      </p:sp>
      <p:sp>
        <p:nvSpPr>
          <p:cNvPr id="100" name="CoHeader"/>
          <p:cNvSpPr/>
          <p:nvPr/>
        </p:nvSpPr>
        <p:spPr>
          <a:xfrm>
            <a:off x="838200" y="1803400"/>
            <a:ext cx="1051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72000" tIns="28800" rIns="72000" bIns="28800" anchor="ctr"/>
          <a:lstStyle/>
          <a:p>
            <a:pPr algn="l">
              <a:buNone/>
            </a:pPr>
            <a:r>
              <a:rPr lang="ko-KR" sz="16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Scientific 모션이면: 모델을 ‘같이’ 만든다 — Co-training 4단계</a:t>
            </a:r>
          </a:p>
        </p:txBody>
      </p:sp>
      <p:sp>
        <p:nvSpPr>
          <p:cNvPr id="101" name="Co1"/>
          <p:cNvSpPr/>
          <p:nvPr/>
        </p:nvSpPr>
        <p:spPr>
          <a:xfrm>
            <a:off x="838200" y="2235200"/>
            <a:ext cx="2362200" cy="14224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txBody>
          <a:bodyPr wrap="square" lIns="72000" tIns="28800" rIns="72000" bIns="28800" anchor="ctr"/>
          <a:lstStyle/>
          <a:p>
            <a:pPr algn="l">
              <a:buNone/>
            </a:pPr>
            <a:r>
              <a:rPr lang="ko-KR" sz="1500" b="1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Transform</a:t>
            </a:r>
          </a:p>
          <a:p>
            <a:pPr algn="l">
              <a:buNone/>
            </a:pPr>
            <a:r>
              <a:rPr lang="ko-KR" sz="1400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모델에 도메인 지식 이식 (풀 / 계속 사전학습)</a:t>
            </a:r>
          </a:p>
        </p:txBody>
      </p:sp>
      <p:sp>
        <p:nvSpPr>
          <p:cNvPr id="106" name="CoArrow1"/>
          <p:cNvSpPr/>
          <p:nvPr/>
        </p:nvSpPr>
        <p:spPr>
          <a:xfrm>
            <a:off x="3238500" y="2806700"/>
            <a:ext cx="279400" cy="2794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txBody>
          <a:bodyPr wrap="square" lIns="72000" tIns="28800" rIns="72000" bIns="28800" anchor="ctr"/>
          <a:lstStyle/>
          <a:p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02" name="Co2"/>
          <p:cNvSpPr/>
          <p:nvPr/>
        </p:nvSpPr>
        <p:spPr>
          <a:xfrm>
            <a:off x="3556000" y="2235200"/>
            <a:ext cx="2362200" cy="14224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txBody>
          <a:bodyPr wrap="square" lIns="72000" tIns="28800" rIns="72000" bIns="28800" anchor="ctr"/>
          <a:lstStyle/>
          <a:p>
            <a:pPr algn="l">
              <a:buNone/>
            </a:pPr>
            <a:r>
              <a:rPr lang="ko-KR" sz="1500" b="1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Adapt</a:t>
            </a:r>
          </a:p>
          <a:p>
            <a:pPr algn="l">
              <a:buNone/>
            </a:pPr>
            <a:r>
              <a:rPr lang="ko-KR" sz="1400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행동 조정 (SFT · DPO), 에이전트 통합</a:t>
            </a:r>
          </a:p>
        </p:txBody>
      </p:sp>
      <p:sp>
        <p:nvSpPr>
          <p:cNvPr id="107" name="CoArrow2"/>
          <p:cNvSpPr/>
          <p:nvPr/>
        </p:nvSpPr>
        <p:spPr>
          <a:xfrm>
            <a:off x="5956300" y="2806700"/>
            <a:ext cx="279400" cy="2794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txBody>
          <a:bodyPr wrap="square" lIns="72000" tIns="28800" rIns="72000" bIns="28800" anchor="ctr"/>
          <a:lstStyle/>
          <a:p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03" name="Co3"/>
          <p:cNvSpPr/>
          <p:nvPr/>
        </p:nvSpPr>
        <p:spPr>
          <a:xfrm>
            <a:off x="6273800" y="2235200"/>
            <a:ext cx="2362200" cy="14224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txBody>
          <a:bodyPr wrap="square" lIns="72000" tIns="28800" rIns="72000" bIns="28800" anchor="ctr"/>
          <a:lstStyle/>
          <a:p>
            <a:pPr algn="l">
              <a:buNone/>
            </a:pPr>
            <a:r>
              <a:rPr lang="ko-KR" sz="1500" b="1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Deploy</a:t>
            </a:r>
          </a:p>
          <a:p>
            <a:pPr algn="l">
              <a:buNone/>
            </a:pPr>
            <a:r>
              <a:rPr lang="ko-KR" sz="1400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추론 최적화, 인프라 스케일링</a:t>
            </a:r>
          </a:p>
        </p:txBody>
      </p:sp>
      <p:sp>
        <p:nvSpPr>
          <p:cNvPr id="108" name="CoArrow3"/>
          <p:cNvSpPr/>
          <p:nvPr/>
        </p:nvSpPr>
        <p:spPr>
          <a:xfrm>
            <a:off x="8674100" y="2806700"/>
            <a:ext cx="279400" cy="2794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txBody>
          <a:bodyPr wrap="square" lIns="72000" tIns="28800" rIns="72000" bIns="28800" anchor="ctr"/>
          <a:lstStyle/>
          <a:p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04" name="Co4"/>
          <p:cNvSpPr/>
          <p:nvPr/>
        </p:nvSpPr>
        <p:spPr>
          <a:xfrm>
            <a:off x="8991600" y="2235200"/>
            <a:ext cx="2362200" cy="14224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txBody>
          <a:bodyPr wrap="square" lIns="72000" tIns="28800" rIns="72000" bIns="28800" anchor="ctr"/>
          <a:lstStyle/>
          <a:p>
            <a:pPr algn="l">
              <a:buNone/>
            </a:pPr>
            <a:r>
              <a:rPr lang="ko-KR" sz="1500" b="1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Improve</a:t>
            </a:r>
          </a:p>
          <a:p>
            <a:pPr algn="l">
              <a:buNone/>
            </a:pPr>
            <a:r>
              <a:rPr lang="ko-KR" sz="1400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관측성 확보, 데이터 라벨링 운영</a:t>
            </a:r>
          </a:p>
        </p:txBody>
      </p:sp>
      <p:sp>
        <p:nvSpPr>
          <p:cNvPr id="109" name="CoNote"/>
          <p:cNvSpPr/>
          <p:nvPr/>
        </p:nvSpPr>
        <p:spPr>
          <a:xfrm>
            <a:off x="838200" y="3759200"/>
            <a:ext cx="10515600" cy="330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28800" rIns="72000" bIns="28800" anchor="ctr"/>
          <a:lstStyle/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재료: 파트너의 SME · 데이터  +  미스트랄의 학습 스택 · 컴퓨트   →   산출물: 맞춤 모델 + 지식 공유</a:t>
            </a:r>
          </a:p>
        </p:txBody>
      </p:sp>
      <p:sp>
        <p:nvSpPr>
          <p:cNvPr id="110" name="PtHeader"/>
          <p:cNvSpPr/>
          <p:nvPr/>
        </p:nvSpPr>
        <p:spPr>
          <a:xfrm>
            <a:off x="838200" y="4140200"/>
            <a:ext cx="1051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72000" tIns="28800" rIns="72000" bIns="28800" anchor="ctr"/>
          <a:lstStyle/>
          <a:p>
            <a:pPr algn="l">
              <a:buNone/>
            </a:pPr>
            <a:r>
              <a:rPr lang="ko-KR" sz="16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파트너(예: 네이버) 활성화는 고객 딜리버리와 다른 트랙 — 4페이즈</a:t>
            </a:r>
          </a:p>
        </p:txBody>
      </p:sp>
      <p:sp>
        <p:nvSpPr>
          <p:cNvPr id="111" name="Pt1"/>
          <p:cNvSpPr/>
          <p:nvPr/>
        </p:nvSpPr>
        <p:spPr>
          <a:xfrm>
            <a:off x="838200" y="4470400"/>
            <a:ext cx="2362200" cy="1422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2000" tIns="28800" rIns="72000" bIns="28800" anchor="ctr"/>
          <a:lstStyle/>
          <a:p>
            <a:pPr algn="l">
              <a:buNone/>
            </a:pPr>
            <a:r>
              <a:rPr lang="ko-KR" sz="1500" b="1" dirty="0">
                <a:solidFill>
                  <a:srgbClr val="0F9ED5"/>
                </a:solidFill>
                <a:latin typeface="NanumSquare Neo Regular" pitchFamily="2" charset="-127"/>
                <a:ea typeface="NanumSquare Neo Regular" pitchFamily="2" charset="-127"/>
              </a:rPr>
              <a:t>Ignite · 첫 60일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유스케이스 워크숍 · 아키텍처 합의 (H200 3노드 · AI Studio)</a:t>
            </a:r>
          </a:p>
        </p:txBody>
      </p:sp>
      <p:sp>
        <p:nvSpPr>
          <p:cNvPr id="116" name="PtArrow1"/>
          <p:cNvSpPr/>
          <p:nvPr/>
        </p:nvSpPr>
        <p:spPr>
          <a:xfrm>
            <a:off x="3238500" y="5041900"/>
            <a:ext cx="279400" cy="279400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txBody>
          <a:bodyPr wrap="square" lIns="72000" tIns="28800" rIns="72000" bIns="28800" anchor="ctr"/>
          <a:lstStyle/>
          <a:p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12" name="Pt2"/>
          <p:cNvSpPr/>
          <p:nvPr/>
        </p:nvSpPr>
        <p:spPr>
          <a:xfrm>
            <a:off x="3556000" y="4470400"/>
            <a:ext cx="2362200" cy="1422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2000" tIns="28800" rIns="72000" bIns="28800" anchor="ctr"/>
          <a:lstStyle/>
          <a:p>
            <a:pPr algn="l">
              <a:buNone/>
            </a:pPr>
            <a:r>
              <a:rPr lang="ko-KR" sz="1500" b="1" dirty="0">
                <a:solidFill>
                  <a:srgbClr val="0F9ED5"/>
                </a:solidFill>
                <a:latin typeface="NanumSquare Neo Regular" pitchFamily="2" charset="-127"/>
                <a:ea typeface="NanumSquare Neo Regular" pitchFamily="2" charset="-127"/>
              </a:rPr>
              <a:t>Foundation · 1년차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첫 ‘내부’ 유스케이스로 체력 만들기</a:t>
            </a:r>
          </a:p>
        </p:txBody>
      </p:sp>
      <p:sp>
        <p:nvSpPr>
          <p:cNvPr id="117" name="PtArrow2"/>
          <p:cNvSpPr/>
          <p:nvPr/>
        </p:nvSpPr>
        <p:spPr>
          <a:xfrm>
            <a:off x="5956300" y="5041900"/>
            <a:ext cx="279400" cy="279400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txBody>
          <a:bodyPr wrap="square" lIns="72000" tIns="28800" rIns="72000" bIns="28800" anchor="ctr"/>
          <a:lstStyle/>
          <a:p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13" name="Pt3"/>
          <p:cNvSpPr/>
          <p:nvPr/>
        </p:nvSpPr>
        <p:spPr>
          <a:xfrm>
            <a:off x="6273800" y="4470400"/>
            <a:ext cx="2362200" cy="1422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2000" tIns="28800" rIns="72000" bIns="28800" anchor="ctr"/>
          <a:lstStyle/>
          <a:p>
            <a:pPr algn="l">
              <a:buNone/>
            </a:pPr>
            <a:r>
              <a:rPr lang="ko-KR" sz="1500" b="1" dirty="0">
                <a:solidFill>
                  <a:srgbClr val="0F9ED5"/>
                </a:solidFill>
                <a:latin typeface="NanumSquare Neo Regular" pitchFamily="2" charset="-127"/>
                <a:ea typeface="NanumSquare Neo Regular" pitchFamily="2" charset="-127"/>
              </a:rPr>
              <a:t>Expansion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첫 외부 고객 유스케이스 — 레퍼런스 확보</a:t>
            </a:r>
          </a:p>
        </p:txBody>
      </p:sp>
      <p:sp>
        <p:nvSpPr>
          <p:cNvPr id="118" name="PtArrow3"/>
          <p:cNvSpPr/>
          <p:nvPr/>
        </p:nvSpPr>
        <p:spPr>
          <a:xfrm>
            <a:off x="8674100" y="5041900"/>
            <a:ext cx="279400" cy="279400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txBody>
          <a:bodyPr wrap="square" lIns="72000" tIns="28800" rIns="72000" bIns="28800" anchor="ctr"/>
          <a:lstStyle/>
          <a:p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14" name="Pt4"/>
          <p:cNvSpPr/>
          <p:nvPr/>
        </p:nvSpPr>
        <p:spPr>
          <a:xfrm>
            <a:off x="8991600" y="4470400"/>
            <a:ext cx="2362200" cy="1422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2000" tIns="28800" rIns="72000" bIns="28800" anchor="ctr"/>
          <a:lstStyle/>
          <a:p>
            <a:pPr algn="l">
              <a:buNone/>
            </a:pPr>
            <a:r>
              <a:rPr lang="ko-KR" sz="1500" b="1" dirty="0">
                <a:solidFill>
                  <a:srgbClr val="0F9ED5"/>
                </a:solidFill>
                <a:latin typeface="NanumSquare Neo Regular" pitchFamily="2" charset="-127"/>
                <a:ea typeface="NanumSquare Neo Regular" pitchFamily="2" charset="-127"/>
              </a:rPr>
              <a:t>Scale · 2년차</a:t>
            </a:r>
          </a:p>
          <a:p>
            <a:pPr algn="l">
              <a:buNone/>
            </a:pPr>
            <a:r>
              <a:rPr lang="ko-KR" sz="1400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전사 확산, 함께 스케일링</a:t>
            </a:r>
          </a:p>
        </p:txBody>
      </p:sp>
      <p:sp>
        <p:nvSpPr>
          <p:cNvPr id="120" name="Takeaway"/>
          <p:cNvSpPr/>
          <p:nvPr/>
        </p:nvSpPr>
        <p:spPr>
          <a:xfrm>
            <a:off x="838200" y="5994400"/>
            <a:ext cx="10515600" cy="4064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 wrap="square" lIns="72000" tIns="28800" rIns="72000" bIns="2880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한 줄 요약  |  고라이브 기준은 ‘파트너의 독립 운영’ — 공동 개발한 Terraform 모듈은 미스트랄 공식 자산으로 흡수</a:t>
            </a:r>
          </a:p>
        </p:txBody>
      </p:sp>
    </p:spTree>
    <p:extLst>
      <p:ext uri="{BB962C8B-B14F-4D97-AF65-F5344CB8AC3E}">
        <p14:creationId xmlns:p14="http://schemas.microsoft.com/office/powerpoint/2010/main" val="3220293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CA260-BD03-8560-6D02-2BC2A9D9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ko-KR" sz="32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⑤ 그래서 우리는? — 토론 포인트 3가지</a:t>
            </a:r>
          </a:p>
        </p:txBody>
      </p:sp>
      <p:sp>
        <p:nvSpPr>
          <p:cNvPr id="100" name="QBadge1"/>
          <p:cNvSpPr/>
          <p:nvPr/>
        </p:nvSpPr>
        <p:spPr>
          <a:xfrm>
            <a:off x="838200" y="2159000"/>
            <a:ext cx="812800" cy="812800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Q1</a:t>
            </a:r>
          </a:p>
        </p:txBody>
      </p:sp>
      <p:sp>
        <p:nvSpPr>
          <p:cNvPr id="101" name="QCard1"/>
          <p:cNvSpPr/>
          <p:nvPr/>
        </p:nvSpPr>
        <p:spPr>
          <a:xfrm>
            <a:off x="1854200" y="1905000"/>
            <a:ext cx="9499600" cy="132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8E8"/>
            </a:solidFill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6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Applied Scientist 2명을 Pod의 ‘상수’로 둘 것인가?</a:t>
            </a:r>
          </a:p>
          <a:p>
            <a:pPr algn="l">
              <a:buNone/>
            </a:pPr>
            <a:r>
              <a:rPr lang="ko-KR" sz="1400" dirty="0">
                <a:solidFill>
                  <a:srgbClr val="156082"/>
                </a:solidFill>
                <a:latin typeface="NanumSquare Neo Regular" pitchFamily="2" charset="-127"/>
                <a:ea typeface="NanumSquare Neo Regular" pitchFamily="2" charset="-127"/>
              </a:rPr>
              <a:t>미스트랄은 모델 커스터마이징을 딜리버리 기본값으로 박아둠 — ECHO(디스커버리) · DELTA(딜리버리) 구조에서 사이언스 인력의 자리는?</a:t>
            </a:r>
          </a:p>
        </p:txBody>
      </p:sp>
      <p:sp>
        <p:nvSpPr>
          <p:cNvPr id="102" name="QBadge2"/>
          <p:cNvSpPr/>
          <p:nvPr/>
        </p:nvSpPr>
        <p:spPr>
          <a:xfrm>
            <a:off x="838200" y="3657600"/>
            <a:ext cx="812800" cy="812800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Q2</a:t>
            </a:r>
          </a:p>
        </p:txBody>
      </p:sp>
      <p:sp>
        <p:nvSpPr>
          <p:cNvPr id="103" name="QCard2"/>
          <p:cNvSpPr/>
          <p:nvPr/>
        </p:nvSpPr>
        <p:spPr>
          <a:xfrm>
            <a:off x="1854200" y="3403600"/>
            <a:ext cx="9499600" cy="132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8E8"/>
            </a:solidFill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6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rebuild gate를 둘 것인가, 선정 게이트를 앞당길 것인가?</a:t>
            </a:r>
          </a:p>
          <a:p>
            <a:pPr algn="l">
              <a:buNone/>
            </a:pPr>
            <a:r>
              <a:rPr lang="ko-KR" sz="1400" dirty="0">
                <a:solidFill>
                  <a:srgbClr val="156082"/>
                </a:solidFill>
                <a:latin typeface="NanumSquare Neo Regular" pitchFamily="2" charset="-127"/>
                <a:ea typeface="NanumSquare Neo Regular" pitchFamily="2" charset="-127"/>
              </a:rPr>
              <a:t>미스트랄은 재구축 없이 6개월 내 프로덕션을 약속하는 대신, 4대 기준으로 앞단에서 거른다 — 우리 PoC→파일럿 게이트와 철학 비교</a:t>
            </a:r>
          </a:p>
        </p:txBody>
      </p:sp>
      <p:sp>
        <p:nvSpPr>
          <p:cNvPr id="104" name="QBadge3"/>
          <p:cNvSpPr/>
          <p:nvPr/>
        </p:nvSpPr>
        <p:spPr>
          <a:xfrm>
            <a:off x="838200" y="5156200"/>
            <a:ext cx="812800" cy="812800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Q3</a:t>
            </a:r>
          </a:p>
        </p:txBody>
      </p:sp>
      <p:sp>
        <p:nvSpPr>
          <p:cNvPr id="105" name="QCard3"/>
          <p:cNvSpPr/>
          <p:nvPr/>
        </p:nvSpPr>
        <p:spPr>
          <a:xfrm>
            <a:off x="1854200" y="4902200"/>
            <a:ext cx="9499600" cy="132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8E8"/>
            </a:solidFill>
          </a:ln>
        </p:spPr>
        <p:txBody>
          <a:bodyPr wrap="square" lIns="91440" tIns="36000" rIns="91440" bIns="36000" anchor="ctr"/>
          <a:lstStyle/>
          <a:p>
            <a:pPr algn="l">
              <a:buNone/>
            </a:pPr>
            <a:r>
              <a:rPr lang="ko-KR" sz="1600" b="1" dirty="0">
                <a:solidFill>
                  <a:srgbClr val="0E2841"/>
                </a:solidFill>
                <a:latin typeface="NanumSquare Neo Regular" pitchFamily="2" charset="-127"/>
                <a:ea typeface="NanumSquare Neo Regular" pitchFamily="2" charset="-127"/>
              </a:rPr>
              <a:t>고객 역량이 내재화되면 매출이 줄어드는 딜레마, 어떻게 풀까?</a:t>
            </a:r>
          </a:p>
          <a:p>
            <a:pPr algn="l">
              <a:buNone/>
            </a:pPr>
            <a:r>
              <a:rPr lang="ko-KR" sz="1400" dirty="0">
                <a:solidFill>
                  <a:srgbClr val="156082"/>
                </a:solidFill>
                <a:latin typeface="NanumSquare Neo Regular" pitchFamily="2" charset="-127"/>
                <a:ea typeface="NanumSquare Neo Regular" pitchFamily="2" charset="-127"/>
              </a:rPr>
              <a:t>미스트랄은 knowledge transfer를 계약 산출물로 명시하고 플랫폼 구독으로 흡수 — AX Lab 파트너 역량 관리 설계의 참고 프레임</a:t>
            </a:r>
          </a:p>
        </p:txBody>
      </p:sp>
    </p:spTree>
    <p:extLst>
      <p:ext uri="{BB962C8B-B14F-4D97-AF65-F5344CB8AC3E}">
        <p14:creationId xmlns:p14="http://schemas.microsoft.com/office/powerpoint/2010/main" val="3115285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8BC7DB0-29B1-2647-86AD-ABB4AC7332D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24d04c4-5b0b-40f4-af37-55bd6dd1504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666</Words>
  <Application>Microsoft Macintosh PowerPoint</Application>
  <PresentationFormat>와이드스크린</PresentationFormat>
  <Paragraphs>89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NanumSquare Neo Regular</vt:lpstr>
      <vt:lpstr>Arial</vt:lpstr>
      <vt:lpstr>Office 테마</vt:lpstr>
      <vt:lpstr>PowerPoint 프레젠테이션</vt:lpstr>
      <vt:lpstr>① 포지셔닝 — FDE는 플랫폼 맨 위층에 산다</vt:lpstr>
      <vt:lpstr>② 유스케이스 선정 — ‘아이코닉’만 고른다</vt:lpstr>
      <vt:lpstr>③ 실행 — 3단계 딜리버리 × 4인 Pod</vt:lpstr>
      <vt:lpstr>④ 모델 공동개발 + 파트너 온보딩은 별도 트랙</vt:lpstr>
      <vt:lpstr>⑤ 그래서 우리는? — 토론 포인트 3가지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김용민</dc:creator>
  <cp:lastModifiedBy>김용민</cp:lastModifiedBy>
  <cp:revision>2</cp:revision>
  <dcterms:created xsi:type="dcterms:W3CDTF">2026-08-06T06:52:20Z</dcterms:created>
  <dcterms:modified xsi:type="dcterms:W3CDTF">2026-08-07T07:02:31Z</dcterms:modified>
</cp:coreProperties>
</file>