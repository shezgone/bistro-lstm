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부품 교체 실험 (개정판 — 완전 동일 프로토콜)  |  네이버클라우드 AX Forward Lab · 2026. 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같은 사전학습 FM끼리도 갈립니다 — 조기 슬롯 자격을 통과한 부품은 Chronos-2f뿐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61872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실험 설계: BISTRO 프레임워크의 세 암(Task-Specific 소형 모델 · Foundation Model · LLM ICL) 중 채점 가능한 부품들을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전부 동일 프로토콜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(DFM 스냅샷 + 공변량 10종 + 빠른신호 4종, 분기말 N_gdp 외삽, 32분기 실시간 그리드)로 실행하고, 검증된 주차별 결합의 조기 슬롯에 교체 장착.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FM 부품 = Chronos-2f(zero-shot) vs Moirai-small(zero-shot — BISTRO의 기반 모델 계열, 공개 체크포인트 프록시) · 참고 = 직접학습 LSTM · LLM ICL 암은 오염 문제로 채점 불성립(제외).</a:t>
            </a:r>
          </a:p>
        </p:txBody>
      </p:sp>
      <p:pic>
        <p:nvPicPr>
          <p:cNvPr id="6" name="Picture 5" descr="fm_p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6675120" cy="30278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57800"/>
            <a:ext cx="649224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이번 개정에서 바로잡은 것 — 프로토콜이 점수를 지배합니다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5550408"/>
            <a:ext cx="6492239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5632704"/>
            <a:ext cx="6492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종전 Moirai 1.453은 구세대 프로토콜(분기 flash 단변량 외삽)의 수치 — 동일 프로토콜로 재실행하니 </a:t>
            </a:r>
            <a:r>
              <a:rPr sz="930" b="1">
                <a:solidFill>
                  <a:srgbClr val="008A3E"/>
                </a:solidFill>
                <a:latin typeface="Apple SD Gothic Neo"/>
                <a:ea typeface="Apple SD Gothic Neo"/>
              </a:rPr>
              <a:t>0.873 (-40%)</a:t>
            </a: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. 프로토콜 정정 전 비교는 무효.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직접학습 LSTM도 동일 입력(빠른신호 포함)으로 재실행: 1.268 → 1.019로 개선되나 여전히 격차 —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입력을 똑같이 줘도 소표본 직접학습의 한계는 남습니다 (조기 구간 1.286).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1965960"/>
            <a:ext cx="41148" cy="137160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1965960"/>
            <a:ext cx="4023359" cy="1417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슬롯 자격 요건은 여전히 하나입니다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“조기 구간(지표 공백기)에서 GBM과 대등한 단독 성능”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— Chronos-2f 0.924 ≈ GBM 0.924 (통과) / Moirai 1.021 ·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LSTM 1.286 (미달). 슬롯 결과가 그대로 따라오며, 두 FM을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함께 넣어도(듀오 0.745) C2f 단독 슬롯(0.740)을 못 넘습니다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(오차 상관 0.926 — 정보 중복).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3474720"/>
            <a:ext cx="41148" cy="228600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3474720"/>
            <a:ext cx="4023359" cy="2331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6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무엇이 다른가 — 절제 실험이 답합니다 (힌트 흡수력)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둘 다 공변량을 입력받지만, </a:t>
            </a:r>
          </a:p>
          <a:p>
            <a:pPr algn="l">
              <a:spcAft>
                <a:spcPts val="160"/>
              </a:spcAft>
            </a:pPr>
            <a:r>
              <a:rPr sz="900" b="1">
                <a:solidFill>
                  <a:srgbClr val="262626"/>
                </a:solidFill>
                <a:latin typeface="Apple SD Gothic Neo"/>
                <a:ea typeface="Apple SD Gothic Neo"/>
              </a:rPr>
              <a:t>같은 힌트에서 뽑아내는 이득</a:t>
            </a: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이 실측으로 다릅니다: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빠른신호(주가·환율)를 얹었을 때 — </a:t>
            </a:r>
            <a:r>
              <a:rPr sz="900" b="1">
                <a:solidFill>
                  <a:srgbClr val="008A3E"/>
                </a:solidFill>
                <a:latin typeface="Apple SD Gothic Neo"/>
                <a:ea typeface="Apple SD Gothic Neo"/>
              </a:rPr>
              <a:t>C2 -3.4%</a:t>
            </a: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 (0.836→0.808)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vs </a:t>
            </a:r>
            <a:r>
              <a:rPr sz="900" b="1">
                <a:solidFill>
                  <a:srgbClr val="B0532F"/>
                </a:solidFill>
                <a:latin typeface="Apple SD Gothic Neo"/>
                <a:ea typeface="Apple SD Gothic Neo"/>
              </a:rPr>
              <a:t>Moirai -1.2%</a:t>
            </a: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(0.883→0.873) — 흡수력 약 3배 차이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공식지표 10종은 Moirai에서 무이득 (0.880→0.883 소폭 악화)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원인은 훈련 문제의 차이입니다: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Moirai: “전부를 함께 예측하라” — 공변량 = </a:t>
            </a:r>
            <a:r>
              <a:rPr sz="900" b="1">
                <a:solidFill>
                  <a:srgbClr val="262626"/>
                </a:solidFill>
                <a:latin typeface="Apple SD Gothic Neo"/>
                <a:ea typeface="Apple SD Gothic Neo"/>
              </a:rPr>
              <a:t>함께 예측되는 이웃</a:t>
            </a: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,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이웃을 참고해 타깃을 맞히도록 채점받은 적 없음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Chronos-2: “저것을 참고해 이것을 맞혀라” — 공변량 = </a:t>
            </a:r>
            <a:r>
              <a:rPr sz="900" b="1">
                <a:solidFill>
                  <a:srgbClr val="262626"/>
                </a:solidFill>
                <a:latin typeface="Apple SD Gothic Neo"/>
                <a:ea typeface="Apple SD Gothic Neo"/>
              </a:rPr>
              <a:t>힌트</a:t>
            </a: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,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힌트 활용 실패에 벌점이 집중되도록 훈련됨</a:t>
            </a:r>
          </a:p>
          <a:p>
            <a:pPr algn="l">
              <a:spcAft>
                <a:spcPts val="16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· 체급 차이(small 14M vs 120M)도 격차에 기여 가능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5870448"/>
            <a:ext cx="4206240" cy="658368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5870448"/>
            <a:ext cx="41148" cy="658368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5916168"/>
            <a:ext cx="3840479" cy="594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유의: 본 실험의 Moirai는 공개 체크포인트 zero-shot </a:t>
            </a:r>
            <a:r>
              <a:rPr sz="850" b="1">
                <a:solidFill>
                  <a:srgbClr val="6B6B6B"/>
                </a:solidFill>
                <a:latin typeface="Apple SD Gothic Neo"/>
                <a:ea typeface="Apple SD Gothic Neo"/>
              </a:rPr>
              <a:t>프록시</a:t>
            </a: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입니다. BISTRO</a:t>
            </a:r>
          </a:p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원본(개량·미세조정 반영 가능)에 대한 판정이 아니며, 원본을 동일 규약으로</a:t>
            </a:r>
          </a:p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채점하면 직접 비교가 가능합니다. LLM ICL 암은 오염으로 채점 불성립(제외).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601968"/>
            <a:ext cx="105156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· w[-19,-1] 평균 RMSE · 2018Q1~2025Q4(32개 분기) · schema v2 · 낮을수록 정확. 슬롯 교체 = early(발표 19~14주 전)=(GBM+부품)÷2, 이후 XGBoost. 개선폭은 모두 통계적 유의성 미달(DM p&gt;0.18) — 비열등+개선 방향 수위.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83680"/>
            <a:ext cx="4572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