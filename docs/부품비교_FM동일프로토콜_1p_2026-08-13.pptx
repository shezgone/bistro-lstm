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6B6B6B"/>
                </a:solidFill>
                <a:latin typeface="Apple SD Gothic Neo"/>
                <a:ea typeface="Apple SD Gothic Neo"/>
              </a:rPr>
              <a:t>부품 교체 실험 (개정판 — 완전 동일 프로토콜)  |  네이버클라우드 AX Forward Lab · 2026. 8.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243447"/>
                </a:solidFill>
                <a:latin typeface="Apple SD Gothic Neo"/>
                <a:ea typeface="Apple SD Gothic Neo"/>
              </a:rPr>
              <a:t>같은 사전학습 FM끼리도 갈립니다 — 조기 슬롯 자격을 통과한 부품은 Chronos-2f뿐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15568"/>
            <a:ext cx="11091672" cy="0"/>
          </a:xfrm>
          <a:prstGeom prst="line">
            <a:avLst/>
          </a:prstGeom>
          <a:ln w="15240">
            <a:solidFill>
              <a:srgbClr val="2434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261872"/>
            <a:ext cx="1106424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실험 설계: BISTRO 프레임워크의 세 암(Task-Specific 소형 모델 · Foundation Model · LLM ICL) 중 채점 가능한 부품들을 </a:t>
            </a:r>
            <a:r>
              <a:rPr sz="1050" b="1">
                <a:solidFill>
                  <a:srgbClr val="262626"/>
                </a:solidFill>
                <a:latin typeface="Apple SD Gothic Neo"/>
                <a:ea typeface="Apple SD Gothic Neo"/>
              </a:rPr>
              <a:t>전부 동일 프로토콜</a:t>
            </a: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(DFM 스냅샷 + 공변량 10종 + 빠른신호 4종, 분기말 N_gdp 외삽, 32분기 실시간 그리드)로 실행하고, 검증된 주차별 결합의 조기 슬롯에 교체 장착.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6B6B6B"/>
                </a:solidFill>
                <a:latin typeface="Apple SD Gothic Neo"/>
                <a:ea typeface="Apple SD Gothic Neo"/>
              </a:rPr>
              <a:t>FM 부품 = Chronos-2f(zero-shot) vs Moirai-small(zero-shot) · 참고 = 직접학습 LSTM(분기별 확장창 학습) · LLM ICL 암은 오염 문제로 채점 불성립(제외).</a:t>
            </a:r>
          </a:p>
        </p:txBody>
      </p:sp>
      <p:pic>
        <p:nvPicPr>
          <p:cNvPr id="6" name="Picture 5" descr="fm_pa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65960"/>
            <a:ext cx="6675120" cy="302788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257800"/>
            <a:ext cx="649224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243447"/>
                </a:solidFill>
                <a:latin typeface="Apple SD Gothic Neo"/>
                <a:ea typeface="Apple SD Gothic Neo"/>
              </a:rPr>
              <a:t>이번 개정에서 바로잡은 것 — 프로토콜이 점수를 지배합니다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5550408"/>
            <a:ext cx="6492239" cy="0"/>
          </a:xfrm>
          <a:prstGeom prst="line">
            <a:avLst/>
          </a:prstGeom>
          <a:ln w="9525">
            <a:solidFill>
              <a:srgbClr val="C9C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5632704"/>
            <a:ext cx="6492240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930" b="0">
                <a:solidFill>
                  <a:srgbClr val="262626"/>
                </a:solidFill>
                <a:latin typeface="Apple SD Gothic Neo"/>
                <a:ea typeface="Apple SD Gothic Neo"/>
              </a:rPr>
              <a:t>· 종전 Moirai 1.453은 구세대 프로토콜(분기 flash 단변량 외삽)의 수치 — 동일 프로토콜로 재실행하니 </a:t>
            </a:r>
            <a:r>
              <a:rPr sz="930" b="1">
                <a:solidFill>
                  <a:srgbClr val="008A3E"/>
                </a:solidFill>
                <a:latin typeface="Apple SD Gothic Neo"/>
                <a:ea typeface="Apple SD Gothic Neo"/>
              </a:rPr>
              <a:t>0.873 (-40%)</a:t>
            </a:r>
            <a:r>
              <a:rPr sz="930" b="0">
                <a:solidFill>
                  <a:srgbClr val="262626"/>
                </a:solidFill>
                <a:latin typeface="Apple SD Gothic Neo"/>
                <a:ea typeface="Apple SD Gothic Neo"/>
              </a:rPr>
              <a:t>. 프로토콜 정정 전 비교는 무효.</a:t>
            </a:r>
          </a:p>
          <a:p>
            <a:pPr algn="l">
              <a:spcAft>
                <a:spcPts val="200"/>
              </a:spcAft>
            </a:pPr>
            <a:r>
              <a:rPr sz="930" b="0">
                <a:solidFill>
                  <a:srgbClr val="262626"/>
                </a:solidFill>
                <a:latin typeface="Apple SD Gothic Neo"/>
                <a:ea typeface="Apple SD Gothic Neo"/>
              </a:rPr>
              <a:t>· 직접학습 LSTM도 동일 입력(빠른신호 포함)으로 재실행: 1.268 → 1.019로 개선되나 여전히 격차 —</a:t>
            </a:r>
          </a:p>
          <a:p>
            <a:pPr algn="l">
              <a:spcAft>
                <a:spcPts val="200"/>
              </a:spcAft>
            </a:pPr>
            <a:r>
              <a:rPr sz="930" b="0">
                <a:solidFill>
                  <a:srgbClr val="262626"/>
                </a:solidFill>
                <a:latin typeface="Apple SD Gothic Neo"/>
                <a:ea typeface="Apple SD Gothic Neo"/>
              </a:rPr>
              <a:t>  입력을 똑같이 줘도 소표본 직접학습의 한계는 남습니다 (조기 구간 1.286).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1965960"/>
            <a:ext cx="41148" cy="1783080"/>
          </a:xfrm>
          <a:prstGeom prst="rect">
            <a:avLst/>
          </a:prstGeom>
          <a:solidFill>
            <a:srgbClr val="0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965960"/>
            <a:ext cx="4023359" cy="18288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243447"/>
                </a:solidFill>
                <a:latin typeface="Apple SD Gothic Neo"/>
                <a:ea typeface="Apple SD Gothic Neo"/>
              </a:rPr>
              <a:t>슬롯 자격 요건은 여전히 하나입니다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262626"/>
                </a:solidFill>
                <a:latin typeface="Apple SD Gothic Neo"/>
                <a:ea typeface="Apple SD Gothic Neo"/>
              </a:rPr>
              <a:t>“조기 구간(지표 공백기)에서 GBM과 대등한 단독 성능”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262626"/>
                </a:solidFill>
                <a:latin typeface="Apple SD Gothic Neo"/>
                <a:ea typeface="Apple SD Gothic Neo"/>
              </a:rPr>
              <a:t>— Chronos-2f 0.924 ≈ GBM 0.924 (통과) /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262626"/>
                </a:solidFill>
                <a:latin typeface="Apple SD Gothic Neo"/>
                <a:ea typeface="Apple SD Gothic Neo"/>
              </a:rPr>
              <a:t>Moirai 1.021 (미달) / LSTM 1.286 (미달).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262626"/>
                </a:solidFill>
                <a:latin typeface="Apple SD Gothic Neo"/>
                <a:ea typeface="Apple SD Gothic Neo"/>
              </a:rPr>
              <a:t>슬롯 결과가 그대로 따라옵니다: C2f만 개선(0.740),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262626"/>
                </a:solidFill>
                <a:latin typeface="Apple SD Gothic Neo"/>
                <a:ea typeface="Apple SD Gothic Neo"/>
              </a:rPr>
              <a:t>Moirai(0.754)·LSTM(0.777)은 기준선(0.750)보다 악화.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262626"/>
                </a:solidFill>
                <a:latin typeface="Apple SD Gothic Neo"/>
                <a:ea typeface="Apple SD Gothic Neo"/>
              </a:rPr>
              <a:t>두 FM을 함께 넣어도(C2f+Moirai 듀오 0.745) C2f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262626"/>
                </a:solidFill>
                <a:latin typeface="Apple SD Gothic Neo"/>
                <a:ea typeface="Apple SD Gothic Neo"/>
              </a:rPr>
              <a:t>단독 슬롯을 못 넘습니다 — 오차 상관 0.926로 중복.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52360" y="3931920"/>
            <a:ext cx="41148" cy="1463040"/>
          </a:xfrm>
          <a:prstGeom prst="rect">
            <a:avLst/>
          </a:prstGeom>
          <a:solidFill>
            <a:srgbClr val="243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3931920"/>
            <a:ext cx="4023359" cy="1508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243447"/>
                </a:solidFill>
                <a:latin typeface="Apple SD Gothic Neo"/>
                <a:ea typeface="Apple SD Gothic Neo"/>
              </a:rPr>
              <a:t>왜 같은 사전학습 FM인데 갈리는가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262626"/>
                </a:solidFill>
                <a:latin typeface="Apple SD Gothic Neo"/>
                <a:ea typeface="Apple SD Gothic Neo"/>
              </a:rPr>
              <a:t>세대와 공변량 처리의 차이로 해석됩니다 — Chronos-2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262626"/>
                </a:solidFill>
                <a:latin typeface="Apple SD Gothic Neo"/>
                <a:ea typeface="Apple SD Gothic Neo"/>
              </a:rPr>
              <a:t>(2025, 공변량 네이티브 지원)는 빠른신호를 예측에 실제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262626"/>
                </a:solidFill>
                <a:latin typeface="Apple SD Gothic Neo"/>
                <a:ea typeface="Apple SD Gothic Neo"/>
              </a:rPr>
              <a:t>반영하는 반면, Moirai-1.0-small(2024, 91M)은 공변량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262626"/>
                </a:solidFill>
                <a:latin typeface="Apple SD Gothic Neo"/>
                <a:ea typeface="Apple SD Gothic Neo"/>
              </a:rPr>
              <a:t>활용이 얕아 조기 구간의 정보 이득을 살리지 못합니다.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262626"/>
                </a:solidFill>
                <a:latin typeface="Apple SD Gothic Neo"/>
                <a:ea typeface="Apple SD Gothic Neo"/>
              </a:rPr>
              <a:t>→ “사전학습이면 된다”가 아니라 부품별 실측이 필수.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5577840"/>
            <a:ext cx="4206240" cy="77724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5577840"/>
            <a:ext cx="41148" cy="77724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35240" y="5641848"/>
            <a:ext cx="3840479" cy="6858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150"/>
              </a:spcAft>
            </a:pPr>
            <a:r>
              <a:rPr sz="850" b="0">
                <a:solidFill>
                  <a:srgbClr val="6B6B6B"/>
                </a:solidFill>
                <a:latin typeface="Apple SD Gothic Neo"/>
                <a:ea typeface="Apple SD Gothic Neo"/>
              </a:rPr>
              <a:t>유의: BISTRO는 3-암 비교 프레임워크이며 본 실험은 그중 채점 가능한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6B6B6B"/>
                </a:solidFill>
                <a:latin typeface="Apple SD Gothic Neo"/>
                <a:ea typeface="Apple SD Gothic Neo"/>
              </a:rPr>
              <a:t>부품(FM 2종, 소형 모델 1종)의 GDP 과제 이식 실측입니다. LLM ICL 암은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6B6B6B"/>
                </a:solidFill>
                <a:latin typeface="Apple SD Gothic Neo"/>
                <a:ea typeface="Apple SD Gothic Neo"/>
              </a:rPr>
              <a:t>사전학습 오염으로 실시간 채점이 성립하지 않아 제외 (종합리포트 4장).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601968"/>
            <a:ext cx="1051560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6B6B6B"/>
                </a:solidFill>
                <a:latin typeface="Apple SD Gothic Neo"/>
                <a:ea typeface="Apple SD Gothic Neo"/>
              </a:rPr>
              <a:t>주: 실시간 빈티지 · 속보치 · w[-19,-1] 평균 RMSE · 2018Q1~2025Q4(32개 분기) · schema v2 · 낮을수록 정확. 슬롯 교체 = early(발표 19~14주 전)=(GBM+부품)÷2, 이후 XGBoost. 개선폭은 모두 통계적 유의성 미달(DM p&gt;0.18) — 비열등+개선 방향 수위.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583680"/>
            <a:ext cx="45720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6B6B6B"/>
                </a:solidFill>
                <a:latin typeface="Apple SD Gothic Neo"/>
                <a:ea typeface="Apple SD Gothic Neo"/>
              </a:rP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