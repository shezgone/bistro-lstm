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10515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6B6B6B"/>
                </a:solidFill>
                <a:latin typeface="Apple SD Gothic Neo"/>
                <a:ea typeface="Apple SD Gothic Neo"/>
              </a:rPr>
              <a:t>부품 교체 실험 — BISTRO 원본 실측판 (완전 동일 프로토콜)  |  네이버클라우드 AX Forward Lab · 2026. 8.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48640"/>
            <a:ext cx="11064240" cy="5486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700" b="1">
                <a:solidFill>
                  <a:srgbClr val="243447"/>
                </a:solidFill>
                <a:latin typeface="Apple SD Gothic Neo"/>
                <a:ea typeface="Apple SD Gothic Neo"/>
              </a:rPr>
              <a:t>BISTRO 원본을 직접 실측했습니다 — 조기 슬롯 자격을 통과한 부품은 여전히 Chronos-2f뿐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48640" y="1115568"/>
            <a:ext cx="11091672" cy="0"/>
          </a:xfrm>
          <a:prstGeom prst="line">
            <a:avLst/>
          </a:prstGeom>
          <a:ln w="15240">
            <a:solidFill>
              <a:srgbClr val="24344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548640" y="1261872"/>
            <a:ext cx="11064240" cy="5486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실험 설계: BISTRO 프레임워크의 세 암(Task-Specific 소형 모델 · Foundation Model · LLM ICL) 중 채점 가능한 부품들을 </a:t>
            </a:r>
            <a:r>
              <a:rPr sz="1050" b="1">
                <a:solidFill>
                  <a:srgbClr val="262626"/>
                </a:solidFill>
                <a:latin typeface="Apple SD Gothic Neo"/>
                <a:ea typeface="Apple SD Gothic Neo"/>
              </a:rPr>
              <a:t>전부 동일 프로토콜</a:t>
            </a: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(DFM 스냅샷 + 공변량 10종 + 빠른신호 4종, 분기말 N_gdp 외삽, 32분기 실시간 그리드)로 실행하고, 검증된 주차별 결합의 조기 슬롯에 교체 장착.</a:t>
            </a:r>
          </a:p>
          <a:p>
            <a:pPr algn="l">
              <a:spcAft>
                <a:spcPts val="200"/>
              </a:spcAft>
            </a:pPr>
            <a:r>
              <a:rPr sz="950" b="0">
                <a:solidFill>
                  <a:srgbClr val="6B6B6B"/>
                </a:solidFill>
                <a:latin typeface="Apple SD Gothic Neo"/>
                <a:ea typeface="Apple SD Gothic Neo"/>
              </a:rPr>
              <a:t>FM 부품 = Chronos-2f(120M, zero-shot) vs </a:t>
            </a:r>
            <a:r>
              <a:rPr sz="950" b="1">
                <a:solidFill>
                  <a:srgbClr val="6B6B6B"/>
                </a:solidFill>
                <a:latin typeface="Apple SD Gothic Neo"/>
                <a:ea typeface="Apple SD Gothic Neo"/>
              </a:rPr>
              <a:t>BISTRO 원본</a:t>
            </a:r>
            <a:r>
              <a:rPr sz="950" b="0">
                <a:solidFill>
                  <a:srgbClr val="6B6B6B"/>
                </a:solidFill>
                <a:latin typeface="Apple SD Gothic Neo"/>
                <a:ea typeface="Apple SD Gothic Neo"/>
              </a:rPr>
              <a:t>(BIS WP 1337 공개 체크포인트 — Moirai-base 91M을 BIS 거시 4,925계열로 미세조정, zero-shot) · 참고 = 직접학습 LSTM · LLM ICL 암은 오염 문제로 채점 불성립(제외).</a:t>
            </a:r>
          </a:p>
        </p:txBody>
      </p:sp>
      <p:pic>
        <p:nvPicPr>
          <p:cNvPr id="6" name="Picture 5" descr="fm_par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965960"/>
            <a:ext cx="6675120" cy="3027889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5257800"/>
            <a:ext cx="6492240" cy="2926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243447"/>
                </a:solidFill>
                <a:latin typeface="Apple SD Gothic Neo"/>
                <a:ea typeface="Apple SD Gothic Neo"/>
              </a:rPr>
              <a:t>이번 판의 핵심 — 프록시가 아니라 BISTRO 원본입니다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548640" y="5550408"/>
            <a:ext cx="6492239" cy="0"/>
          </a:xfrm>
          <a:prstGeom prst="line">
            <a:avLst/>
          </a:prstGeom>
          <a:ln w="9525">
            <a:solidFill>
              <a:srgbClr val="C9C9C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548640" y="5632704"/>
            <a:ext cx="6492240" cy="8229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930" b="0">
                <a:solidFill>
                  <a:srgbClr val="262626"/>
                </a:solidFill>
                <a:latin typeface="Apple SD Gothic Neo"/>
                <a:ea typeface="Apple SD Gothic Neo"/>
              </a:rPr>
              <a:t>· BISTRO 가중치를 BIS 공개 레포(bis-med-it/bistro, Apache 2.0)에서 확보해 직접 실측 — 단독 </a:t>
            </a:r>
            <a:r>
              <a:rPr sz="930" b="1">
                <a:solidFill>
                  <a:srgbClr val="262626"/>
                </a:solidFill>
                <a:latin typeface="Apple SD Gothic Neo"/>
                <a:ea typeface="Apple SD Gothic Neo"/>
              </a:rPr>
              <a:t>0.871</a:t>
            </a:r>
            <a:r>
              <a:rPr sz="930" b="0">
                <a:solidFill>
                  <a:srgbClr val="262626"/>
                </a:solidFill>
                <a:latin typeface="Apple SD Gothic Neo"/>
                <a:ea typeface="Apple SD Gothic Neo"/>
              </a:rPr>
              <a:t> (기반 Moirai-small 0.873과 동급, Chronos-2f 0.808에 미달).</a:t>
            </a:r>
          </a:p>
          <a:p>
            <a:pPr algn="l">
              <a:spcAft>
                <a:spcPts val="200"/>
              </a:spcAft>
            </a:pPr>
            <a:r>
              <a:rPr sz="930" b="0">
                <a:solidFill>
                  <a:srgbClr val="262626"/>
                </a:solidFill>
                <a:latin typeface="Apple SD Gothic Neo"/>
                <a:ea typeface="Apple SD Gothic Neo"/>
              </a:rPr>
              <a:t>· 거시 미세조정의 효과는 소폭(조기 구간 1.021→1.005) — 미세조정으로도 아래의 구조 차이는 바뀌지 않았습니다.</a:t>
            </a:r>
          </a:p>
          <a:p>
            <a:pPr algn="l">
              <a:spcAft>
                <a:spcPts val="200"/>
              </a:spcAft>
            </a:pPr>
            <a:r>
              <a:rPr sz="930" b="0">
                <a:solidFill>
                  <a:srgbClr val="262626"/>
                </a:solidFill>
                <a:latin typeface="Apple SD Gothic Neo"/>
                <a:ea typeface="Apple SD Gothic Neo"/>
              </a:rPr>
              <a:t>· 참고: 직접학습 LSTM은 동일 입력에도 1.019 (조기 1.286) — 소표본 직접학습 한계 별도 확인.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452360" y="1965960"/>
            <a:ext cx="41148" cy="1371600"/>
          </a:xfrm>
          <a:prstGeom prst="rect">
            <a:avLst/>
          </a:prstGeom>
          <a:solidFill>
            <a:srgbClr val="008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35240" y="1965960"/>
            <a:ext cx="4023359" cy="1417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243447"/>
                </a:solidFill>
                <a:latin typeface="Apple SD Gothic Neo"/>
                <a:ea typeface="Apple SD Gothic Neo"/>
              </a:rPr>
              <a:t>슬롯 자격 요건은 여전히 하나입니다</a:t>
            </a:r>
          </a:p>
          <a:p>
            <a:pPr algn="l">
              <a:spcAft>
                <a:spcPts val="200"/>
              </a:spcAft>
            </a:pPr>
            <a:r>
              <a:rPr sz="950" b="0">
                <a:solidFill>
                  <a:srgbClr val="262626"/>
                </a:solidFill>
                <a:latin typeface="Apple SD Gothic Neo"/>
                <a:ea typeface="Apple SD Gothic Neo"/>
              </a:rPr>
              <a:t>“조기 구간(지표 공백기)에서 GBM과 대등한 단독 성능”</a:t>
            </a:r>
          </a:p>
          <a:p>
            <a:pPr algn="l">
              <a:spcAft>
                <a:spcPts val="200"/>
              </a:spcAft>
            </a:pPr>
            <a:r>
              <a:rPr sz="950" b="0">
                <a:solidFill>
                  <a:srgbClr val="262626"/>
                </a:solidFill>
                <a:latin typeface="Apple SD Gothic Neo"/>
                <a:ea typeface="Apple SD Gothic Neo"/>
              </a:rPr>
              <a:t>— Chronos-2f 0.924 ≈ GBM 0.924 (통과) / BISTRO 1.005 ·</a:t>
            </a:r>
          </a:p>
          <a:p>
            <a:pPr algn="l">
              <a:spcAft>
                <a:spcPts val="200"/>
              </a:spcAft>
            </a:pPr>
            <a:r>
              <a:rPr sz="950" b="0">
                <a:solidFill>
                  <a:srgbClr val="262626"/>
                </a:solidFill>
                <a:latin typeface="Apple SD Gothic Neo"/>
                <a:ea typeface="Apple SD Gothic Neo"/>
              </a:rPr>
              <a:t>LSTM 1.286 (미달). 슬롯 결과: C2f 0.740(개선) / BISTRO</a:t>
            </a:r>
          </a:p>
          <a:p>
            <a:pPr algn="l">
              <a:spcAft>
                <a:spcPts val="200"/>
              </a:spcAft>
            </a:pPr>
            <a:r>
              <a:rPr sz="950" b="0">
                <a:solidFill>
                  <a:srgbClr val="262626"/>
                </a:solidFill>
                <a:latin typeface="Apple SD Gothic Neo"/>
                <a:ea typeface="Apple SD Gothic Neo"/>
              </a:rPr>
              <a:t>0.750(기준선과 동률 — 효과 없음) / 듀오 0.744 — C2f 단독을</a:t>
            </a:r>
          </a:p>
          <a:p>
            <a:pPr algn="l">
              <a:spcAft>
                <a:spcPts val="200"/>
              </a:spcAft>
            </a:pPr>
            <a:r>
              <a:rPr sz="950" b="0">
                <a:solidFill>
                  <a:srgbClr val="262626"/>
                </a:solidFill>
                <a:latin typeface="Apple SD Gothic Neo"/>
                <a:ea typeface="Apple SD Gothic Neo"/>
              </a:rPr>
              <a:t>못 넘습니다 (오차 상관 0.926 — 정보 중복).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452360" y="3474720"/>
            <a:ext cx="41148" cy="2286000"/>
          </a:xfrm>
          <a:prstGeom prst="rect">
            <a:avLst/>
          </a:prstGeom>
          <a:solidFill>
            <a:srgbClr val="2434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35240" y="3474720"/>
            <a:ext cx="4023359" cy="23317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150"/>
              </a:spcAft>
            </a:pPr>
            <a:r>
              <a:rPr sz="1150" b="1">
                <a:solidFill>
                  <a:srgbClr val="243447"/>
                </a:solidFill>
                <a:latin typeface="Apple SD Gothic Neo"/>
                <a:ea typeface="Apple SD Gothic Neo"/>
              </a:rPr>
              <a:t>무엇이 다른가 — 절제 실험이 답합니다 (힌트 흡수력)</a:t>
            </a:r>
          </a:p>
          <a:p>
            <a:pPr algn="l">
              <a:spcAft>
                <a:spcPts val="150"/>
              </a:spcAft>
            </a:pPr>
            <a:r>
              <a:rPr sz="900" b="0">
                <a:solidFill>
                  <a:srgbClr val="262626"/>
                </a:solidFill>
                <a:latin typeface="Apple SD Gothic Neo"/>
                <a:ea typeface="Apple SD Gothic Neo"/>
              </a:rPr>
              <a:t>둘 다 공변량을 입력받지만, </a:t>
            </a:r>
          </a:p>
          <a:p>
            <a:pPr algn="l">
              <a:spcAft>
                <a:spcPts val="150"/>
              </a:spcAft>
            </a:pPr>
            <a:r>
              <a:rPr sz="900" b="1">
                <a:solidFill>
                  <a:srgbClr val="262626"/>
                </a:solidFill>
                <a:latin typeface="Apple SD Gothic Neo"/>
                <a:ea typeface="Apple SD Gothic Neo"/>
              </a:rPr>
              <a:t>같은 힌트에서 뽑아내는 이득</a:t>
            </a:r>
            <a:r>
              <a:rPr sz="900" b="0">
                <a:solidFill>
                  <a:srgbClr val="262626"/>
                </a:solidFill>
                <a:latin typeface="Apple SD Gothic Neo"/>
                <a:ea typeface="Apple SD Gothic Neo"/>
              </a:rPr>
              <a:t>이 실측으로 다릅니다:</a:t>
            </a:r>
          </a:p>
          <a:p>
            <a:pPr algn="l">
              <a:spcAft>
                <a:spcPts val="150"/>
              </a:spcAft>
            </a:pPr>
            <a:r>
              <a:rPr sz="900" b="0">
                <a:solidFill>
                  <a:srgbClr val="262626"/>
                </a:solidFill>
                <a:latin typeface="Apple SD Gothic Neo"/>
                <a:ea typeface="Apple SD Gothic Neo"/>
              </a:rPr>
              <a:t>· 빠른신호(주가·환율)를 얹었을 때 — </a:t>
            </a:r>
            <a:r>
              <a:rPr sz="900" b="1">
                <a:solidFill>
                  <a:srgbClr val="008A3E"/>
                </a:solidFill>
                <a:latin typeface="Apple SD Gothic Neo"/>
                <a:ea typeface="Apple SD Gothic Neo"/>
              </a:rPr>
              <a:t>C2 -3.4%</a:t>
            </a:r>
            <a:r>
              <a:rPr sz="850" b="0">
                <a:solidFill>
                  <a:srgbClr val="6B6B6B"/>
                </a:solidFill>
                <a:latin typeface="Apple SD Gothic Neo"/>
                <a:ea typeface="Apple SD Gothic Neo"/>
              </a:rPr>
              <a:t> (0.836→0.808)</a:t>
            </a:r>
          </a:p>
          <a:p>
            <a:pPr algn="l">
              <a:spcAft>
                <a:spcPts val="150"/>
              </a:spcAft>
            </a:pPr>
            <a:r>
              <a:rPr sz="900" b="0">
                <a:solidFill>
                  <a:srgbClr val="262626"/>
                </a:solidFill>
                <a:latin typeface="Apple SD Gothic Neo"/>
                <a:ea typeface="Apple SD Gothic Neo"/>
              </a:rPr>
              <a:t>  vs </a:t>
            </a:r>
            <a:r>
              <a:rPr sz="900" b="1">
                <a:solidFill>
                  <a:srgbClr val="B0532F"/>
                </a:solidFill>
                <a:latin typeface="Apple SD Gothic Neo"/>
                <a:ea typeface="Apple SD Gothic Neo"/>
              </a:rPr>
              <a:t>BISTRO 무이득</a:t>
            </a:r>
            <a:r>
              <a:rPr sz="900" b="0">
                <a:solidFill>
                  <a:srgbClr val="262626"/>
                </a:solidFill>
                <a:latin typeface="Apple SD Gothic Neo"/>
                <a:ea typeface="Apple SD Gothic Neo"/>
              </a:rPr>
              <a:t> (0.870→0.871, +0.1%)</a:t>
            </a:r>
          </a:p>
          <a:p>
            <a:pPr algn="l">
              <a:spcAft>
                <a:spcPts val="150"/>
              </a:spcAft>
            </a:pPr>
            <a:r>
              <a:rPr sz="900" b="0">
                <a:solidFill>
                  <a:srgbClr val="262626"/>
                </a:solidFill>
                <a:latin typeface="Apple SD Gothic Neo"/>
                <a:ea typeface="Apple SD Gothic Neo"/>
              </a:rPr>
              <a:t>· 공식지표 10종: BISTRO -0.5% (0.875→0.870) — 미미</a:t>
            </a:r>
          </a:p>
          <a:p>
            <a:pPr algn="l">
              <a:spcAft>
                <a:spcPts val="150"/>
              </a:spcAft>
            </a:pPr>
            <a:r>
              <a:rPr sz="900" b="0">
                <a:solidFill>
                  <a:srgbClr val="262626"/>
                </a:solidFill>
                <a:latin typeface="Apple SD Gothic Neo"/>
                <a:ea typeface="Apple SD Gothic Neo"/>
              </a:rPr>
              <a:t>원인 — 사전학습에서 채점 범위가 다릅니다:</a:t>
            </a:r>
          </a:p>
          <a:p>
            <a:pPr algn="l">
              <a:spcAft>
                <a:spcPts val="150"/>
              </a:spcAft>
            </a:pPr>
            <a:r>
              <a:rPr sz="900" b="0">
                <a:solidFill>
                  <a:srgbClr val="262626"/>
                </a:solidFill>
                <a:latin typeface="Apple SD Gothic Neo"/>
                <a:ea typeface="Apple SD Gothic Neo"/>
              </a:rPr>
              <a:t>· Moirai/BISTRO:  (공변량₁·₂, 타깃)과거 → </a:t>
            </a:r>
            <a:r>
              <a:rPr sz="900" b="1">
                <a:solidFill>
                  <a:srgbClr val="262626"/>
                </a:solidFill>
                <a:latin typeface="Apple SD Gothic Neo"/>
                <a:ea typeface="Apple SD Gothic Neo"/>
              </a:rPr>
              <a:t>(공변량₁·₂, 타깃)미래 전부 채점</a:t>
            </a:r>
          </a:p>
          <a:p>
            <a:pPr algn="l">
              <a:spcAft>
                <a:spcPts val="150"/>
              </a:spcAft>
            </a:pPr>
            <a:r>
              <a:rPr sz="900" b="0">
                <a:solidFill>
                  <a:srgbClr val="262626"/>
                </a:solidFill>
                <a:latin typeface="Apple SD Gothic Neo"/>
                <a:ea typeface="Apple SD Gothic Neo"/>
              </a:rPr>
              <a:t>  = 공변량도 함께 예측할 대상(이웃). 거시 미세조정으로도</a:t>
            </a:r>
          </a:p>
          <a:p>
            <a:pPr algn="l">
              <a:spcAft>
                <a:spcPts val="150"/>
              </a:spcAft>
            </a:pPr>
            <a:r>
              <a:rPr sz="900" b="0">
                <a:solidFill>
                  <a:srgbClr val="262626"/>
                </a:solidFill>
                <a:latin typeface="Apple SD Gothic Neo"/>
                <a:ea typeface="Apple SD Gothic Neo"/>
              </a:rPr>
              <a:t>  이 채점 구조는 그대로 → 힌트 활용 회로가 약하게 유지</a:t>
            </a:r>
          </a:p>
          <a:p>
            <a:pPr algn="l">
              <a:spcAft>
                <a:spcPts val="150"/>
              </a:spcAft>
            </a:pPr>
            <a:r>
              <a:rPr sz="900" b="0">
                <a:solidFill>
                  <a:srgbClr val="262626"/>
                </a:solidFill>
                <a:latin typeface="Apple SD Gothic Neo"/>
                <a:ea typeface="Apple SD Gothic Neo"/>
              </a:rPr>
              <a:t>· Chronos-2:  (공변량₁·₂, 타깃)과거 → </a:t>
            </a:r>
            <a:r>
              <a:rPr sz="900" b="1">
                <a:solidFill>
                  <a:srgbClr val="262626"/>
                </a:solidFill>
                <a:latin typeface="Apple SD Gothic Neo"/>
                <a:ea typeface="Apple SD Gothic Neo"/>
              </a:rPr>
              <a:t>타깃 미래만 채점</a:t>
            </a:r>
          </a:p>
          <a:p>
            <a:pPr algn="l">
              <a:spcAft>
                <a:spcPts val="150"/>
              </a:spcAft>
            </a:pPr>
            <a:r>
              <a:rPr sz="900" b="0">
                <a:solidFill>
                  <a:srgbClr val="262626"/>
                </a:solidFill>
                <a:latin typeface="Apple SD Gothic Neo"/>
                <a:ea typeface="Apple SD Gothic Neo"/>
              </a:rPr>
              <a:t>  = 공변량은 힌트 — 힌트를 안 보면 손실을 줄일 수 없게</a:t>
            </a:r>
          </a:p>
          <a:p>
            <a:pPr algn="l">
              <a:spcAft>
                <a:spcPts val="150"/>
              </a:spcAft>
            </a:pPr>
            <a:r>
              <a:rPr sz="900" b="0">
                <a:solidFill>
                  <a:srgbClr val="262626"/>
                </a:solidFill>
                <a:latin typeface="Apple SD Gothic Neo"/>
                <a:ea typeface="Apple SD Gothic Neo"/>
              </a:rPr>
              <a:t>  의존관계가 설계된 사례(합성 포함)로 훈련</a:t>
            </a:r>
          </a:p>
          <a:p>
            <a:pPr algn="l">
              <a:spcAft>
                <a:spcPts val="150"/>
              </a:spcAft>
            </a:pPr>
            <a:r>
              <a:rPr sz="850" b="0">
                <a:solidFill>
                  <a:srgbClr val="6B6B6B"/>
                </a:solidFill>
                <a:latin typeface="Apple SD Gothic Neo"/>
                <a:ea typeface="Apple SD Gothic Neo"/>
              </a:rPr>
              <a:t>· 체급은 비슷(91M vs 120M) — 격차 원인은 체급이 아니라 훈련 방식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452360" y="5870448"/>
            <a:ext cx="4206240" cy="658368"/>
          </a:xfrm>
          <a:prstGeom prst="rect">
            <a:avLst/>
          </a:prstGeom>
          <a:solidFill>
            <a:srgbClr val="F5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452360" y="5870448"/>
            <a:ext cx="41148" cy="658368"/>
          </a:xfrm>
          <a:prstGeom prst="rect">
            <a:avLst/>
          </a:prstGeom>
          <a:solidFill>
            <a:srgbClr val="6B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35240" y="5916168"/>
            <a:ext cx="3840479" cy="5943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150"/>
              </a:spcAft>
            </a:pPr>
            <a:r>
              <a:rPr sz="850" b="0">
                <a:solidFill>
                  <a:srgbClr val="6B6B6B"/>
                </a:solidFill>
                <a:latin typeface="Apple SD Gothic Neo"/>
                <a:ea typeface="Apple SD Gothic Neo"/>
              </a:rPr>
              <a:t>유의: BISTRO = BIS WP 1337 (Koyuncu·Kwon·Lombardi·Perez-Cruz·Shin)의</a:t>
            </a:r>
          </a:p>
          <a:p>
            <a:pPr algn="l">
              <a:spcAft>
                <a:spcPts val="150"/>
              </a:spcAft>
            </a:pPr>
            <a:r>
              <a:rPr sz="850" b="0">
                <a:solidFill>
                  <a:srgbClr val="6B6B6B"/>
                </a:solidFill>
                <a:latin typeface="Apple SD Gothic Neo"/>
                <a:ea typeface="Apple SD Gothic Neo"/>
              </a:rPr>
              <a:t>공개 원본 체크포인트를 논문 표준 사용법(zero-shot)으로 적용한 실측입니다.</a:t>
            </a:r>
          </a:p>
          <a:p>
            <a:pPr algn="l">
              <a:spcAft>
                <a:spcPts val="150"/>
              </a:spcAft>
            </a:pPr>
            <a:r>
              <a:rPr sz="850" b="0">
                <a:solidFill>
                  <a:srgbClr val="6B6B6B"/>
                </a:solidFill>
                <a:latin typeface="Apple SD Gothic Neo"/>
                <a:ea typeface="Apple SD Gothic Neo"/>
              </a:rPr>
              <a:t>한국 GDP 과제용 추가 미세조정은 미실시. LLM ICL 암은 오염으로 제외.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6601968"/>
            <a:ext cx="10515600" cy="2286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750" b="0">
                <a:solidFill>
                  <a:srgbClr val="6B6B6B"/>
                </a:solidFill>
                <a:latin typeface="Apple SD Gothic Neo"/>
                <a:ea typeface="Apple SD Gothic Neo"/>
              </a:rPr>
              <a:t>주: 실시간 빈티지 · 속보치 · w[-19,-1] 평균 RMSE · 2018Q1~2025Q4(32개 분기) · schema v2 · 낮을수록 정확. 슬롯 교체 = early(발표 19~14주 전)=(GBM+부품)÷2, 이후 XGBoost. 개선폭은 모두 통계적 유의성 미달(DM p&gt;0.18) — 비열등+개선 방향 수위.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292840" y="6583680"/>
            <a:ext cx="457200" cy="2286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spcAft>
                <a:spcPts val="200"/>
              </a:spcAft>
            </a:pPr>
            <a:r>
              <a:rPr sz="900" b="0">
                <a:solidFill>
                  <a:srgbClr val="6B6B6B"/>
                </a:solidFill>
                <a:latin typeface="Apple SD Gothic Neo"/>
                <a:ea typeface="Apple SD Gothic Neo"/>
              </a:rPr>
              <a:t>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