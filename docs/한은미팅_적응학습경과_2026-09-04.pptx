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목요일 회의 안건: ①적응학습 실증 결과 공유 ②운영 구성(임계 하이브리드) 협의 ③역할 분담·재현 패키지·논문 장 구성. 이 자료는 8/25 이창훈 과장 리포트의 세 논의사항에 대한 실측 기반 답변.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메시지: 귀측의 세 논의사항(기준축 유지 여부 / 협업 범위 확대 / 역할 분담)에 말이 아니라 실측으로 답해왔음. 4행(품질 관리)은 신뢰 서사 — 실패와 결함도 기록으로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톤: '귀측 진단이 정확했다'로 시작 — 진단 재현이 협업 예의이자 신뢰 형성. BISTRO 관련 서술은 사실·수치만, 항상 '공개 체크포인트·동일 규약' 프레임.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정치적 핵심: '제안하신 방향이 유효합니다' — 이과장 제안의 실증 확인이라는 프레임. GDP head(실패)와의 대조는 사실 서술로만, 그들의 실험을 존중하는 톤으로 구두 보완.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회의의 실질 협의 대상 — 병행 산출 여부. 임계 12분기의 사전 등록 근거(플랜 문서 §3)를 회의에서 바로 제시할 수 있게 준비. 2024년 소폭 열세(0.652 vs 0.628)도 질문 시 숨기지 않고 공유.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우선 협의 대상은 A1(역할 분담). A3(병행 산출)는 부담 없는 수위로 제시 — 교체 아님 강조. A4 논문은 저자 구성이 민감할 수 있어 그들 페이스에 맞춤.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60" b="1">
                <a:solidFill>
                  <a:srgbClr val="6B6B6B"/>
                </a:solidFill>
                <a:latin typeface="NanumSquare"/>
                <a:ea typeface="NanumSquare"/>
              </a:rPr>
              <a:t>네이버클라우드 AX Forward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554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3220" b="1">
                <a:solidFill>
                  <a:srgbClr val="243447"/>
                </a:solidFill>
                <a:latin typeface="NanumSquare"/>
                <a:ea typeface="NanumSquare"/>
              </a:rPr>
              <a:t>적응학습(LoRA) 실증 결과와 운영 접목 방안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262626"/>
                </a:solidFill>
                <a:latin typeface="NanumSquare"/>
                <a:ea typeface="NanumSquare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20" b="0">
                <a:solidFill>
                  <a:srgbClr val="262626"/>
                </a:solidFill>
                <a:latin typeface="NanumSquare"/>
                <a:ea typeface="NanumSquare"/>
              </a:rPr>
              <a:t>귀 리포트(8/25) 제안에 대한 실측 답변 — 협업 경과 보고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3931920"/>
            <a:ext cx="3840480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4114800"/>
            <a:ext cx="1024128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6B6B6B"/>
                </a:solidFill>
                <a:latin typeface="NanumSquare"/>
                <a:ea typeface="NanumSquare"/>
              </a:rPr>
              <a:t>두 파운데이션 모델(BISTRO·Chronos-2)에 동일 레시피의 LoRA 적응을 적용해 seed 3회로 검증했고,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6B6B6B"/>
                </a:solidFill>
                <a:latin typeface="NanumSquare"/>
                <a:ea typeface="NanumSquare"/>
              </a:rPr>
              <a:t>적응 부품을 운영 구성(주차별 결합)에 접목한 결과까지 정리했습니다.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89320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10" b="0">
                <a:solidFill>
                  <a:srgbClr val="6B6B6B"/>
                </a:solidFill>
                <a:latin typeface="NanumSquare"/>
                <a:ea typeface="NanumSquare"/>
              </a:rPr>
              <a:t>2026. 9. 4. 회의용  |  시계열 Track1 (거시경제 예측)  |  네이버클라우드 김용민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1  |  경과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39" b="1">
                <a:solidFill>
                  <a:srgbClr val="243447"/>
                </a:solidFill>
                <a:latin typeface="NanumSquare"/>
                <a:ea typeface="NanumSquare"/>
              </a:rPr>
              <a:t>귀 리포트(8/25) 수신 이후 2주간 수행한 실험입니다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17320"/>
            <a:ext cx="41148" cy="96012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8/26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17320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빈티지 흡수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72694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귀측 진단(BISTRO의 주차별 오차 평탄성)을 당사 규약에서 재검증 — 평탄성은 모델 고유 특성이며, 같은 조건의 Chronos-2는 흡수율 2배로 우하향함을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41148" cy="96012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008A3E"/>
                </a:solidFill>
                <a:latin typeface="NanumSquare"/>
                <a:ea typeface="NanumSquare"/>
              </a:rPr>
              <a:t>8/26~27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87752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LoRA 적응 실증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87752"/>
            <a:ext cx="72694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귀측 제안(빈티지 경로 기반 제한적 추가학습)을 LoRA로 구현 — BISTRO·Chronos-2 모두에서 개선 확인, seed 3회 반복으로 재현성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58184"/>
            <a:ext cx="41148" cy="96012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4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008A3E"/>
                </a:solidFill>
                <a:latin typeface="NanumSquare"/>
                <a:ea typeface="NanumSquare"/>
              </a:rPr>
              <a:t>8/28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58184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운영 구성 접목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58184"/>
            <a:ext cx="72694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적응 부품을 주차별 결합의 조기 슬롯에 장착 — 32분기 전체 검증에서 적응 이력 임계 규칙 포함 시 기존 최고 구성을 경신(0.740 → 0.733)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28616"/>
            <a:ext cx="41148" cy="9601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6B6B6B"/>
                </a:solidFill>
                <a:latin typeface="NanumSquare"/>
                <a:ea typeface="NanumSquare"/>
              </a:rPr>
              <a:t>병행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928616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품질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928616"/>
            <a:ext cx="72694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seed 미전파 결함 발견·수정, 실패 변형(주차 절단 경로 학습) 기각 기록, 전 실험 스크립트·결과 커밋 보존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6B6B6B"/>
                </a:solidFill>
                <a:latin typeface="NanumSquare"/>
                <a:ea typeface="NanumSquare"/>
              </a:rPr>
              <a:t>주: 실시간 빈티지 · 속보치 기준 · 주차별 RMSE(분기 평균) · 예측단위 개정(schema v2) 반영 · 낮을수록 정확. 상세 수치·스크립트는 회의 시 재현 패키지와 함께 공유 가능.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50040" y="647395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80" b="0">
                <a:solidFill>
                  <a:srgbClr val="6B6B6B"/>
                </a:solidFill>
                <a:latin typeface="NanumSquare"/>
                <a:ea typeface="NanumSquar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2  |  빈티지 흡수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39" b="1">
                <a:solidFill>
                  <a:srgbClr val="243447"/>
                </a:solidFill>
                <a:latin typeface="NanumSquare"/>
                <a:ea typeface="NanumSquare"/>
              </a:rPr>
              <a:t>귀측 진단이 정확했습니다 — 평탄성은 모델 고유 특성이며, 출발 체크포인트에 따라 갈립니다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eekly_abs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675120" cy="34805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554480"/>
            <a:ext cx="41148" cy="155448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1554480"/>
            <a:ext cx="420624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진단 재현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일별신호까지 동일하게 준 조건에서도 BISTRO는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주차 경과에 둔감 (흡수율 -4.7%)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기반 Moirai-small도 -7.0% — 계열 공통 특성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귀 리포트의 '빈티지 정보 미반영' 진단과 일치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291840"/>
            <a:ext cx="41148" cy="155448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3291840"/>
            <a:ext cx="420624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같은 조건의 Chronos-2는 우하향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흡수율 -9.3% (BISTRO의 약 2배)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원인: 사전학습의 채점 범위 차이 — 전 변량을 함께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예측하도록 훈련 vs 타깃만 채점(공변량=힌트)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절제 실험과 정합: 같은 일별신호에서 C2 -3.4% vs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BISTRO 무이득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029200"/>
            <a:ext cx="4206240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→ 이 격차가 적응학습의 출발점 질문이 됩니다:</a:t>
            </a:r>
          </a:p>
          <a:p>
            <a:pPr algn="l">
              <a:spcAft>
                <a:spcPts val="200"/>
              </a:spcAft>
            </a:pPr>
            <a:r>
              <a:rPr sz="1210" b="1">
                <a:solidFill>
                  <a:srgbClr val="243447"/>
                </a:solidFill>
                <a:latin typeface="NanumSquare"/>
                <a:ea typeface="NanumSquare"/>
              </a:rPr>
              <a:t>"경량 적응이 흡수 능력을 만들어줄 수 있는가" (다음 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6B6B6B"/>
                </a:solidFill>
                <a:latin typeface="NanumSquare"/>
                <a:ea typeface="NanumSquare"/>
              </a:rPr>
              <a:t>주: 실시간 빈티지 · 속보치 기준 · 주차별 RMSE(분기 평균) · 예측단위 개정(schema v2) 반영 · 낮을수록 정확. 흡수율 = 초반 6주 대비 다음 6주 RMSE 변화(w=-19~-8, TSFM 자체 예측 구간). 절제 = 공변량 단계적 추가로 기여 분리.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7395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80" b="0">
                <a:solidFill>
                  <a:srgbClr val="6B6B6B"/>
                </a:solidFill>
                <a:latin typeface="NanumSquare"/>
                <a:ea typeface="NanumSquar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3  |  적응학습(LoRA) 실증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39" b="1">
                <a:solidFill>
                  <a:srgbClr val="243447"/>
                </a:solidFill>
                <a:latin typeface="NanumSquare"/>
                <a:ea typeface="NanumSquare"/>
              </a:rPr>
              <a:t>제안하신 방향이 유효합니다 — 두 모델 모두 개선, BISTRO는 평탄성도 부분 해소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ra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675120" cy="26086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554480"/>
            <a:ext cx="41148" cy="17373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1554480"/>
            <a:ext cx="4206240" cy="1783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결과 (3-seed 예측 평균)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BISTRO  0.596 → 0.560 (-6.0%), 흡수 역행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+10.1% → +3.2%로 완화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Chronos-2f  0.619 → 0.564 (-8.9%)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귀측 GDP head 실험(출력층 교체)과의 대조 —</a:t>
            </a:r>
          </a:p>
          <a:p>
            <a:pPr algn="l">
              <a:spcAft>
                <a:spcPts val="200"/>
              </a:spcAft>
            </a:pPr>
            <a:r>
              <a:rPr sz="1090" b="1">
                <a:solidFill>
                  <a:srgbClr val="262626"/>
                </a:solidFill>
                <a:latin typeface="NanumSquare"/>
                <a:ea typeface="NanumSquare"/>
              </a:rPr>
              <a:t>  주의층 0.6%(rank 8) 적응이 관건이었음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474720"/>
            <a:ext cx="41148" cy="141732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3474720"/>
            <a:ext cx="42062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유의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BISTRO 쪽 seed 편차 큼(0.549~0.602) — 단일 실행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불신, 3-seed 예측 평균을 대표값으로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개선폭의 통계적 유의성은 표본 한계로 미검정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사전학습-평가기간 중복은 귀 리포트와 동일하게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회고적 진단 수위로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074920"/>
            <a:ext cx="420624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5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학습 설계 = 귀측 제안 그대로: 분기별 빈티지 경로(당시</a:t>
            </a:r>
          </a:p>
          <a:p>
            <a:pPr algn="l">
              <a:spcAft>
                <a:spcPts val="15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가용 정보 + 관측 플래그, 라벨=실제 속보치), 연 1회 fresh</a:t>
            </a:r>
          </a:p>
          <a:p>
            <a:pPr algn="l">
              <a:spcAft>
                <a:spcPts val="150"/>
              </a:spcAft>
            </a:pPr>
            <a:r>
              <a:rPr sz="1030" b="0">
                <a:solidFill>
                  <a:srgbClr val="6B6B6B"/>
                </a:solidFill>
                <a:latin typeface="NanumSquare"/>
                <a:ea typeface="NanumSquare"/>
              </a:rPr>
              <a:t>재적응, release-safe, walk-forward.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6B6B6B"/>
                </a:solidFill>
                <a:latin typeface="NanumSquare"/>
                <a:ea typeface="NanumSquare"/>
              </a:rPr>
              <a:t>주: 평가창 2021~2025 (적응 데이터 확보 구간, 20분기). BISTRO LoRA는 patch=8 고정 — zero-shot 대조군도 동일 patch(공정 비교).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7395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80" b="0">
                <a:solidFill>
                  <a:srgbClr val="6B6B6B"/>
                </a:solidFill>
                <a:latin typeface="NanumSquare"/>
                <a:ea typeface="NanumSquar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4  |  운영 구성 접목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39" b="1">
                <a:solidFill>
                  <a:srgbClr val="243447"/>
                </a:solidFill>
                <a:latin typeface="NanumSquare"/>
                <a:ea typeface="NanumSquare"/>
              </a:rPr>
              <a:t>적응 부품 + 이력 임계 규칙으로 32분기 기준 기존 최고 구성을 경신했습니다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5669280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구성 (주차별 결합의 조기 슬롯 부품 교체)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· 기본 = XGBoost 단독 (개정 후 기준선 0.750)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· 조기 6주(지표 공백기) = FM 결합으로 교대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   - 적응 이력 12분기 미만 → zero-shot 부품 (GBM+C2)/2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   - 12분기 이상 → LoRA 적응 부품 (C2-LoRA+BISTRO-LoRA)/2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"/>
                <a:ea typeface="NanumSquare"/>
              </a:rPr>
              <a:t>· 임계 12분기는 실험 전 플랜에 명시했던 사전 등록값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03320"/>
          <a:ext cx="5669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9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</a:rPr>
                        <a:t>구성</a:t>
                      </a:r>
                    </a:p>
                  </a:txBody>
                  <a:tcPr marL="54864" marR="36576" marT="18288" marB="18288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</a:rPr>
                        <a:t>32분기 전체</a:t>
                      </a:r>
                    </a:p>
                  </a:txBody>
                  <a:tcPr marL="54864" marR="36576" marT="18288" marB="18288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</a:rPr>
                        <a:t>분기별 승수</a:t>
                      </a:r>
                    </a:p>
                  </a:txBody>
                  <a:tcPr marL="54864" marR="36576" marT="18288" marB="18288">
                    <a:solidFill>
                      <a:srgbClr val="2434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90" b="0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XGBoost 단독 (기준선)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0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0.750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0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—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90" b="0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+ 조기 6주 zero-shot 결합 (기존 공유안)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0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0.740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0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16 / 32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90" b="1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+ 적응 이력 임계 규칙 (신규)</a:t>
                      </a:r>
                    </a:p>
                  </a:txBody>
                  <a:tcPr marL="54864" marR="36576" marT="18288" marB="18288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1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0.733</a:t>
                      </a:r>
                    </a:p>
                  </a:txBody>
                  <a:tcPr marL="54864" marR="36576" marT="18288" marB="18288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90" b="1">
                          <a:solidFill>
                            <a:srgbClr val="262626"/>
                          </a:solidFill>
                          <a:latin typeface="NanumSquare"/>
                          <a:ea typeface="NanumSquare"/>
                        </a:rPr>
                        <a:t>18 / 32</a:t>
                      </a:r>
                    </a:p>
                  </a:txBody>
                  <a:tcPr marL="54864" marR="36576" marT="18288" marB="18288">
                    <a:solidFill>
                      <a:srgbClr val="EEF5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0" y="1371600"/>
            <a:ext cx="41148" cy="192024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371600"/>
            <a:ext cx="5029200" cy="1965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임계 규칙이 필요한 이유 (실측)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적응 데이터 3~7분기 시기(2019~20, 코로나 포함)에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LoRA 부품을 쓰면 zero-shot보다 오히려 악화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(조기 구간 1.71 vs 1.50) — 소형 적응의 위험 확인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충분한 이력(12분기+)에서만 적응 부품이 자격을 가짐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"언제부터 적응 모델을 신뢰할 수 있는가"의 기준을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실측으로 제시 — 논문 재료로도 유효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520440"/>
            <a:ext cx="41148" cy="12344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520440"/>
            <a:ext cx="5029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수위 (일관 유지)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-2.3%는 DM p=0.185 — 통계적 유의성 미달,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  "비열등 + 개선 방향"으로만 제시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단, 검증한 전 구성 중 가장 낮은 p·최다 승수</a:t>
            </a:r>
          </a:p>
          <a:p>
            <a:pPr algn="l">
              <a:spcAft>
                <a:spcPts val="200"/>
              </a:spcAft>
            </a:pPr>
            <a:r>
              <a:rPr sz="1090" b="0">
                <a:solidFill>
                  <a:srgbClr val="262626"/>
                </a:solidFill>
                <a:latin typeface="NanumSquare"/>
                <a:ea typeface="NanumSquare"/>
              </a:rPr>
              <a:t>· 운영 시 seed 3개 × 2모델 러너 유지 비용 존재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6B6B6B"/>
                </a:solidFill>
                <a:latin typeface="NanumSquare"/>
                <a:ea typeface="NanumSquare"/>
              </a:rPr>
              <a:t>주: 실시간 빈티지 · 속보치 기준 · 주차별 RMSE(분기 평균) · 예측단위 개정(schema v2) 반영 · 낮을수록 정확 · 전망주차 w[-19,-1] · 2018Q1~2025Q4(32개 분기). 임계 미충족 구간(2018~2020)은 zero-shot 부품 사용.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7395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80" b="0">
                <a:solidFill>
                  <a:srgbClr val="6B6B6B"/>
                </a:solidFill>
                <a:latin typeface="NanumSquare"/>
                <a:ea typeface="NanumSquar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B6B6B"/>
                </a:solidFill>
                <a:latin typeface="NanumSquare"/>
                <a:ea typeface="NanumSquare"/>
              </a:rPr>
              <a:t>5  |  협의 안건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39" b="1">
                <a:solidFill>
                  <a:srgbClr val="243447"/>
                </a:solidFill>
                <a:latin typeface="NanumSquare"/>
                <a:ea typeface="NanumSquare"/>
              </a:rPr>
              <a:t>역할 분담과 다음 단계를 정하고자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33856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17320"/>
            <a:ext cx="41148" cy="96012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94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2606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적응학습 역할 분담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7452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당사: Chronos-2 트랙 · 적응 안정화(seed 앙상블) · 흡수 진단 하네스 / 귀측: BISTRO 트랙 · 공표달력(release mask) 정밀 정의 · raw vintage 입력 — 사전 등록 설정 합의 후 각자 실행, 동일 규약 교차 채점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41148" cy="96012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594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87752"/>
            <a:ext cx="2606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재현 패키지 교차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87752"/>
            <a:ext cx="7452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당사 실험 스크립트 일체(LoRA 러너·채점 하네스 포함)를 재현 가능 형태로 공유 — 귀측 인프라에서 독립 재현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58184"/>
            <a:ext cx="41148" cy="96012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4"/>
            <a:ext cx="594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58184"/>
            <a:ext cx="2606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운영 구성 병행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58184"/>
            <a:ext cx="7452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임계 하이브리드(0.733)를 현행과 나란히 참고 지표로 산출·축적할지 여부 — 교체가 아닌 병행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28616"/>
            <a:ext cx="41148" cy="96012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594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80" b="1">
                <a:solidFill>
                  <a:srgbClr val="243447"/>
                </a:solidFill>
                <a:latin typeface="NanumSquare"/>
                <a:ea typeface="NanumSquare"/>
              </a:rPr>
              <a:t>A4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28616"/>
            <a:ext cx="2606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1">
                <a:solidFill>
                  <a:srgbClr val="243447"/>
                </a:solidFill>
                <a:latin typeface="NanumSquare"/>
                <a:ea typeface="NanumSquare"/>
              </a:rPr>
              <a:t>공동 논문 적응학습 장(章)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28616"/>
            <a:ext cx="745236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30" b="0">
                <a:solidFill>
                  <a:srgbClr val="262626"/>
                </a:solidFill>
                <a:latin typeface="NanumSquare"/>
                <a:ea typeface="NanumSquare"/>
              </a:rPr>
              <a:t>"언제 가치를 더하는가" 프레임에 적응학습 결과 추가 — zero-shot 진단 → 출력층 → LoRA → 임계 규칙의 완결 서사. 저자 구성·데이터 공개 방식 협의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B6B6B"/>
                </a:solidFill>
                <a:latin typeface="NanumSquare"/>
                <a:ea typeface="NanumSquare"/>
              </a:rPr>
              <a:t>모든 실험은 커밋 단위로 기록되어 있어 어느 시점의 수치든 재현 가능합니다 — 회의에서 요청 주시면 현장에서 확인 가능합니다.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6B6B6B"/>
                </a:solidFill>
                <a:latin typeface="NanumSquare"/>
                <a:ea typeface="NanumSquare"/>
              </a:rPr>
              <a:t>주: 실시간 빈티지 · 속보치 기준 · 주차별 RMSE(분기 평균) · 예측단위 개정(schema v2) 반영 · 낮을수록 정확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47395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80" b="0">
                <a:solidFill>
                  <a:srgbClr val="6B6B6B"/>
                </a:solidFill>
                <a:latin typeface="NanumSquare"/>
                <a:ea typeface="NanumSquare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