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515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6B6B6B"/>
                </a:solidFill>
                <a:latin typeface="NanumSquare"/>
                <a:ea typeface="NanumSquare"/>
              </a:rPr>
              <a:t>온보딩 노트  |  시계열 Track1 · 적응학습(LoRA)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839" b="1">
                <a:solidFill>
                  <a:srgbClr val="243447"/>
                </a:solidFill>
                <a:latin typeface="NanumSquare"/>
                <a:ea typeface="NanumSquare"/>
              </a:rPr>
              <a:t>LoRA 적응은 무엇을 보고 배우나 — 데이터, 기간, 학습 방법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33856"/>
            <a:ext cx="11091672" cy="0"/>
          </a:xfrm>
          <a:prstGeom prst="line">
            <a:avLst/>
          </a:prstGeom>
          <a:ln w="15240">
            <a:solidFill>
              <a:srgbClr val="2434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lora_data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035040" cy="42943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20840" y="1371600"/>
            <a:ext cx="4937760" cy="1371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380" b="1">
                <a:solidFill>
                  <a:srgbClr val="243447"/>
                </a:solidFill>
                <a:latin typeface="NanumSquare"/>
                <a:ea typeface="NanumSquare"/>
              </a:rPr>
              <a:t>데이터셋은 어떻게 생겼나</a:t>
            </a:r>
          </a:p>
          <a:p>
            <a:pPr algn="l">
              <a:spcAft>
                <a:spcPts val="200"/>
              </a:spcAft>
            </a:pPr>
            <a:r>
              <a:rPr sz="1130" b="0">
                <a:solidFill>
                  <a:srgbClr val="262626"/>
                </a:solidFill>
                <a:latin typeface="NanumSquare"/>
                <a:ea typeface="NanumSquare"/>
              </a:rPr>
              <a:t>표 형태의 큰 파일이 아니라, 분기마다 하나씩 만든 짧은 시계열 묶음입니다.</a:t>
            </a:r>
          </a:p>
          <a:p>
            <a:pPr algn="l">
              <a:spcAft>
                <a:spcPts val="200"/>
              </a:spcAft>
            </a:pPr>
            <a:r>
              <a:rPr sz="1130" b="0">
                <a:solidFill>
                  <a:srgbClr val="262626"/>
                </a:solidFill>
                <a:latin typeface="NanumSquare"/>
                <a:ea typeface="NanumSquare"/>
              </a:rPr>
              <a:t>한 시리즈는 그 분기 시점에 실제로 알 수 있었던 월별 데이터(GDP 경로,</a:t>
            </a:r>
          </a:p>
          <a:p>
            <a:pPr algn="l">
              <a:spcAft>
                <a:spcPts val="200"/>
              </a:spcAft>
            </a:pPr>
            <a:r>
              <a:rPr sz="1130" b="0">
                <a:solidFill>
                  <a:srgbClr val="262626"/>
                </a:solidFill>
                <a:latin typeface="NanumSquare"/>
                <a:ea typeface="NanumSquare"/>
              </a:rPr>
              <a:t>공식지표 10종, 주가·환율 같은 빠른신호 4종, 그리고 각 달이 실측인지</a:t>
            </a:r>
          </a:p>
          <a:p>
            <a:pPr algn="l">
              <a:spcAft>
                <a:spcPts val="200"/>
              </a:spcAft>
            </a:pPr>
            <a:r>
              <a:rPr sz="1130" b="0">
                <a:solidFill>
                  <a:srgbClr val="262626"/>
                </a:solidFill>
                <a:latin typeface="NanumSquare"/>
                <a:ea typeface="NanumSquare"/>
              </a:rPr>
              <a:t>추정인지 표시하는 플래그)로 이루어져 있고, 분기말 달의 값만 나중에</a:t>
            </a:r>
          </a:p>
          <a:p>
            <a:pPr algn="l">
              <a:spcAft>
                <a:spcPts val="200"/>
              </a:spcAft>
            </a:pPr>
            <a:r>
              <a:rPr sz="1130" b="0">
                <a:solidFill>
                  <a:srgbClr val="262626"/>
                </a:solidFill>
                <a:latin typeface="NanumSquare"/>
                <a:ea typeface="NanumSquare"/>
              </a:rPr>
              <a:t>발표된 실제 속보치로 바꿔 넣습니다. 이 마지막 값이 정답 역할을 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2880360"/>
            <a:ext cx="4937760" cy="10515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380" b="1">
                <a:solidFill>
                  <a:srgbClr val="243447"/>
                </a:solidFill>
                <a:latin typeface="NanumSquare"/>
                <a:ea typeface="NanumSquare"/>
              </a:rPr>
              <a:t>기간은 어떻게 되나</a:t>
            </a:r>
          </a:p>
          <a:p>
            <a:pPr algn="l">
              <a:spcAft>
                <a:spcPts val="200"/>
              </a:spcAft>
            </a:pPr>
            <a:r>
              <a:rPr sz="1130" b="0">
                <a:solidFill>
                  <a:srgbClr val="262626"/>
                </a:solidFill>
                <a:latin typeface="NanumSquare"/>
                <a:ea typeface="NanumSquare"/>
              </a:rPr>
              <a:t>각 시리즈의 과거 구간은 최대 128개월(약 11년)입니다. 적응은 해마다</a:t>
            </a:r>
          </a:p>
          <a:p>
            <a:pPr algn="l">
              <a:spcAft>
                <a:spcPts val="200"/>
              </a:spcAft>
            </a:pPr>
            <a:r>
              <a:rPr sz="1130" b="0">
                <a:solidFill>
                  <a:srgbClr val="262626"/>
                </a:solidFill>
                <a:latin typeface="NanumSquare"/>
                <a:ea typeface="NanumSquare"/>
              </a:rPr>
              <a:t>한 번, 그 해 이전에 속보가 발표 완료된 분기들만 모아서 합니다. 예를</a:t>
            </a:r>
          </a:p>
          <a:p>
            <a:pPr algn="l">
              <a:spcAft>
                <a:spcPts val="200"/>
              </a:spcAft>
            </a:pPr>
            <a:r>
              <a:rPr sz="1130" b="0">
                <a:solidFill>
                  <a:srgbClr val="262626"/>
                </a:solidFill>
                <a:latin typeface="NanumSquare"/>
                <a:ea typeface="NanumSquare"/>
              </a:rPr>
              <a:t>들어 2024년용 적응에는 23개 분기가 들어가고, 평가는 2021~2025년의</a:t>
            </a:r>
          </a:p>
          <a:p>
            <a:pPr algn="l">
              <a:spcAft>
                <a:spcPts val="200"/>
              </a:spcAft>
            </a:pPr>
            <a:r>
              <a:rPr sz="1130" b="0">
                <a:solidFill>
                  <a:srgbClr val="262626"/>
                </a:solidFill>
                <a:latin typeface="NanumSquare"/>
                <a:ea typeface="NanumSquare"/>
              </a:rPr>
              <a:t>분기들로 합니다. 학습에 쓴 분기는 채점에 절대 들어가지 않습니다.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4160520"/>
            <a:ext cx="4937760" cy="10972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380" b="1">
                <a:solidFill>
                  <a:srgbClr val="243447"/>
                </a:solidFill>
                <a:latin typeface="NanumSquare"/>
                <a:ea typeface="NanumSquare"/>
              </a:rPr>
              <a:t>학습은 어떻게 하나</a:t>
            </a:r>
          </a:p>
          <a:p>
            <a:pPr algn="l">
              <a:spcAft>
                <a:spcPts val="200"/>
              </a:spcAft>
            </a:pPr>
            <a:r>
              <a:rPr sz="1130" b="0">
                <a:solidFill>
                  <a:srgbClr val="262626"/>
                </a:solidFill>
                <a:latin typeface="NanumSquare"/>
                <a:ea typeface="NanumSquare"/>
              </a:rPr>
              <a:t>모델 본체(약 1억 파라미터)는 손대지 않고 얼려 둡니다. 대신 주의</a:t>
            </a:r>
          </a:p>
          <a:p>
            <a:pPr algn="l">
              <a:spcAft>
                <a:spcPts val="200"/>
              </a:spcAft>
            </a:pPr>
            <a:r>
              <a:rPr sz="1130" b="0">
                <a:solidFill>
                  <a:srgbClr val="262626"/>
                </a:solidFill>
                <a:latin typeface="NanumSquare"/>
                <a:ea typeface="NanumSquare"/>
              </a:rPr>
              <a:t>(attention) 층 옆에 전체의 0.6%쯤 되는 작은 우회 회로(LoRA, rank 8)를</a:t>
            </a:r>
          </a:p>
          <a:p>
            <a:pPr algn="l">
              <a:spcAft>
                <a:spcPts val="200"/>
              </a:spcAft>
            </a:pPr>
            <a:r>
              <a:rPr sz="1130" b="0">
                <a:solidFill>
                  <a:srgbClr val="262626"/>
                </a:solidFill>
                <a:latin typeface="NanumSquare"/>
                <a:ea typeface="NanumSquare"/>
              </a:rPr>
              <a:t>붙이고 그것만 학습합니다. 시리즈들을 보여주며 "경로의 마지막 6개월을</a:t>
            </a:r>
          </a:p>
          <a:p>
            <a:pPr algn="l">
              <a:spcAft>
                <a:spcPts val="200"/>
              </a:spcAft>
            </a:pPr>
            <a:r>
              <a:rPr sz="1130" b="0">
                <a:solidFill>
                  <a:srgbClr val="262626"/>
                </a:solidFill>
                <a:latin typeface="NanumSquare"/>
                <a:ea typeface="NanumSquare"/>
              </a:rPr>
              <a:t>맞혀 보라"를 500번 반복하는 것이 전부입니다. 한 번 적응에 수 분이 걸립니다.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720840" y="5440680"/>
            <a:ext cx="41148" cy="1051560"/>
          </a:xfrm>
          <a:prstGeom prst="rect">
            <a:avLst/>
          </a:prstGeom>
          <a:solidFill>
            <a:srgbClr val="B0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5440680"/>
            <a:ext cx="4754880" cy="10515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380" b="1">
                <a:solidFill>
                  <a:srgbClr val="B0532F"/>
                </a:solidFill>
                <a:latin typeface="NanumSquare"/>
                <a:ea typeface="NanumSquare"/>
              </a:rPr>
              <a:t>과적합은 안 생기나</a:t>
            </a:r>
          </a:p>
          <a:p>
            <a:pPr algn="l">
              <a:spcAft>
                <a:spcPts val="200"/>
              </a:spcAft>
            </a:pPr>
            <a:r>
              <a:rPr sz="1130" b="0">
                <a:solidFill>
                  <a:srgbClr val="262626"/>
                </a:solidFill>
                <a:latin typeface="NanumSquare"/>
                <a:ea typeface="NanumSquare"/>
              </a:rPr>
              <a:t>생깁니다. 적응 재료가 7분기도 안 되던 시기에는 적응 안 한 모델보다</a:t>
            </a:r>
          </a:p>
          <a:p>
            <a:pPr algn="l">
              <a:spcAft>
                <a:spcPts val="200"/>
              </a:spcAft>
            </a:pPr>
            <a:r>
              <a:rPr sz="1130" b="0">
                <a:solidFill>
                  <a:srgbClr val="262626"/>
                </a:solidFill>
                <a:latin typeface="NanumSquare"/>
                <a:ea typeface="NanumSquare"/>
              </a:rPr>
              <a:t>오히려 나빠지는 것을 직접 확인했습니다. 그래서 "적응 이력이 12분기</a:t>
            </a:r>
          </a:p>
          <a:p>
            <a:pPr algn="l">
              <a:spcAft>
                <a:spcPts val="200"/>
              </a:spcAft>
            </a:pPr>
            <a:r>
              <a:rPr sz="1130" b="0">
                <a:solidFill>
                  <a:srgbClr val="262626"/>
                </a:solidFill>
                <a:latin typeface="NanumSquare"/>
                <a:ea typeface="NanumSquare"/>
              </a:rPr>
              <a:t>넘게 쌓인 뒤에만 쓴다"는 규칙과 seed 3회 평균이 설계에 들어 있습니다.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106070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860" b="0">
                <a:solidFill>
                  <a:srgbClr val="6B6B6B"/>
                </a:solidFill>
                <a:latin typeface="NanumSquare"/>
                <a:ea typeface="NanumSquare"/>
              </a:rPr>
              <a:t>관련 코드: phase_b_c2_lora.py(Chronos-2) · phase_b_bistro_lora.py(BISTRO) — gdp/scripts. 플랜 문서: GDP_LoRA적응_실험플랜_2026-08-26.md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