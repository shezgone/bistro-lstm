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0">
                <a:solidFill>
                  <a:srgbClr val="262626"/>
                </a:solidFill>
                <a:latin typeface="Apple SD Gothic Neo"/>
                <a:ea typeface="Apple SD Gothic Neo"/>
              </a:rPr>
              <a:t>🏛️   🔧   🛰️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43447"/>
                </a:solidFill>
                <a:latin typeface="Apple SD Gothic Neo"/>
                <a:ea typeface="Apple SD Gothic Neo"/>
              </a:rPr>
              <a:t>세 명의 예측가 이야기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6B6B6B"/>
                </a:solidFill>
                <a:latin typeface="Apple SD Gothic Neo"/>
                <a:ea typeface="Apple SD Gothic Neo"/>
              </a:rPr>
              <a:t>— GDP 나우캐스트가 국면 판단 없이 신기록을 낸 비결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62626"/>
                </a:solidFill>
                <a:latin typeface="Apple SD Gothic Neo"/>
                <a:ea typeface="Apple SD Gothic Neo"/>
              </a:rPr>
              <a:t>원로 이코노미스트, 꼼꼼한 조수, 그리고 시세판을 보는 컨설턴트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27448" y="5029200"/>
            <a:ext cx="27432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AX Lab · 2026. 07  |  한국은행 GDP Nowcasting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8A3E"/>
                </a:solidFill>
                <a:latin typeface="Apple SD Gothic Neo"/>
                <a:ea typeface="Apple SD Gothic Neo"/>
              </a:rPr>
              <a:t>01  </a:t>
            </a:r>
            <a:r>
              <a:rPr sz="2000" b="1">
                <a:solidFill>
                  <a:srgbClr val="243447"/>
                </a:solidFill>
                <a:latin typeface="Apple SD Gothic Neo"/>
                <a:ea typeface="Apple SD Gothic Neo"/>
              </a:rPr>
              <a:t>등장인물 — 같은 문제를 푸는 세 개의 다른 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2920" y="1234440"/>
            <a:ext cx="3611880" cy="361188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262626"/>
                </a:solidFill>
                <a:latin typeface="Apple SD Gothic Neo"/>
                <a:ea typeface="Apple SD Gothic Neo"/>
              </a:rPr>
              <a:t>🏛️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43447"/>
                </a:solidFill>
                <a:latin typeface="Apple SD Gothic Neo"/>
                <a:ea typeface="Apple SD Gothic Neo"/>
              </a:rPr>
              <a:t>원로 이코노미스트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DFM (현행 시스템의 중심)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852928"/>
            <a:ext cx="315468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971800"/>
            <a:ext cx="32004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정통 요인모형. 공식지표 34종을 종합해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월별 GDP 흐름의 '초안'을 작성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보는 것: 물가·수출·생산·심리 등 34종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못 보는 것: 주가·환율 시세판 (규정 외)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약점: 급변기에 반 박자 느림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234440"/>
            <a:ext cx="3611880" cy="361188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46304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262626"/>
                </a:solidFill>
                <a:latin typeface="Apple SD Gothic Neo"/>
                <a:ea typeface="Apple SD Gothic Neo"/>
              </a:rPr>
              <a:t>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14884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43447"/>
                </a:solidFill>
                <a:latin typeface="Apple SD Gothic Neo"/>
                <a:ea typeface="Apple SD Gothic Neo"/>
              </a:rPr>
              <a:t>꼼꼼한 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8716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XGBoost (머신러닝 보정)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53712" y="2852928"/>
            <a:ext cx="315468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53712" y="2971800"/>
            <a:ext cx="32004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원로의 초안을 받아 과거 12년 패턴으로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비선형 보정 — 원로와 콤비로 현행 최고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보는 것: 원로와 같은 34종 + 원로의 초안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못 보는 것: 역시 시세판은 못 봄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약점: 가끔 혼자 지나치게 비관·낙관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234440"/>
            <a:ext cx="3611880" cy="361188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1463040"/>
            <a:ext cx="32004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0">
                <a:solidFill>
                  <a:srgbClr val="262626"/>
                </a:solidFill>
                <a:latin typeface="Apple SD Gothic Neo"/>
                <a:ea typeface="Apple SD Gothic Neo"/>
              </a:rPr>
              <a:t>🛰️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14884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43447"/>
                </a:solidFill>
                <a:latin typeface="Apple SD Gothic Neo"/>
                <a:ea typeface="Apple SD Gothic Neo"/>
              </a:rPr>
              <a:t>외국인 컨설턴트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487168"/>
            <a:ext cx="3200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Chronos-2f (사전학습 AI, 딥러닝)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75904" y="2852928"/>
            <a:ext cx="3154680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75904" y="2971800"/>
            <a:ext cx="320040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한국 데이터로 공부한 적 없음 — 전 세계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수백만 개 시계열 패턴을 미리 학습(zero-shot)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1">
                <a:solidFill>
                  <a:srgbClr val="243447"/>
                </a:solidFill>
                <a:latin typeface="Apple SD Gothic Neo"/>
                <a:ea typeface="Apple SD Gothic Neo"/>
              </a:rPr>
              <a:t>보는 것: 원로의 초안 + 유일하게 시세판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(일별 KOSPI·원달러 + 심리 원지수)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· </a:t>
            </a: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약점: 평온기엔 원로+조수 콤비보다 부정확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20640"/>
            <a:ext cx="111556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성적표 (8년 32분기 실시간 재현 오차, 낮을수록 정확)   </a:t>
            </a: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원로 단독 0.865   ·   원로+조수 0.765 </a:t>
            </a: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← 현행 최고</a:t>
            </a: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   ·   컨설턴트 단독 0.808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263640"/>
            <a:ext cx="11183112" cy="38404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18504"/>
            <a:ext cx="108813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모두 동일 조건: 한은 실시간 빈티지, 속보치 기준, 전망주차 w[-19,-1] 평균 RMSE, 2018Q1~2025Q4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8A3E"/>
                </a:solidFill>
                <a:latin typeface="Apple SD Gothic Neo"/>
                <a:ea typeface="Apple SD Gothic Neo"/>
              </a:rPr>
              <a:t>02  </a:t>
            </a:r>
            <a:r>
              <a:rPr sz="2000" b="1">
                <a:solidFill>
                  <a:srgbClr val="243447"/>
                </a:solidFill>
                <a:latin typeface="Apple SD Gothic Neo"/>
                <a:ea typeface="Apple SD Gothic Neo"/>
              </a:rPr>
              <a:t>사건 — 2020년 여름, 시세판은 알고 있었다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02920" y="1188720"/>
            <a:ext cx="5029200" cy="4389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코로나 직후, 3분기 반등을 맞힐 수 있는가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 심리지표(ESI)는 4월 55.7로 바닥을 찍고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  여름까지도 채 회복하지 못한 상태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그런데 주식시장은 4월부터 넉 달 연속 강한 반등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  — 주가·환율은 발표를 기다릴 필요 없이 당일 확정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발표 16주 전, 각자의 예측은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원로(공식지표만): </a:t>
            </a: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-0.5%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"아직 침체입니다"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컨설턴트(시세판 포함): </a:t>
            </a: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-0.27%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"반등 조짐이 보입니다"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실제 속보치: </a:t>
            </a: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+1.9%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Apple SD Gothic Neo"/>
                <a:ea typeface="Apple SD Gothic Neo"/>
              </a:rPr>
              <a:t>모두 틀렸지만 — 시세판을 본 쪽이 덜 틀렸고,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Apple SD Gothic Neo"/>
                <a:ea typeface="Apple SD Gothic Neo"/>
              </a:rPr>
              <a:t>발표가 가까워질수록 그 격차는 벌어졌습니다.</a:t>
            </a:r>
          </a:p>
        </p:txBody>
      </p:sp>
      <p:pic>
        <p:nvPicPr>
          <p:cNvPr id="5" name="Picture 4" descr="story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234440"/>
            <a:ext cx="5943600" cy="444622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6263640"/>
            <a:ext cx="11183112" cy="38404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318504"/>
            <a:ext cx="108813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반등 분기 6개(2018Q1·2019Q2·2020Q3·2023Q1·2024Q3·2025Q2) 평균에서도 컨설턴트(0.581)가 원로(0.621)보다 정확 — 시세판 정보의 가치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8A3E"/>
                </a:solidFill>
                <a:latin typeface="Apple SD Gothic Neo"/>
                <a:ea typeface="Apple SD Gothic Neo"/>
              </a:rPr>
              <a:t>03  </a:t>
            </a:r>
            <a:r>
              <a:rPr sz="2000" b="1">
                <a:solidFill>
                  <a:srgbClr val="243447"/>
                </a:solidFill>
                <a:latin typeface="Apple SD Gothic Neo"/>
                <a:ea typeface="Apple SD Gothic Neo"/>
              </a:rPr>
              <a:t>반전 — 원로와 컨설턴트, 둘만 섞었더니 오히려 나빠졌다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story_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0160"/>
            <a:ext cx="5669280" cy="40825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234440"/>
            <a:ext cx="52578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"좋은 둘을 평균하면 더 좋아지겠지?" — 아니었습니다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62626"/>
                </a:solidFill>
                <a:latin typeface="Apple SD Gothic Neo"/>
                <a:ea typeface="Apple SD Gothic Neo"/>
              </a:rPr>
              <a:t>두 사람 평균의 8년 성적: 0.808 → </a:t>
            </a: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0.828 (후퇴)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48840"/>
            <a:ext cx="5257800" cy="1280160"/>
          </a:xfrm>
          <a:prstGeom prst="round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2286000"/>
            <a:ext cx="48463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이유: 컨설턴트는 백지에서 시작하지 않는다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컨설턴트가 받아보는 '과거 GDP 흐름' 자체가 원로가 만든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월별 초안입니다. 즉 컨설턴트의 의견에는 이미 원로가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절반쯤 들어있습니다.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703320"/>
            <a:ext cx="5257800" cy="2103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그 상태에서 원로와 또 평균하면: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사실상 </a:t>
            </a: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원로 의견 1.5표 + 시세판 정보 0.5표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유일하게 새로웠던 시세판 정보가 희석되고,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원로가 틀린 구간에서는 그 오차까지 전염됩니다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B0532F"/>
                </a:solidFill>
                <a:latin typeface="Apple SD Gothic Neo"/>
                <a:ea typeface="Apple SD Gothic Neo"/>
              </a:rPr>
              <a:t>→ 회의에서 같은 사람 말을 두 번 듣는 것과 같습니다.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263640"/>
            <a:ext cx="11183112" cy="38404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18504"/>
            <a:ext cx="108813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원로 단독+컨설턴트 50:50 평균 = 0.828 (컨설턴트 단독 0.808보다 열세) — 정보 중복과 오차 전염이 원인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8A3E"/>
                </a:solidFill>
                <a:latin typeface="Apple SD Gothic Neo"/>
                <a:ea typeface="Apple SD Gothic Neo"/>
              </a:rPr>
              <a:t>04  </a:t>
            </a:r>
            <a:r>
              <a:rPr sz="2000" b="1">
                <a:solidFill>
                  <a:srgbClr val="243447"/>
                </a:solidFill>
                <a:latin typeface="Apple SD Gothic Neo"/>
                <a:ea typeface="Apple SD Gothic Neo"/>
              </a:rPr>
              <a:t>결말 — 세 명이 각자 한 표씩, '균등 위원회'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41248"/>
            <a:ext cx="11183112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story_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309360" cy="29501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03720" y="1234440"/>
            <a:ext cx="4754880" cy="23774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(원로 + 조수 + 컨설턴트) ÷ 3 = </a:t>
            </a:r>
            <a:r>
              <a:rPr sz="1400" b="1">
                <a:solidFill>
                  <a:srgbClr val="008A3E"/>
                </a:solidFill>
                <a:latin typeface="Apple SD Gothic Neo"/>
                <a:ea typeface="Apple SD Gothic Neo"/>
              </a:rPr>
              <a:t>0.746</a:t>
            </a:r>
          </a:p>
          <a:p>
            <a:pPr algn="l">
              <a:spcAft>
                <a:spcPts val="4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현행 최고(0.765) 대비 </a:t>
            </a: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-2.5%</a:t>
            </a: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 — 국면 판단 없이 달성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32개 분기 중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20개 분기에서 개선</a:t>
            </a:r>
            <a:r>
              <a:rPr sz="1000" b="0">
                <a:solidFill>
                  <a:srgbClr val="6B6B6B"/>
                </a:solidFill>
                <a:latin typeface="Apple SD Gothic Neo"/>
                <a:ea typeface="Apple SD Gothic Neo"/>
              </a:rPr>
              <a:t> (코로나 시기 제외에도 유효)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반등 분기 오차 0.815 →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0.715</a:t>
            </a:r>
            <a:r>
              <a:rPr sz="1000" b="0">
                <a:solidFill>
                  <a:srgbClr val="6B6B6B"/>
                </a:solidFill>
                <a:latin typeface="Apple SD Gothic Neo"/>
                <a:ea typeface="Apple SD Gothic Neo"/>
              </a:rPr>
              <a:t> — 시세판 정보가 제몫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62626"/>
                </a:solidFill>
                <a:latin typeface="Apple SD Gothic Neo"/>
                <a:ea typeface="Apple SD Gothic Neo"/>
              </a:rPr>
              <a:t>· 가중치 튜닝 없음 — 단순 균등 1표씩이 최적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3703320"/>
            <a:ext cx="4754880" cy="1234440"/>
          </a:xfrm>
          <a:prstGeom prst="roundRect">
            <a:avLst/>
          </a:prstGeom>
          <a:solidFill>
            <a:srgbClr val="E8F3EC"/>
          </a:solidFill>
          <a:ln w="9525">
            <a:solidFill>
              <a:srgbClr val="00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04888" y="3840480"/>
            <a:ext cx="4389120" cy="1051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왜 위원회는 이기는가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 사람은 서로 다른 순간에, 서로 다른 방향으로 틀립니다.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조수가 혼자 비관할 때 컨설턴트가 되돌리고, 컨설턴트가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평온기에 흔들릴 때 원로+조수가 잡아줍니다.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5120640"/>
            <a:ext cx="475488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유의사항: 개선폭 2.5%는 32분기 표본으로는 통계적 유의성 미달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(p=0.37) — 보고 수위는 "기존 대비 비열등 + 개선 방향"이 정직합니다.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263640"/>
            <a:ext cx="11183112" cy="384048"/>
          </a:xfrm>
          <a:prstGeom prst="rect">
            <a:avLst/>
          </a:prstGeom>
          <a:solidFill>
            <a:srgbClr val="F3F4F5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18504"/>
            <a:ext cx="108813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다음 갈림길: 이 결과는 '중심선 교체' 옵션 — 예측 불변이 전제인 fan chart 제안과 별개 트랙으로, 한은 수용성에 따라 선택 제시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