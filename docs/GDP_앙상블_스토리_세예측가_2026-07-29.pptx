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75"/>
  </p:normalViewPr>
  <p:slideViewPr>
    <p:cSldViewPr snapToGrid="0" snapToObjects="1">
      <p:cViewPr varScale="1">
        <p:scale>
          <a:sx n="119" d="100"/>
          <a:sy n="119" d="100"/>
        </p:scale>
        <p:origin x="50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NanumSquare Neo Regular" pitchFamily="2" charset="-127"/>
              <a:ea typeface="NanumSquare Neo Regular" pitchFamily="2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1874519"/>
            <a:ext cx="10698480" cy="65248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4000" b="0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🏛️   🔧   🛰️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10698480" cy="65248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4000" b="1">
                <a:solidFill>
                  <a:srgbClr val="243447"/>
                </a:solidFill>
                <a:latin typeface="NanumSquare Neo Regular" pitchFamily="2" charset="-127"/>
                <a:ea typeface="NanumSquare Neo Regular" pitchFamily="2" charset="-127"/>
              </a:rPr>
              <a:t>세 명의 예측가 이야기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11880"/>
            <a:ext cx="10698480" cy="28315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6B6B6B"/>
                </a:solidFill>
                <a:latin typeface="NanumSquare Neo Regular" pitchFamily="2" charset="-127"/>
                <a:ea typeface="NanumSquare Neo Regular" pitchFamily="2" charset="-127"/>
              </a:rPr>
              <a:t>— GDP 나우캐스트가 국면 판단 없이 신기록을 낸 비결 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43400"/>
            <a:ext cx="10698480" cy="23698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0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원로 이코노미스트, 꼼꼼한 조수, 그리고 시세판을 보는 컨설턴트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727448" y="5029200"/>
            <a:ext cx="2743200" cy="0"/>
          </a:xfrm>
          <a:prstGeom prst="line">
            <a:avLst/>
          </a:prstGeom>
          <a:ln w="12700">
            <a:solidFill>
              <a:srgbClr val="C9C9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31520" y="5212080"/>
            <a:ext cx="10698480" cy="20621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6B6B6B"/>
                </a:solidFill>
                <a:latin typeface="NanumSquare Neo Regular" pitchFamily="2" charset="-127"/>
                <a:ea typeface="NanumSquare Neo Regular" pitchFamily="2" charset="-127"/>
              </a:rPr>
              <a:t>AX Lab · 2026. 07  |  한국은행 GDP Nowcasting 협업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34471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008A3E"/>
                </a:solidFill>
                <a:latin typeface="NanumSquare Neo Regular" pitchFamily="2" charset="-127"/>
                <a:ea typeface="NanumSquare Neo Regular" pitchFamily="2" charset="-127"/>
              </a:rPr>
              <a:t>01  </a:t>
            </a:r>
            <a:r>
              <a:rPr sz="2000" b="1">
                <a:solidFill>
                  <a:srgbClr val="243447"/>
                </a:solidFill>
                <a:latin typeface="NanumSquare Neo Regular" pitchFamily="2" charset="-127"/>
                <a:ea typeface="NanumSquare Neo Regular" pitchFamily="2" charset="-127"/>
              </a:rPr>
              <a:t>등장인물 — 같은 문제를 푸는 세 개의 다른 눈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841248"/>
            <a:ext cx="11183112" cy="0"/>
          </a:xfrm>
          <a:prstGeom prst="line">
            <a:avLst/>
          </a:prstGeom>
          <a:ln w="20320">
            <a:solidFill>
              <a:srgbClr val="2434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502920" y="1234440"/>
            <a:ext cx="3611880" cy="3611880"/>
          </a:xfrm>
          <a:prstGeom prst="roundRect">
            <a:avLst/>
          </a:prstGeom>
          <a:solidFill>
            <a:srgbClr val="F3F4F5"/>
          </a:solidFill>
          <a:ln w="9525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NanumSquare Neo Regular" pitchFamily="2" charset="-127"/>
              <a:ea typeface="NanumSquare Neo Regular" pitchFamily="2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3200400" cy="49859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0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🏛️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48840"/>
            <a:ext cx="3200400" cy="252377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243447"/>
                </a:solidFill>
                <a:latin typeface="NanumSquare Neo Regular" pitchFamily="2" charset="-127"/>
                <a:ea typeface="NanumSquare Neo Regular" pitchFamily="2" charset="-127"/>
              </a:rPr>
              <a:t>원로 이코노미스트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87168"/>
            <a:ext cx="3200400" cy="19851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6B6B6B"/>
                </a:solidFill>
                <a:latin typeface="NanumSquare Neo Regular" pitchFamily="2" charset="-127"/>
                <a:ea typeface="NanumSquare Neo Regular" pitchFamily="2" charset="-127"/>
              </a:rPr>
              <a:t>DFM (현행 시스템의 중심)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31520" y="2852928"/>
            <a:ext cx="3154680" cy="0"/>
          </a:xfrm>
          <a:prstGeom prst="line">
            <a:avLst/>
          </a:prstGeom>
          <a:ln w="9525">
            <a:solidFill>
              <a:srgbClr val="C9C9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31520" y="2971800"/>
            <a:ext cx="3200400" cy="973087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6B6B6B"/>
                </a:solidFill>
                <a:latin typeface="NanumSquare Neo Regular" pitchFamily="2" charset="-127"/>
                <a:ea typeface="NanumSquare Neo Regular" pitchFamily="2" charset="-127"/>
              </a:rPr>
              <a:t>· </a:t>
            </a:r>
            <a:r>
              <a:rPr sz="950" b="0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정통 요인모형. 공식지표 34종을 종합해</a:t>
            </a:r>
          </a:p>
          <a:p>
            <a:pPr algn="l">
              <a:spcAft>
                <a:spcPts val="400"/>
              </a:spcAft>
            </a:pPr>
            <a:r>
              <a:rPr sz="950" b="0">
                <a:solidFill>
                  <a:srgbClr val="6B6B6B"/>
                </a:solidFill>
                <a:latin typeface="NanumSquare Neo Regular" pitchFamily="2" charset="-127"/>
                <a:ea typeface="NanumSquare Neo Regular" pitchFamily="2" charset="-127"/>
              </a:rPr>
              <a:t>· </a:t>
            </a:r>
            <a:r>
              <a:rPr sz="950" b="0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월별 GDP 흐름의 '초안'을 작성</a:t>
            </a:r>
          </a:p>
          <a:p>
            <a:pPr algn="l">
              <a:spcAft>
                <a:spcPts val="400"/>
              </a:spcAft>
            </a:pPr>
            <a:r>
              <a:rPr sz="950" b="0">
                <a:solidFill>
                  <a:srgbClr val="6B6B6B"/>
                </a:solidFill>
                <a:latin typeface="NanumSquare Neo Regular" pitchFamily="2" charset="-127"/>
                <a:ea typeface="NanumSquare Neo Regular" pitchFamily="2" charset="-127"/>
              </a:rPr>
              <a:t>· </a:t>
            </a:r>
            <a:r>
              <a:rPr sz="950" b="1">
                <a:solidFill>
                  <a:srgbClr val="243447"/>
                </a:solidFill>
                <a:latin typeface="NanumSquare Neo Regular" pitchFamily="2" charset="-127"/>
                <a:ea typeface="NanumSquare Neo Regular" pitchFamily="2" charset="-127"/>
              </a:rPr>
              <a:t>보는 것: 물가·수출·생산·심리 등 34종</a:t>
            </a:r>
          </a:p>
          <a:p>
            <a:pPr algn="l">
              <a:spcAft>
                <a:spcPts val="400"/>
              </a:spcAft>
            </a:pPr>
            <a:r>
              <a:rPr sz="950" b="0">
                <a:solidFill>
                  <a:srgbClr val="6B6B6B"/>
                </a:solidFill>
                <a:latin typeface="NanumSquare Neo Regular" pitchFamily="2" charset="-127"/>
                <a:ea typeface="NanumSquare Neo Regular" pitchFamily="2" charset="-127"/>
              </a:rPr>
              <a:t>· </a:t>
            </a:r>
            <a:r>
              <a:rPr sz="950" b="1">
                <a:solidFill>
                  <a:srgbClr val="243447"/>
                </a:solidFill>
                <a:latin typeface="NanumSquare Neo Regular" pitchFamily="2" charset="-127"/>
                <a:ea typeface="NanumSquare Neo Regular" pitchFamily="2" charset="-127"/>
              </a:rPr>
              <a:t>못 보는 것: 주가·환율 시세판 (규정 외)</a:t>
            </a:r>
          </a:p>
          <a:p>
            <a:pPr algn="l">
              <a:spcAft>
                <a:spcPts val="400"/>
              </a:spcAft>
            </a:pPr>
            <a:r>
              <a:rPr sz="950" b="0">
                <a:solidFill>
                  <a:srgbClr val="6B6B6B"/>
                </a:solidFill>
                <a:latin typeface="NanumSquare Neo Regular" pitchFamily="2" charset="-127"/>
                <a:ea typeface="NanumSquare Neo Regular" pitchFamily="2" charset="-127"/>
              </a:rPr>
              <a:t>· </a:t>
            </a:r>
            <a:r>
              <a:rPr sz="950" b="0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약점: 급변기에 반 박자 느림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5112" y="1234440"/>
            <a:ext cx="3611880" cy="3611880"/>
          </a:xfrm>
          <a:prstGeom prst="roundRect">
            <a:avLst/>
          </a:prstGeom>
          <a:solidFill>
            <a:srgbClr val="F3F4F5"/>
          </a:solidFill>
          <a:ln w="9525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NanumSquare Neo Regular" pitchFamily="2" charset="-127"/>
              <a:ea typeface="NanumSquare Neo Regular" pitchFamily="2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553712" y="1463040"/>
            <a:ext cx="3200400" cy="49859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0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3712" y="2148840"/>
            <a:ext cx="3200400" cy="252377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243447"/>
                </a:solidFill>
                <a:latin typeface="NanumSquare Neo Regular" pitchFamily="2" charset="-127"/>
                <a:ea typeface="NanumSquare Neo Regular" pitchFamily="2" charset="-127"/>
              </a:rPr>
              <a:t>꼼꼼한 조수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3712" y="2487168"/>
            <a:ext cx="3200400" cy="19851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6B6B6B"/>
                </a:solidFill>
                <a:latin typeface="NanumSquare Neo Regular" pitchFamily="2" charset="-127"/>
                <a:ea typeface="NanumSquare Neo Regular" pitchFamily="2" charset="-127"/>
              </a:rPr>
              <a:t>XGBoost (머신러닝 보정)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553712" y="2852928"/>
            <a:ext cx="3154680" cy="0"/>
          </a:xfrm>
          <a:prstGeom prst="line">
            <a:avLst/>
          </a:prstGeom>
          <a:ln w="9525">
            <a:solidFill>
              <a:srgbClr val="C9C9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553712" y="2971800"/>
            <a:ext cx="3200400" cy="973087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6B6B6B"/>
                </a:solidFill>
                <a:latin typeface="NanumSquare Neo Regular" pitchFamily="2" charset="-127"/>
                <a:ea typeface="NanumSquare Neo Regular" pitchFamily="2" charset="-127"/>
              </a:rPr>
              <a:t>· </a:t>
            </a:r>
            <a:r>
              <a:rPr sz="950" b="0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원로의 초안을 받아 과거 12년 패턴으로</a:t>
            </a:r>
          </a:p>
          <a:p>
            <a:pPr algn="l">
              <a:spcAft>
                <a:spcPts val="400"/>
              </a:spcAft>
            </a:pPr>
            <a:r>
              <a:rPr sz="950" b="0">
                <a:solidFill>
                  <a:srgbClr val="6B6B6B"/>
                </a:solidFill>
                <a:latin typeface="NanumSquare Neo Regular" pitchFamily="2" charset="-127"/>
                <a:ea typeface="NanumSquare Neo Regular" pitchFamily="2" charset="-127"/>
              </a:rPr>
              <a:t>· </a:t>
            </a:r>
            <a:r>
              <a:rPr sz="950" b="0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비선형 보정 — 원로와 콤비로 현행 최고</a:t>
            </a:r>
          </a:p>
          <a:p>
            <a:pPr algn="l">
              <a:spcAft>
                <a:spcPts val="400"/>
              </a:spcAft>
            </a:pPr>
            <a:r>
              <a:rPr sz="950" b="0">
                <a:solidFill>
                  <a:srgbClr val="6B6B6B"/>
                </a:solidFill>
                <a:latin typeface="NanumSquare Neo Regular" pitchFamily="2" charset="-127"/>
                <a:ea typeface="NanumSquare Neo Regular" pitchFamily="2" charset="-127"/>
              </a:rPr>
              <a:t>· </a:t>
            </a:r>
            <a:r>
              <a:rPr sz="950" b="1">
                <a:solidFill>
                  <a:srgbClr val="243447"/>
                </a:solidFill>
                <a:latin typeface="NanumSquare Neo Regular" pitchFamily="2" charset="-127"/>
                <a:ea typeface="NanumSquare Neo Regular" pitchFamily="2" charset="-127"/>
              </a:rPr>
              <a:t>보는 것: 원로와 같은 34종 + 원로의 초안</a:t>
            </a:r>
          </a:p>
          <a:p>
            <a:pPr algn="l">
              <a:spcAft>
                <a:spcPts val="400"/>
              </a:spcAft>
            </a:pPr>
            <a:r>
              <a:rPr sz="950" b="0">
                <a:solidFill>
                  <a:srgbClr val="6B6B6B"/>
                </a:solidFill>
                <a:latin typeface="NanumSquare Neo Regular" pitchFamily="2" charset="-127"/>
                <a:ea typeface="NanumSquare Neo Regular" pitchFamily="2" charset="-127"/>
              </a:rPr>
              <a:t>· </a:t>
            </a:r>
            <a:r>
              <a:rPr sz="950" b="1">
                <a:solidFill>
                  <a:srgbClr val="243447"/>
                </a:solidFill>
                <a:latin typeface="NanumSquare Neo Regular" pitchFamily="2" charset="-127"/>
                <a:ea typeface="NanumSquare Neo Regular" pitchFamily="2" charset="-127"/>
              </a:rPr>
              <a:t>못 보는 것: 역시 시세판은 못 봄</a:t>
            </a:r>
          </a:p>
          <a:p>
            <a:pPr algn="l">
              <a:spcAft>
                <a:spcPts val="400"/>
              </a:spcAft>
            </a:pPr>
            <a:r>
              <a:rPr sz="950" b="0">
                <a:solidFill>
                  <a:srgbClr val="6B6B6B"/>
                </a:solidFill>
                <a:latin typeface="NanumSquare Neo Regular" pitchFamily="2" charset="-127"/>
                <a:ea typeface="NanumSquare Neo Regular" pitchFamily="2" charset="-127"/>
              </a:rPr>
              <a:t>· </a:t>
            </a:r>
            <a:r>
              <a:rPr sz="950" b="0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약점: 가끔 혼자 지나치게 비관·낙관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47304" y="1234440"/>
            <a:ext cx="3611880" cy="3611880"/>
          </a:xfrm>
          <a:prstGeom prst="roundRect">
            <a:avLst/>
          </a:prstGeom>
          <a:solidFill>
            <a:srgbClr val="F3F4F5"/>
          </a:solidFill>
          <a:ln w="9525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NanumSquare Neo Regular" pitchFamily="2" charset="-127"/>
              <a:ea typeface="NanumSquare Neo Regular" pitchFamily="2" charset="-127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375904" y="1463040"/>
            <a:ext cx="3200400" cy="49859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0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🛰️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75904" y="2148840"/>
            <a:ext cx="3200400" cy="252377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243447"/>
                </a:solidFill>
                <a:latin typeface="NanumSquare Neo Regular" pitchFamily="2" charset="-127"/>
                <a:ea typeface="NanumSquare Neo Regular" pitchFamily="2" charset="-127"/>
              </a:rPr>
              <a:t>외국인 컨설턴트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75904" y="2487168"/>
            <a:ext cx="3200400" cy="19851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6B6B6B"/>
                </a:solidFill>
                <a:latin typeface="NanumSquare Neo Regular" pitchFamily="2" charset="-127"/>
                <a:ea typeface="NanumSquare Neo Regular" pitchFamily="2" charset="-127"/>
              </a:rPr>
              <a:t>Chronos-2f (사전학습 AI, 딥러닝)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375904" y="2852928"/>
            <a:ext cx="3154680" cy="0"/>
          </a:xfrm>
          <a:prstGeom prst="line">
            <a:avLst/>
          </a:prstGeom>
          <a:ln w="9525">
            <a:solidFill>
              <a:srgbClr val="C9C9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8375904" y="2971800"/>
            <a:ext cx="3200400" cy="973087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6B6B6B"/>
                </a:solidFill>
                <a:latin typeface="NanumSquare Neo Regular" pitchFamily="2" charset="-127"/>
                <a:ea typeface="NanumSquare Neo Regular" pitchFamily="2" charset="-127"/>
              </a:rPr>
              <a:t>· </a:t>
            </a:r>
            <a:r>
              <a:rPr sz="950" b="0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한국 데이터로 공부한 적 없음 — 전 세계</a:t>
            </a:r>
          </a:p>
          <a:p>
            <a:pPr algn="l">
              <a:spcAft>
                <a:spcPts val="400"/>
              </a:spcAft>
            </a:pPr>
            <a:r>
              <a:rPr sz="950" b="0">
                <a:solidFill>
                  <a:srgbClr val="6B6B6B"/>
                </a:solidFill>
                <a:latin typeface="NanumSquare Neo Regular" pitchFamily="2" charset="-127"/>
                <a:ea typeface="NanumSquare Neo Regular" pitchFamily="2" charset="-127"/>
              </a:rPr>
              <a:t>· </a:t>
            </a:r>
            <a:r>
              <a:rPr sz="950" b="0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수백만 개 시계열 패턴을 미리 학습(zero-shot)</a:t>
            </a:r>
          </a:p>
          <a:p>
            <a:pPr algn="l">
              <a:spcAft>
                <a:spcPts val="400"/>
              </a:spcAft>
            </a:pPr>
            <a:r>
              <a:rPr sz="950" b="0">
                <a:solidFill>
                  <a:srgbClr val="6B6B6B"/>
                </a:solidFill>
                <a:latin typeface="NanumSquare Neo Regular" pitchFamily="2" charset="-127"/>
                <a:ea typeface="NanumSquare Neo Regular" pitchFamily="2" charset="-127"/>
              </a:rPr>
              <a:t>· </a:t>
            </a:r>
            <a:r>
              <a:rPr sz="950" b="1">
                <a:solidFill>
                  <a:srgbClr val="243447"/>
                </a:solidFill>
                <a:latin typeface="NanumSquare Neo Regular" pitchFamily="2" charset="-127"/>
                <a:ea typeface="NanumSquare Neo Regular" pitchFamily="2" charset="-127"/>
              </a:rPr>
              <a:t>보는 것: 원로의 초안 + 유일하게 시세판</a:t>
            </a:r>
          </a:p>
          <a:p>
            <a:pPr algn="l">
              <a:spcAft>
                <a:spcPts val="400"/>
              </a:spcAft>
            </a:pPr>
            <a:r>
              <a:rPr sz="950" b="0">
                <a:solidFill>
                  <a:srgbClr val="6B6B6B"/>
                </a:solidFill>
                <a:latin typeface="NanumSquare Neo Regular" pitchFamily="2" charset="-127"/>
                <a:ea typeface="NanumSquare Neo Regular" pitchFamily="2" charset="-127"/>
              </a:rPr>
              <a:t>  (일별 KOSPI·원달러 + 심리 원지수)</a:t>
            </a:r>
          </a:p>
          <a:p>
            <a:pPr algn="l">
              <a:spcAft>
                <a:spcPts val="400"/>
              </a:spcAft>
            </a:pPr>
            <a:r>
              <a:rPr sz="950" b="0">
                <a:solidFill>
                  <a:srgbClr val="6B6B6B"/>
                </a:solidFill>
                <a:latin typeface="NanumSquare Neo Regular" pitchFamily="2" charset="-127"/>
                <a:ea typeface="NanumSquare Neo Regular" pitchFamily="2" charset="-127"/>
              </a:rPr>
              <a:t>· </a:t>
            </a:r>
            <a:r>
              <a:rPr sz="950" b="0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약점: 평온기엔 원로+조수 콤비보다 부정확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5120640"/>
            <a:ext cx="11155680" cy="20621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243447"/>
                </a:solidFill>
                <a:latin typeface="NanumSquare Neo Regular" pitchFamily="2" charset="-127"/>
                <a:ea typeface="NanumSquare Neo Regular" pitchFamily="2" charset="-127"/>
              </a:rPr>
              <a:t>성적표 (8년 32분기 실시간 재현 오차, 낮을수록 정확)   </a:t>
            </a:r>
            <a:r>
              <a:rPr sz="1100" b="0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원로 단독 0.865   ·   원로+조수 0.765 </a:t>
            </a:r>
            <a:r>
              <a:rPr sz="1100" b="1">
                <a:solidFill>
                  <a:srgbClr val="008A3E"/>
                </a:solidFill>
                <a:latin typeface="NanumSquare Neo Regular" pitchFamily="2" charset="-127"/>
                <a:ea typeface="NanumSquare Neo Regular" pitchFamily="2" charset="-127"/>
              </a:rPr>
              <a:t>← 현행 최고</a:t>
            </a:r>
            <a:r>
              <a:rPr sz="1100" b="0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   ·   컨설턴트 단독 0.808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6263640"/>
            <a:ext cx="11183112" cy="384048"/>
          </a:xfrm>
          <a:prstGeom prst="rect">
            <a:avLst/>
          </a:prstGeom>
          <a:solidFill>
            <a:srgbClr val="F3F4F5"/>
          </a:solidFill>
          <a:ln w="9525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NanumSquare Neo Regular" pitchFamily="2" charset="-127"/>
              <a:ea typeface="NanumSquare Neo Regular" pitchFamily="2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85800" y="6367947"/>
            <a:ext cx="10881360" cy="175433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6B6B6B"/>
                </a:solidFill>
                <a:latin typeface="NanumSquare Neo Regular" pitchFamily="2" charset="-127"/>
                <a:ea typeface="NanumSquare Neo Regular" pitchFamily="2" charset="-127"/>
              </a:rPr>
              <a:t>모두 동일 조건: 한은 실시간 빈티지, 속보치 기준, 전망주차 w[-19,-1] 평균 RMSE, 2018Q1~2025Q4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34471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008A3E"/>
                </a:solidFill>
                <a:latin typeface="NanumSquare Neo Regular" pitchFamily="2" charset="-127"/>
                <a:ea typeface="NanumSquare Neo Regular" pitchFamily="2" charset="-127"/>
              </a:rPr>
              <a:t>02  </a:t>
            </a:r>
            <a:r>
              <a:rPr sz="2000" b="1">
                <a:solidFill>
                  <a:srgbClr val="243447"/>
                </a:solidFill>
                <a:latin typeface="NanumSquare Neo Regular" pitchFamily="2" charset="-127"/>
                <a:ea typeface="NanumSquare Neo Regular" pitchFamily="2" charset="-127"/>
              </a:rPr>
              <a:t>사건 — 2020년 여름, 시세판은 알고 있었다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841248"/>
            <a:ext cx="11183112" cy="0"/>
          </a:xfrm>
          <a:prstGeom prst="line">
            <a:avLst/>
          </a:prstGeom>
          <a:ln w="20320">
            <a:solidFill>
              <a:srgbClr val="2434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188720"/>
            <a:ext cx="5029200" cy="3165995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43447"/>
                </a:solidFill>
                <a:latin typeface="NanumSquare Neo Regular" pitchFamily="2" charset="-127"/>
                <a:ea typeface="NanumSquare Neo Regular" pitchFamily="2" charset="-127"/>
              </a:rPr>
              <a:t>코로나 직후, 3분기 반등을 맞힐 수 있는가</a:t>
            </a:r>
          </a:p>
          <a:p>
            <a:pPr algn="l">
              <a:spcAft>
                <a:spcPts val="200"/>
              </a:spcAft>
            </a:pPr>
            <a:endParaRPr sz="1300" b="1">
              <a:solidFill>
                <a:srgbClr val="243447"/>
              </a:solidFill>
              <a:latin typeface="NanumSquare Neo Regular" pitchFamily="2" charset="-127"/>
              <a:ea typeface="NanumSquare Neo Regular" pitchFamily="2" charset="-127"/>
            </a:endParaRP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· 공식 심리지표(ESI)는 4월 55.7로 바닥을 찍고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  여름까지도 채 회복하지 못한 상태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· 그런데 주식시장은 4월부터 넉 달 연속 강한 반등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  — 주가·환율은 발표를 기다릴 필요 없이 당일 확정</a:t>
            </a:r>
          </a:p>
          <a:p>
            <a:pPr algn="l">
              <a:spcAft>
                <a:spcPts val="200"/>
              </a:spcAft>
            </a:pPr>
            <a:endParaRPr sz="1100" b="0">
              <a:solidFill>
                <a:srgbClr val="262626"/>
              </a:solidFill>
              <a:latin typeface="NanumSquare Neo Regular" pitchFamily="2" charset="-127"/>
              <a:ea typeface="NanumSquare Neo Regular" pitchFamily="2" charset="-127"/>
            </a:endParaRP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243447"/>
                </a:solidFill>
                <a:latin typeface="NanumSquare Neo Regular" pitchFamily="2" charset="-127"/>
                <a:ea typeface="NanumSquare Neo Regular" pitchFamily="2" charset="-127"/>
              </a:rPr>
              <a:t>발표 16주 전, 각자의 예측은</a:t>
            </a:r>
          </a:p>
          <a:p>
            <a:pPr algn="l">
              <a:spcAft>
                <a:spcPts val="200"/>
              </a:spcAft>
            </a:pPr>
            <a:endParaRPr sz="1300" b="1">
              <a:solidFill>
                <a:srgbClr val="243447"/>
              </a:solidFill>
              <a:latin typeface="NanumSquare Neo Regular" pitchFamily="2" charset="-127"/>
              <a:ea typeface="NanumSquare Neo Regular" pitchFamily="2" charset="-127"/>
            </a:endParaRP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· 원로(공식지표만): </a:t>
            </a:r>
            <a:r>
              <a:rPr sz="1200" b="1">
                <a:solidFill>
                  <a:srgbClr val="B0532F"/>
                </a:solidFill>
                <a:latin typeface="NanumSquare Neo Regular" pitchFamily="2" charset="-127"/>
                <a:ea typeface="NanumSquare Neo Regular" pitchFamily="2" charset="-127"/>
              </a:rPr>
              <a:t>-0.5%</a:t>
            </a:r>
            <a:r>
              <a:rPr sz="1050" b="0">
                <a:solidFill>
                  <a:srgbClr val="6B6B6B"/>
                </a:solidFill>
                <a:latin typeface="NanumSquare Neo Regular" pitchFamily="2" charset="-127"/>
                <a:ea typeface="NanumSquare Neo Regular" pitchFamily="2" charset="-127"/>
              </a:rPr>
              <a:t>  "아직 침체입니다"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· 컨설턴트(시세판 포함): </a:t>
            </a:r>
            <a:r>
              <a:rPr sz="1200" b="1">
                <a:solidFill>
                  <a:srgbClr val="1C5CAB"/>
                </a:solidFill>
                <a:latin typeface="NanumSquare Neo Regular" pitchFamily="2" charset="-127"/>
                <a:ea typeface="NanumSquare Neo Regular" pitchFamily="2" charset="-127"/>
              </a:rPr>
              <a:t>-0.27%</a:t>
            </a:r>
            <a:r>
              <a:rPr sz="1050" b="0">
                <a:solidFill>
                  <a:srgbClr val="6B6B6B"/>
                </a:solidFill>
                <a:latin typeface="NanumSquare Neo Regular" pitchFamily="2" charset="-127"/>
                <a:ea typeface="NanumSquare Neo Regular" pitchFamily="2" charset="-127"/>
              </a:rPr>
              <a:t>  "반등 조짐이 보입니다"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· 실제 속보치: </a:t>
            </a:r>
            <a:r>
              <a:rPr sz="1300" b="1">
                <a:solidFill>
                  <a:srgbClr val="008A3E"/>
                </a:solidFill>
                <a:latin typeface="NanumSquare Neo Regular" pitchFamily="2" charset="-127"/>
                <a:ea typeface="NanumSquare Neo Regular" pitchFamily="2" charset="-127"/>
              </a:rPr>
              <a:t>+1.9%</a:t>
            </a:r>
          </a:p>
          <a:p>
            <a:pPr algn="l">
              <a:spcAft>
                <a:spcPts val="200"/>
              </a:spcAft>
            </a:pPr>
            <a:endParaRPr sz="1300" b="1">
              <a:solidFill>
                <a:srgbClr val="008A3E"/>
              </a:solidFill>
              <a:latin typeface="NanumSquare Neo Regular" pitchFamily="2" charset="-127"/>
              <a:ea typeface="NanumSquare Neo Regular" pitchFamily="2" charset="-127"/>
            </a:endParaRP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모두 틀렸지만 — 시세판을 본 쪽이 덜 틀렸고,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발표가 가까워질수록 그 격차는 벌어졌습니다.</a:t>
            </a:r>
          </a:p>
        </p:txBody>
      </p:sp>
      <p:pic>
        <p:nvPicPr>
          <p:cNvPr id="5" name="Picture 4" descr="story_c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234440"/>
            <a:ext cx="5943600" cy="444622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02920" y="6263640"/>
            <a:ext cx="11183112" cy="384048"/>
          </a:xfrm>
          <a:prstGeom prst="rect">
            <a:avLst/>
          </a:prstGeom>
          <a:solidFill>
            <a:srgbClr val="F3F4F5"/>
          </a:solidFill>
          <a:ln w="9525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NanumSquare Neo Regular" pitchFamily="2" charset="-127"/>
              <a:ea typeface="NanumSquare Neo Regular" pitchFamily="2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85800" y="6367947"/>
            <a:ext cx="10881360" cy="175433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6B6B6B"/>
                </a:solidFill>
                <a:latin typeface="NanumSquare Neo Regular" pitchFamily="2" charset="-127"/>
                <a:ea typeface="NanumSquare Neo Regular" pitchFamily="2" charset="-127"/>
              </a:rPr>
              <a:t>반등 분기 6개(2018Q1·2019Q2·2020Q3·2023Q1·2024Q3·2025Q2) 평균에서도 컨설턴트(0.581)가 원로(0.621)보다 정확 — 시세판 정보의 가치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34471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008A3E"/>
                </a:solidFill>
                <a:latin typeface="NanumSquare Neo Regular" pitchFamily="2" charset="-127"/>
                <a:ea typeface="NanumSquare Neo Regular" pitchFamily="2" charset="-127"/>
              </a:rPr>
              <a:t>03  </a:t>
            </a:r>
            <a:r>
              <a:rPr sz="2000" b="1">
                <a:solidFill>
                  <a:srgbClr val="243447"/>
                </a:solidFill>
                <a:latin typeface="NanumSquare Neo Regular" pitchFamily="2" charset="-127"/>
                <a:ea typeface="NanumSquare Neo Regular" pitchFamily="2" charset="-127"/>
              </a:rPr>
              <a:t>반전 — 원로와 컨설턴트, 둘만 섞었더니 오히려 나빠졌다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841248"/>
            <a:ext cx="11183112" cy="0"/>
          </a:xfrm>
          <a:prstGeom prst="line">
            <a:avLst/>
          </a:prstGeom>
          <a:ln w="20320">
            <a:solidFill>
              <a:srgbClr val="2434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story_c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80160"/>
            <a:ext cx="5669280" cy="408257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0" y="1234440"/>
            <a:ext cx="5257800" cy="44730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43447"/>
                </a:solidFill>
                <a:latin typeface="NanumSquare Neo Regular" pitchFamily="2" charset="-127"/>
                <a:ea typeface="NanumSquare Neo Regular" pitchFamily="2" charset="-127"/>
              </a:rPr>
              <a:t>"좋은 둘을 평균하면 더 좋아지겠지?" — 아니었습니다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두 사람 평균의 8년 성적: 0.808 → </a:t>
            </a:r>
            <a:r>
              <a:rPr sz="1200" b="1">
                <a:solidFill>
                  <a:srgbClr val="B0532F"/>
                </a:solidFill>
                <a:latin typeface="NanumSquare Neo Regular" pitchFamily="2" charset="-127"/>
                <a:ea typeface="NanumSquare Neo Regular" pitchFamily="2" charset="-127"/>
              </a:rPr>
              <a:t>0.828 (후퇴)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2148840"/>
            <a:ext cx="5257800" cy="1280160"/>
          </a:xfrm>
          <a:prstGeom prst="roundRect">
            <a:avLst/>
          </a:prstGeom>
          <a:solidFill>
            <a:srgbClr val="F3F4F5"/>
          </a:solidFill>
          <a:ln w="9525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NanumSquare Neo Regular" pitchFamily="2" charset="-127"/>
              <a:ea typeface="NanumSquare Neo Regular" pitchFamily="2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629400" y="2286000"/>
            <a:ext cx="4846320" cy="81406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>
                <a:solidFill>
                  <a:srgbClr val="243447"/>
                </a:solidFill>
                <a:latin typeface="NanumSquare Neo Regular" pitchFamily="2" charset="-127"/>
                <a:ea typeface="NanumSquare Neo Regular" pitchFamily="2" charset="-127"/>
              </a:rPr>
              <a:t>이유: 컨설턴트는 백지에서 시작하지 않는다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컨설턴트가 받아보는 '과거 GDP 흐름' 자체가 원로가 만든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월별 초안입니다. 즉 컨설턴트의 의견에는 이미 원로가</a:t>
            </a:r>
          </a:p>
          <a:p>
            <a:pPr algn="l">
              <a:spcAft>
                <a:spcPts val="300"/>
              </a:spcAft>
            </a:pPr>
            <a:r>
              <a:rPr sz="1050" b="1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절반쯤 들어있습니다.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3703320"/>
            <a:ext cx="5257800" cy="134498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그 상태에서 원로와 또 평균하면:</a:t>
            </a:r>
          </a:p>
          <a:p>
            <a:pPr algn="l">
              <a:spcAft>
                <a:spcPts val="200"/>
              </a:spcAft>
            </a:pPr>
            <a:endParaRPr sz="1100" b="1">
              <a:solidFill>
                <a:srgbClr val="262626"/>
              </a:solidFill>
              <a:latin typeface="NanumSquare Neo Regular" pitchFamily="2" charset="-127"/>
              <a:ea typeface="NanumSquare Neo Regular" pitchFamily="2" charset="-127"/>
            </a:endParaRP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· 사실상 </a:t>
            </a:r>
            <a:r>
              <a:rPr sz="1050" b="1">
                <a:solidFill>
                  <a:srgbClr val="243447"/>
                </a:solidFill>
                <a:latin typeface="NanumSquare Neo Regular" pitchFamily="2" charset="-127"/>
                <a:ea typeface="NanumSquare Neo Regular" pitchFamily="2" charset="-127"/>
              </a:rPr>
              <a:t>원로 의견 1.5표 + 시세판 정보 0.5표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· 유일하게 새로웠던 시세판 정보가 희석되고,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· 원로가 틀린 구간에서는 그 오차까지 전염됩니다</a:t>
            </a:r>
          </a:p>
          <a:p>
            <a:pPr algn="l">
              <a:spcAft>
                <a:spcPts val="200"/>
              </a:spcAft>
            </a:pPr>
            <a:endParaRPr sz="1050" b="0">
              <a:solidFill>
                <a:srgbClr val="262626"/>
              </a:solidFill>
              <a:latin typeface="NanumSquare Neo Regular" pitchFamily="2" charset="-127"/>
              <a:ea typeface="NanumSquare Neo Regular" pitchFamily="2" charset="-127"/>
            </a:endParaRP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B0532F"/>
                </a:solidFill>
                <a:latin typeface="NanumSquare Neo Regular" pitchFamily="2" charset="-127"/>
                <a:ea typeface="NanumSquare Neo Regular" pitchFamily="2" charset="-127"/>
              </a:rPr>
              <a:t>→ 회의에서 같은 사람 말을 두 번 듣는 것과 같습니다.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263640"/>
            <a:ext cx="11183112" cy="384048"/>
          </a:xfrm>
          <a:prstGeom prst="rect">
            <a:avLst/>
          </a:prstGeom>
          <a:solidFill>
            <a:srgbClr val="F3F4F5"/>
          </a:solidFill>
          <a:ln w="9525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NanumSquare Neo Regular" pitchFamily="2" charset="-127"/>
              <a:ea typeface="NanumSquare Neo Regular" pitchFamily="2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85800" y="6367947"/>
            <a:ext cx="10881360" cy="175433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6B6B6B"/>
                </a:solidFill>
                <a:latin typeface="NanumSquare Neo Regular" pitchFamily="2" charset="-127"/>
                <a:ea typeface="NanumSquare Neo Regular" pitchFamily="2" charset="-127"/>
              </a:rPr>
              <a:t>원로 단독+컨설턴트 50:50 평균 = 0.828 (컨설턴트 단독 0.808보다 열세) — 정보 중복과 오차 전염이 원인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34471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008A3E"/>
                </a:solidFill>
                <a:latin typeface="NanumSquare Neo Regular" pitchFamily="2" charset="-127"/>
                <a:ea typeface="NanumSquare Neo Regular" pitchFamily="2" charset="-127"/>
              </a:rPr>
              <a:t>04  </a:t>
            </a:r>
            <a:r>
              <a:rPr sz="2000" b="1">
                <a:solidFill>
                  <a:srgbClr val="243447"/>
                </a:solidFill>
                <a:latin typeface="NanumSquare Neo Regular" pitchFamily="2" charset="-127"/>
                <a:ea typeface="NanumSquare Neo Regular" pitchFamily="2" charset="-127"/>
              </a:rPr>
              <a:t>결말 — 세 명이 각자 한 표씩, '균등 위원회'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841248"/>
            <a:ext cx="11183112" cy="0"/>
          </a:xfrm>
          <a:prstGeom prst="line">
            <a:avLst/>
          </a:prstGeom>
          <a:ln w="20320">
            <a:solidFill>
              <a:srgbClr val="2434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story_c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0"/>
            <a:ext cx="6309360" cy="295014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03720" y="1234440"/>
            <a:ext cx="4754880" cy="140910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243447"/>
                </a:solidFill>
                <a:latin typeface="NanumSquare Neo Regular" pitchFamily="2" charset="-127"/>
                <a:ea typeface="NanumSquare Neo Regular" pitchFamily="2" charset="-127"/>
              </a:rPr>
              <a:t>(원로 + 조수 + 컨설턴트) ÷ 3 = </a:t>
            </a:r>
            <a:r>
              <a:rPr sz="1400" b="1">
                <a:solidFill>
                  <a:srgbClr val="008A3E"/>
                </a:solidFill>
                <a:latin typeface="NanumSquare Neo Regular" pitchFamily="2" charset="-127"/>
                <a:ea typeface="NanumSquare Neo Regular" pitchFamily="2" charset="-127"/>
              </a:rPr>
              <a:t>0.746</a:t>
            </a:r>
          </a:p>
          <a:p>
            <a:pPr algn="l">
              <a:spcAft>
                <a:spcPts val="400"/>
              </a:spcAft>
            </a:pPr>
            <a:endParaRPr sz="1400" b="1">
              <a:solidFill>
                <a:srgbClr val="008A3E"/>
              </a:solidFill>
              <a:latin typeface="NanumSquare Neo Regular" pitchFamily="2" charset="-127"/>
              <a:ea typeface="NanumSquare Neo Regular" pitchFamily="2" charset="-127"/>
            </a:endParaRP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· 현행 최고(0.765) 대비 </a:t>
            </a:r>
            <a:r>
              <a:rPr sz="1150" b="1">
                <a:solidFill>
                  <a:srgbClr val="008A3E"/>
                </a:solidFill>
                <a:latin typeface="NanumSquare Neo Regular" pitchFamily="2" charset="-127"/>
                <a:ea typeface="NanumSquare Neo Regular" pitchFamily="2" charset="-127"/>
              </a:rPr>
              <a:t>-2.5%</a:t>
            </a:r>
            <a:r>
              <a:rPr sz="1100" b="0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 — 국면 판단 없이 달성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· 32개 분기 중 </a:t>
            </a:r>
            <a:r>
              <a:rPr sz="1100" b="1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20개 분기에서 개선</a:t>
            </a:r>
            <a:r>
              <a:rPr sz="1000" b="0">
                <a:solidFill>
                  <a:srgbClr val="6B6B6B"/>
                </a:solidFill>
                <a:latin typeface="NanumSquare Neo Regular" pitchFamily="2" charset="-127"/>
                <a:ea typeface="NanumSquare Neo Regular" pitchFamily="2" charset="-127"/>
              </a:rPr>
              <a:t> (코로나 시기 제외에도 유효)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· 반등 분기 오차 0.815 → </a:t>
            </a:r>
            <a:r>
              <a:rPr sz="1100" b="1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0.715</a:t>
            </a:r>
            <a:r>
              <a:rPr sz="1000" b="0">
                <a:solidFill>
                  <a:srgbClr val="6B6B6B"/>
                </a:solidFill>
                <a:latin typeface="NanumSquare Neo Regular" pitchFamily="2" charset="-127"/>
                <a:ea typeface="NanumSquare Neo Regular" pitchFamily="2" charset="-127"/>
              </a:rPr>
              <a:t> — 시세판 정보가 제몫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· 가중치 튜닝 없음 — 단순 균등 1표씩이 최적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03720" y="3703320"/>
            <a:ext cx="4754880" cy="1234440"/>
          </a:xfrm>
          <a:prstGeom prst="roundRect">
            <a:avLst/>
          </a:prstGeom>
          <a:solidFill>
            <a:srgbClr val="E8F3EC"/>
          </a:solidFill>
          <a:ln w="9525">
            <a:solidFill>
              <a:srgbClr val="008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NanumSquare Neo Regular" pitchFamily="2" charset="-127"/>
              <a:ea typeface="NanumSquare Neo Regular" pitchFamily="2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104888" y="3840480"/>
            <a:ext cx="4389120" cy="81406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>
                <a:solidFill>
                  <a:srgbClr val="008A3E"/>
                </a:solidFill>
                <a:latin typeface="NanumSquare Neo Regular" pitchFamily="2" charset="-127"/>
                <a:ea typeface="NanumSquare Neo Regular" pitchFamily="2" charset="-127"/>
              </a:rPr>
              <a:t>왜 위원회는 이기는가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세 사람은 서로 다른 순간에, 서로 다른 방향으로 틀립니다.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조수가 혼자 비관할 때 컨설턴트가 되돌리고, 컨설턴트가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평온기에 흔들릴 때 원로+조수가 잡아줍니다.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03720" y="5120640"/>
            <a:ext cx="4754880" cy="35496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6B6B6B"/>
                </a:solidFill>
                <a:latin typeface="NanumSquare Neo Regular" pitchFamily="2" charset="-127"/>
                <a:ea typeface="NanumSquare Neo Regular" pitchFamily="2" charset="-127"/>
              </a:rPr>
              <a:t>유의사항: 개선폭 2.5%는 32분기 표본으로는 통계적 유의성 미달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6B6B6B"/>
                </a:solidFill>
                <a:latin typeface="NanumSquare Neo Regular" pitchFamily="2" charset="-127"/>
                <a:ea typeface="NanumSquare Neo Regular" pitchFamily="2" charset="-127"/>
              </a:rPr>
              <a:t>(p=0.37) — 보고 수위는 "기존 대비 비열등 + 개선 방향"이 정직합니다.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263640"/>
            <a:ext cx="11183112" cy="384048"/>
          </a:xfrm>
          <a:prstGeom prst="rect">
            <a:avLst/>
          </a:prstGeom>
          <a:solidFill>
            <a:srgbClr val="F3F4F5"/>
          </a:solidFill>
          <a:ln w="9525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NanumSquare Neo Regular" pitchFamily="2" charset="-127"/>
              <a:ea typeface="NanumSquare Neo Regular" pitchFamily="2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85800" y="6367947"/>
            <a:ext cx="10881360" cy="175433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6B6B6B"/>
                </a:solidFill>
                <a:latin typeface="NanumSquare Neo Regular" pitchFamily="2" charset="-127"/>
                <a:ea typeface="NanumSquare Neo Regular" pitchFamily="2" charset="-127"/>
              </a:rPr>
              <a:t>다음 갈림길: 이 결과는 '중심선 교체' 옵션 — 예측 불변이 전제인 fan chart 제안과 별개 트랙으로, 한은 수용성에 따라 선택 제시 가능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689</Words>
  <Application>Microsoft Macintosh PowerPoint</Application>
  <PresentationFormat>와이드스크린</PresentationFormat>
  <Paragraphs>78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9" baseType="lpstr">
      <vt:lpstr>NanumSquare Neo Regular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김용민</cp:lastModifiedBy>
  <cp:revision>2</cp:revision>
  <dcterms:created xsi:type="dcterms:W3CDTF">2013-01-27T09:14:16Z</dcterms:created>
  <dcterms:modified xsi:type="dcterms:W3CDTF">2026-07-28T23:52:31Z</dcterms:modified>
  <cp:category/>
</cp:coreProperties>
</file>