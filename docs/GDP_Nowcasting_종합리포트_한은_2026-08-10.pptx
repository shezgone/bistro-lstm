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전망시계 하이브리드의 -1.3%는 DM 검정 유의성 미달(p=0.41)이며, 7개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①의 '학습형 전패'는 우연이 아니라 구조적 결과 — 유효 표본 32개에서 추정하는 모든 추가 파라미터가 과적합 비용을 지불함. ②는 당사와 한은이 독립적으로 같은 결론에 도달했다는 점이 중요. ③이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하이브리드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0">
                <a:solidFill>
                  <a:srgbClr val="243447"/>
                </a:solidFill>
                <a:latin typeface="Apple SD Gothic Neo"/>
                <a:ea typeface="Apple SD Gothic Neo"/>
              </a:rPr>
              <a:t>검증 총괄 · 방법론 시사점 ·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956048" y="3840480"/>
            <a:ext cx="22860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31520" y="402336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Lab  |  2026.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26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구성: 리더보드 · 시사점 · 전망시계 진단 · 문맥학습(ICL) 방식의 한계 · 트랜스포머류의 한계와 기여 지점 · 공동 논문 방향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01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검증 리더보드 — 예측단위 개정(schema v2) 이후 통합 순위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6949440" cy="34618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280160"/>
            <a:ext cx="4023360" cy="4754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읽는 법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전 구성 동일 규약 — 직접 비교 가능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전 수치(예: 종전 DFM+XGBoost 0.765)는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단위 정합성 문제로 비교 불가 — 표에서 제외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개정 후 XGBoost 단독(0.750)이 사실상 기준선.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DFM 결합(0.787)을 포함한 대부분의 결합이 열세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이를 수치상 상회하는 유일 구성(0.740) =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전: GBM·Chronos-2 예측의 평균,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발표 13~1주 전: XGBoost 단독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— 주차별 교대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관찰 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딥러닝 단독 최고는 Chronos-2+일별신호(0.808)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— 기준선 미달이나 특정 조건(3장)에서 우위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 · 이외 30여 개 구성(직접학습 신경망, 학습형 결합 등)은 전부 기준선 미달로 생략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02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시사점 — 32개 분기 표본이 가르쳐준 세 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188720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335024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719072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데이터로부터 배우려는 개선책 — 결합 가중치 학습, 성과 기반 적응 가중, 잔차 보정 학습,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 미세조정 — 을 모두 동일 규약으로 검증한 결과 전부 기준선 미달.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생존한 것은 사람이 고정한 단순 규칙(균등 평균, 주차별 교대)뿐 — 4개 계열 일관된 결론.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71216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0175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01568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분석: 32개 분기에서는 6% 개선도 DM p=0.088. 한은 측 MCS 검정에서도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 — 동일한 결론.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따라서 점 예측 정확도 '순위 경쟁'은 이 표본에서 판정 불가능한 게임입니다.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53712"/>
            <a:ext cx="11183112" cy="1536192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90872"/>
            <a:ext cx="5486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08A3E"/>
                </a:solidFill>
                <a:latin typeface="Apple SD Gothic Neo"/>
                <a:ea typeface="Apple SD Gothic Neo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700016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정확도 경쟁 대신 '조건부 가치'로 질문을 바꾸면 답이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84064"/>
            <a:ext cx="101498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"어느 모델이 이기나"가 아니라 "어떤 조건에서 무엇이 기여하나"로 바꾸면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정보 빈곤 구간(발표 19~14주 전, 경기 반등기)에서 사전학습 모델의 기여가 일관되게 관찰됩니다.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이 조건부 발견이 공동 연구(6장)의 핵심 재료입니다.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03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전망시계 진단 — 사전학습 모델이 기여하는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6035040" cy="4085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66560" y="1280160"/>
            <a:ext cx="489204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발견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구간(발표 19~14주 전): 해당 분기 공식지표가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거의 없는 정보 빈곤기 — XGBoost 우위 소멸,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사전학습 모델(Chronos-2f)·GBM이 근소 우위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중반 이후: 지표 축적과 함께 XGBoost 독주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6개 평균: Chronos-2f 0.581 &lt;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XGBoost 0.717 — 일별 금융·심리 신호의 기여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3657600"/>
            <a:ext cx="4892040" cy="2240280"/>
          </a:xfrm>
          <a:prstGeom prst="roundRect">
            <a:avLst/>
          </a:prstGeom>
          <a:solidFill>
            <a:srgbClr val="E8F3EC"/>
          </a:solidFill>
          <a:ln w="9525">
            <a:solidFill>
              <a:srgbClr val="00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67728" y="3767328"/>
            <a:ext cx="45262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(0.740, -1.3%)</a:t>
            </a:r>
          </a:p>
        </p:txBody>
      </p:sp>
      <p:sp>
        <p:nvSpPr>
          <p:cNvPr id="8" name="Rectangle 7"/>
          <p:cNvSpPr/>
          <p:nvPr/>
        </p:nvSpPr>
        <p:spPr>
          <a:xfrm>
            <a:off x="6995160" y="4160520"/>
            <a:ext cx="1400475" cy="384048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32211" y="4160520"/>
            <a:ext cx="2997788" cy="384048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0" y="4215383"/>
            <a:ext cx="1491915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2211" y="4215383"/>
            <a:ext cx="2997788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599431"/>
            <a:ext cx="1857675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2211" y="4599431"/>
            <a:ext cx="2997788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67728" y="5257800"/>
            <a:ext cx="452628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판단 없음 — 주차에 따른 고정 교대 규칙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· 수위: 비열등 확인 + 개선 방향 (유의성 미달 명시)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 · 반등 분기 6개: 2018Q1·2019Q2·2020Q3·2023Q1·2024Q3·2025Q2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04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 계열의 한계 — GDP 나우캐스팅 관점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14300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ICL(In-Context Learning) = 모델 파라미터를 학습하지 않고, 과거 데이터를 문맥(프롬프트)으로 제시해 예측을 얻는 방식 (LLM 활용 계열 포함)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 예측의 구조적 한계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993392"/>
            <a:ext cx="53949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210312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① 학습데이터 오염 (가장 결정적)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실적·경제 뉴스가 LLM 사전학습에 이미 포함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"그 시점에 몰랐던 값"을 모델이 알고 있을 가능성을 배제 불가.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262626"/>
                </a:solidFill>
                <a:latin typeface="Apple SD Gothic Neo"/>
                <a:ea typeface="Apple SD Gothic Neo"/>
              </a:rPr>
              <a:t>실시간 재현 채점 자체가 성립하지 않아 리더보드에서 제외.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예비실험도 '오염 상한'으로만 해석 (공정 점수 아님)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② 재현성·감사가능성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 변동, 모델 버전 변경 시 결과 비복원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중앙은행 운영 요건(재현·감사·설명책임)과 정면 충돌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③ 수치 정밀도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정밀 회귀에 부적합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신경망 이식판의 실측 (참고)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09360" y="1993392"/>
            <a:ext cx="53949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09360" y="2103120"/>
            <a:ext cx="539496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사내 어텐션 LSTM 계열(BISTRO 유사 구조)을 당사가 GDP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과제용으로 재구현해 동일 규약으로 채점한 결과:</a:t>
            </a:r>
          </a:p>
          <a:p>
            <a:pPr algn="l">
              <a:spcAft>
                <a:spcPts val="200"/>
              </a:spcAft>
            </a:pPr>
            <a:r>
              <a:rPr sz="3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동일 패널 소비로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결합 다양성 부재 (모든 결합 배합에서 단조 열화)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 직접학습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6B6B6B"/>
                </a:solidFill>
                <a:latin typeface="Apple SD Gothic Neo"/>
                <a:ea typeface="Apple SD Gothic Neo"/>
              </a:rPr>
              <a:t>※ 유의: 본 결과는 당사 재구현 이식판에 대한 동일 규약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 판정이며, 원 연구·타 과제(물가 등)에서의 성능에 대한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 판정이 아님. 원본도 동일 규약 채점 시 공정 비교 가능.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05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트랜스포머류(파운데이션 모델)가 점 예측에 기여하기 어려운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188720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307592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소표본 정형 데이터는 GBDT의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45920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 우위는 문헌 일반 결과(Grinsztajn et al., NeurIPS 2022)와 당사 실측(직접학습 신경망 전멸)이 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32304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42032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551176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사전학습 지식 ≠ 한국 거시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889504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시계열의 보편 문법(추세·계절성) — 지표 간 인과·한국 특수성은 없음. 공변량 소화력도 XGBoost(34종 비선형)에 미달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785616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794760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정보 상한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33088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불변(상관 0.990) — 병목은 모델·표본량이 아니라 입력 패널이 가진 정보 자체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6858000" cy="111556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29200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B0532F"/>
                </a:solidFill>
                <a:latin typeface="Apple SD Gothic Neo"/>
                <a:ea typeface="Apple SD Gothic Neo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038344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분포 출력의 과소산포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376672"/>
            <a:ext cx="598932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 49%(명목 80%) — 그대로 사용 불가, 사후 보정 필수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1188720"/>
            <a:ext cx="4096512" cy="4937760"/>
          </a:xfrm>
          <a:prstGeom prst="roundRect">
            <a:avLst/>
          </a:prstGeom>
          <a:solidFill>
            <a:srgbClr val="E8F3EC"/>
          </a:solidFill>
          <a:ln w="9525">
            <a:solidFill>
              <a:srgbClr val="00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1371600"/>
            <a:ext cx="3657600" cy="4572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5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정보 빈곤 구간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 공식지표 공백기에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 + 일별 신호로 보완 (3장)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경기 반등기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 — 전 구성 중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최강. 주가·환율·심리 원지수가 공식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지표의 발표 시차를 메움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불확실성 정량화 재료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 결합 시 예측구간의</a:t>
            </a:r>
          </a:p>
          <a:p>
            <a:pPr algn="l">
              <a:spcAft>
                <a:spcPts val="25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품질 개선 확인 — 연구 재료로 유효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06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 제안 — "사전학습 시계열 모델은 언제 가치를 더하는가"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14300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프레임: 우월성 주장이 아닌 조건부 가치 규명 — </a:t>
            </a: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"When do time-series foundation models add value? A real-time evaluation of GDP nowcasting"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(모두 실측 완료)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66543"/>
            <a:ext cx="58521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2176272"/>
            <a:ext cx="5852160" cy="3291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주 단위 19회 예측 그리드 — 기존 문헌은 대부분 사후 확정 데이터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정보 빈곤 구간·반등기에서만 기여 — 메커니즘 있는 조건부 발견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 (0.836→0.808)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 + 사후보정 처방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— 학습형 전패·고정 구조 생존 + 검정력 분석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   MCS 전원 생존 결과와 함께 '평가 축 재설계' 논의로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20640"/>
            <a:ext cx="5852160" cy="100584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230368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|  당사: 모델·평가 인프라·실험 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965192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한계의 정면 돌파 (Future Work 아님 — 설계에 포함)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0840" y="2066543"/>
            <a:ext cx="4965192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2176272"/>
            <a:ext cx="4965192" cy="2743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다국가 복제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미국 ALFRED(세인트루이스 연준 실시간 DB, 공개) ·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유로존 ECB 실시간 DB로 동일 프레임 재현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3개 지역 일관 결과로 소표본 반론에 선제 대응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사전등록 라이브 추적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하이브리드 구성을 고정·공개 후 향후 분기를 실전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축적 — 선택편의 없는 표본외 증거 확보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· 유의성 논의는 본문에서 정면 처리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검정력 분석 + MCS를 '평가 방법론 기여'로 배치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  약점 고백이 아니라 논문 주장의 일부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데이터 공개 방식(코드 공개 + 빈티지 데이터 접근 절차)은 초기 합의 필요 · 기준선 개정 경위의 서술 수위는 공동저자 협의 사항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8A3E"/>
                </a:solidFill>
                <a:latin typeface="Apple SD Gothic Neo"/>
                <a:ea typeface="Apple SD Gothic Neo"/>
              </a:rPr>
              <a:t>07  </a:t>
            </a:r>
            <a:r>
              <a:rPr sz="1900" b="1">
                <a:solidFill>
                  <a:srgbClr val="243447"/>
                </a:solidFill>
                <a:latin typeface="Apple SD Gothic Neo"/>
                <a:ea typeface="Apple SD Gothic Neo"/>
              </a:rPr>
              <a:t>요약 및 다음 단계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234440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1353312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인정. 주차별 결합(조기 6주 = GBM·Chronos-2 평균 → 이후 XGBoost, 0.740)은 비열등+개선 방향의 참고 옵션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5544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04872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23744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비성립 · 직접학습 이식판은 소표본 한계 실측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2724912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75304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94176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94176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 아님 — 정보 빈곤 구간·반등기의 조건부 보완재 + 불확실성 재료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895344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45736"/>
            <a:ext cx="11183112" cy="1024128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86460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864608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가치를 더하는가" 프레임 · 기여 5건 실측 완료 · 다국가 복제 설계 포함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5065776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 중이며, 논문 착수 결정 시 재현 패키지 형태로 정리해 공유 가능합니다.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309360"/>
            <a:ext cx="11183112" cy="365760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364224"/>
            <a:ext cx="10881360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공통 검증 규약: 실시간 빈티지 · 속보치 기준 · 전망주차 w[-19,-1] 평균 RMSE · 2018Q1~2025Q4 (32개 분기) · 예측단위 개정(schema v2) 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