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협업 기간(2026.6~8) 전체 검증 결과를 예측단위 개정(schema v2) 이후 기준으로 통합 정리한 자료. 모든 수치는 동일 채점 규약으로 재계산된 것이며, 개정 전 수치와의 혼용은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리더보드는 schema v2(원 단위 예측) 기준으로 전면 재계산. 주차별 결합의 -1.3%는 DM 검정 유의성 미달(p=0.41)이며, 후보 구성 중 최선을 선택한 값이므로 '비열등+개선 방향' 수위로 보고. 통계적 우월 주장이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1의 '학습형 전패'는 우연이 아니라 구조적 결과 — 유효 표본 32개에서 추정하는 모든 추가 파라미터가 과적합 비용을 지불함. 2는 당사와 한은이 독립적으로 같은 결론에 도달했다는 점이 중요. 3이 본 리포트의 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구간 경계(-14주)는 이전 fan chart 검증에서 선정의된 것을 재사용(사후 선택 아님). 다만 조기 구간에 어떤 모델 조합을 쓸지는 후보 비교로 정했으므로 선택편의 가능성을 함께 명시하는 것이 정직한 보고.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좌측: LLM ICL은 성능 이전에 평가 타당성(오염) 문제로 실시간 나우캐스팅 채점이 성립하지 않음 — 이것이 리더보드 제외 사유. 우측: 이식판 실측은 아키텍처 계열의 소표본 한계에 대한 증거이며, 특정 연구에 대한 평가가 아님을 명시적으로 구분.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메시지: '트랜스포머가 안 된다'가 아니라 '튜닝된 GBDT가 지배하는 조건과, 사전학습 지식이 기여하는 조건이 다르다'. 좌측 4개는 실측 근거가 각각 존재. 우측 조건부 기여가 공동 논문의 핵심 주장으로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제목·프레임의 핵심은 '이긴다'가 아니라 '언제 기여하는가'. 이 구도에서는 유의성 미달이 약점이 아니라 5번 기여(평가 방법론)의 일부가 됨. 다국가 복제는 리뷰어 1순위 예상 공격(단일국 32분기)에 대한 선제 설계.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회의 의사결정 요청 사항: ① 공동 논문 구도(제목 프레임·역할 분담·발표 경로) 협의 착수 여부 ② 주차별 결합 병행 산출 여부(선택). 나머지는 보고 사항.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B6B6B"/>
                </a:solidFill>
                <a:latin typeface="Apple SD Gothic Neo"/>
                <a:ea typeface="Apple SD Gothic Neo"/>
              </a:rPr>
              <a:t>네이버클라우드 AX Forward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42316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243447"/>
                </a:solidFill>
                <a:latin typeface="Apple SD Gothic Neo"/>
                <a:ea typeface="Apple SD Gothic Neo"/>
              </a:rPr>
              <a:t>GDP Nowcasting 협업 종합 리포트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Apple SD Gothic Neo"/>
                <a:ea typeface="Apple SD Gothic Neo"/>
              </a:rPr>
              <a:t>검증 총괄과 방법론 시사점, 그리고 공동 연구 제안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3977639"/>
            <a:ext cx="3840480" cy="0"/>
          </a:xfrm>
          <a:prstGeom prst="line">
            <a:avLst/>
          </a:prstGeom>
          <a:ln w="2032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3232" y="4160520"/>
            <a:ext cx="1005840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Apple SD Gothic Neo"/>
                <a:ea typeface="Apple SD Gothic Neo"/>
              </a:rPr>
              <a:t>두 달간 40여 개 모형 구성을 동일 규약으로 검증한 결과를 정리하고,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Apple SD Gothic Neo"/>
                <a:ea typeface="Apple SD Gothic Neo"/>
              </a:rPr>
              <a:t>“사전학습 시계열 모델은 언제 가치를 더하는가”라는 공동 연구 방향을 제안드립니다.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Apple SD Gothic Neo"/>
                <a:ea typeface="Apple SD Gothic Neo"/>
              </a:rPr>
              <a:t>2026. 8.  |  한국은행 디지털혁신실 협업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1  |  검증 총괄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개정 이후 기준선은 XGBoost 단독 — 이를 넘는 구성은 주차별 결합 하나였습니다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okf_l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858000" cy="34162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26679" y="1600200"/>
            <a:ext cx="41148" cy="1207008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600200"/>
            <a:ext cx="379476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43447"/>
                </a:solidFill>
                <a:latin typeface="Apple SD Gothic Neo"/>
                <a:ea typeface="Apple SD Gothic Neo"/>
              </a:rPr>
              <a:t>개정 전 수치는 표에서 제외했습니다</a:t>
            </a:r>
          </a:p>
          <a:p>
            <a:pPr algn="l">
              <a:spcAft>
                <a:spcPts val="200"/>
              </a:spcAft>
            </a:pPr>
            <a:r>
              <a:rPr sz="969" b="0">
                <a:solidFill>
                  <a:srgbClr val="262626"/>
                </a:solidFill>
                <a:latin typeface="Apple SD Gothic Neo"/>
                <a:ea typeface="Apple SD Gothic Neo"/>
              </a:rPr>
              <a:t>종전 최고로 보고되던 DFM+XGBoost 0.765는 예측</a:t>
            </a:r>
          </a:p>
          <a:p>
            <a:pPr algn="l">
              <a:spcAft>
                <a:spcPts val="200"/>
              </a:spcAft>
            </a:pPr>
            <a:r>
              <a:rPr sz="969" b="0">
                <a:solidFill>
                  <a:srgbClr val="262626"/>
                </a:solidFill>
                <a:latin typeface="Apple SD Gothic Neo"/>
                <a:ea typeface="Apple SD Gothic Neo"/>
              </a:rPr>
              <a:t>단위 정합성 문제로 비교 불가 — 개정 후 같은 구성은</a:t>
            </a:r>
          </a:p>
          <a:p>
            <a:pPr algn="l">
              <a:spcAft>
                <a:spcPts val="200"/>
              </a:spcAft>
            </a:pPr>
            <a:r>
              <a:rPr sz="969" b="0">
                <a:solidFill>
                  <a:srgbClr val="262626"/>
                </a:solidFill>
                <a:latin typeface="Apple SD Gothic Neo"/>
                <a:ea typeface="Apple SD Gothic Neo"/>
              </a:rPr>
              <a:t>0.787로, XGBoost 단독(0.750)보다 오히려 열세입니다.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3063240"/>
            <a:ext cx="41148" cy="1207008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1" y="3063240"/>
            <a:ext cx="379476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A3E"/>
                </a:solidFill>
                <a:latin typeface="Apple SD Gothic Neo"/>
                <a:ea typeface="Apple SD Gothic Neo"/>
              </a:rPr>
              <a:t>유일하게 앞선 구성 (0.740, -1.3%)</a:t>
            </a:r>
          </a:p>
          <a:p>
            <a:pPr algn="l">
              <a:spcAft>
                <a:spcPts val="200"/>
              </a:spcAft>
            </a:pPr>
            <a:r>
              <a:rPr sz="969" b="0">
                <a:solidFill>
                  <a:srgbClr val="262626"/>
                </a:solidFill>
                <a:latin typeface="Apple SD Gothic Neo"/>
                <a:ea typeface="Apple SD Gothic Neo"/>
              </a:rPr>
              <a:t>발표 19~14주 전에는 GBM·Chronos-2 예측의 평균,</a:t>
            </a:r>
          </a:p>
          <a:p>
            <a:pPr algn="l">
              <a:spcAft>
                <a:spcPts val="200"/>
              </a:spcAft>
            </a:pPr>
            <a:r>
              <a:rPr sz="969" b="0">
                <a:solidFill>
                  <a:srgbClr val="262626"/>
                </a:solidFill>
                <a:latin typeface="Apple SD Gothic Neo"/>
                <a:ea typeface="Apple SD Gothic Neo"/>
              </a:rPr>
              <a:t>13주 전부터는 XGBoost 단독 — 주차별 교대입니다.</a:t>
            </a:r>
          </a:p>
          <a:p>
            <a:pPr algn="l">
              <a:spcAft>
                <a:spcPts val="200"/>
              </a:spcAft>
            </a:pPr>
            <a:r>
              <a:rPr sz="969" b="0">
                <a:solidFill>
                  <a:srgbClr val="262626"/>
                </a:solidFill>
                <a:latin typeface="Apple SD Gothic Neo"/>
                <a:ea typeface="Apple SD Gothic Neo"/>
              </a:rPr>
              <a:t>다만 이 개선폭은 통계적 유의성에 미달합니다(3장).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4526280"/>
            <a:ext cx="41148" cy="100584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4526280"/>
            <a:ext cx="379476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43447"/>
                </a:solidFill>
                <a:latin typeface="Apple SD Gothic Neo"/>
                <a:ea typeface="Apple SD Gothic Neo"/>
              </a:rPr>
              <a:t>딥러닝 단독 최고는 0.808</a:t>
            </a:r>
          </a:p>
          <a:p>
            <a:pPr algn="l">
              <a:spcAft>
                <a:spcPts val="200"/>
              </a:spcAft>
            </a:pPr>
            <a:r>
              <a:rPr sz="969" b="0">
                <a:solidFill>
                  <a:srgbClr val="262626"/>
                </a:solidFill>
                <a:latin typeface="Apple SD Gothic Neo"/>
                <a:ea typeface="Apple SD Gothic Neo"/>
              </a:rPr>
              <a:t>Chronos-2 + 일별신호. 기준선에는 미달하지만</a:t>
            </a:r>
          </a:p>
          <a:p>
            <a:pPr algn="l">
              <a:spcAft>
                <a:spcPts val="200"/>
              </a:spcAft>
            </a:pPr>
            <a:r>
              <a:rPr sz="969" b="0">
                <a:solidFill>
                  <a:srgbClr val="262626"/>
                </a:solidFill>
                <a:latin typeface="Apple SD Gothic Neo"/>
                <a:ea typeface="Apple SD Gothic Neo"/>
              </a:rPr>
              <a:t>특정 조건에서 일관된 우위가 있습니다(3장).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98755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실시간 빈티지 · 속보치 기준 · 전망주차 w[-19,-1] 평균 RMSE · 2018Q1~2025Q4(32개 분기) · 예측단위 개정(schema v2) 반영. 낮을수록 정확. 직접학습 신경망·학습형 결합 등 30여 개 구성은 전부 기준선 미달로 생략.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2  |  시사점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32개 분기 표본이 가르쳐준 것은 세 가지입니다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600200"/>
            <a:ext cx="41148" cy="123444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43447"/>
                </a:solidFill>
                <a:latin typeface="Apple SD Gothic Neo"/>
                <a:ea typeface="Apple SD Gothic Neo"/>
              </a:rPr>
              <a:t>1.  </a:t>
            </a:r>
            <a:r>
              <a:rPr sz="1300" b="1">
                <a:solidFill>
                  <a:srgbClr val="243447"/>
                </a:solidFill>
                <a:latin typeface="Apple SD Gothic Neo"/>
                <a:ea typeface="Apple SD Gothic Neo"/>
              </a:rPr>
              <a:t>소표본에서는 단순한 고정 구조만 살아남았습니다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84248"/>
            <a:ext cx="1033272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결합 가중치 학습, 성과 기반 적응 가중, 잔차 보정 학습, 합성데이터 미세조정 — “데이터로부터 배우는”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개선책 네 계열을 모두 동일 규약으로 검증한 결과 전부 기준선 미달이었습니다. 살아남은 것은 사람이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고정한 단순 규칙(균등 평균, 주차별 교대)뿐입니다.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72968"/>
            <a:ext cx="41148" cy="123444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43447"/>
                </a:solidFill>
                <a:latin typeface="Apple SD Gothic Neo"/>
                <a:ea typeface="Apple SD Gothic Neo"/>
              </a:rPr>
              <a:t>2.  </a:t>
            </a:r>
            <a:r>
              <a:rPr sz="1300" b="1">
                <a:solidFill>
                  <a:srgbClr val="243447"/>
                </a:solidFill>
                <a:latin typeface="Apple SD Gothic Neo"/>
                <a:ea typeface="Apple SD Gothic Neo"/>
              </a:rPr>
              <a:t>이 표본에서는 어떤 우월성도 통계적으로 입증되지 않습니다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57015"/>
            <a:ext cx="1033272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당사 검정력 분석으로는 32개 분기에서 6% 개선도 DM p=0.088에 그칩니다. 귀 기관의 MCS 검정에서도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비교 대상 12개 모형 전원이 5% Model Confidence Set에 잔류했습니다 — 양측 분석이 같은 결론입니다.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점 예측 정확도의 “순위 경쟁”은 이 표본에서 판정이 불가능한 게임입니다.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45736"/>
            <a:ext cx="41148" cy="123444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45736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8A3E"/>
                </a:solidFill>
                <a:latin typeface="Apple SD Gothic Neo"/>
                <a:ea typeface="Apple SD Gothic Neo"/>
              </a:rPr>
              <a:t>3.  </a:t>
            </a:r>
            <a:r>
              <a:rPr sz="1300" b="1">
                <a:solidFill>
                  <a:srgbClr val="008A3E"/>
                </a:solidFill>
                <a:latin typeface="Apple SD Gothic Neo"/>
                <a:ea typeface="Apple SD Gothic Neo"/>
              </a:rPr>
              <a:t>질문을 “누가 이기나”에서 “언제 기여하나”로 바꾸면 답이 있습니다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29783"/>
            <a:ext cx="1033272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모형 간 우열 대신 조건별 기여를 보면 — 해당 분기 지표가 발표되기 전인 조기 전망주차와 경기 반등기에서 사전학습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모델의 기여가 일관되게 관찰됩니다. 이 조건부 발견이 공동 연구 제안(6장)의 핵심 재료입니다.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98755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실시간 빈티지 · 속보치 기준 · 전망주차 w[-19,-1] 평균 RMSE · 2018Q1~2025Q4(32개 분기) · 예측단위 개정(schema v2) 반영. 낮을수록 정확.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3  |  전망시계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해당 분기 지표가 나오기 전(조기 구간)에는 XGBoost의 우위가 사라집니다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okf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943600" cy="40236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554480"/>
            <a:ext cx="4937760" cy="1965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조기 구간(발표 19~14주 전)은 해당 분기의 공식지표가 거의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없는 시기입니다. 이때는 튜닝된 XGBoost의 우위가 사라지고,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세계 지식과 일별 신호(주가·환율·심리 원지수)를 쓰는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사전학습 모델이 근소하게 앞섭니다.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경기 반등 분기 6개 평균에서도 같은 패턴입니다 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Chronos-2f 0.581 &lt; XGBoost 0.717. 공식 지표의 발표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시차를 일별 금융·심리 신호가 메우는 구간입니다.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3703320"/>
            <a:ext cx="4937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8A3E"/>
                </a:solidFill>
                <a:latin typeface="Apple SD Gothic Neo"/>
                <a:ea typeface="Apple SD Gothic Neo"/>
              </a:rPr>
              <a:t>리더보드 1위 구성 — 실제 결합 방식 (0.740)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20840" y="4041648"/>
            <a:ext cx="4937760" cy="0"/>
          </a:xfrm>
          <a:prstGeom prst="line">
            <a:avLst/>
          </a:prstGeom>
          <a:ln w="12700">
            <a:solidFill>
              <a:srgbClr val="00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766559" y="4224528"/>
            <a:ext cx="1515978" cy="365760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19114" y="4224528"/>
            <a:ext cx="3248045" cy="36576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4279392"/>
            <a:ext cx="160741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6주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9114" y="4279392"/>
            <a:ext cx="3248045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13주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399" y="4645152"/>
            <a:ext cx="1973178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B0532F"/>
                </a:solidFill>
                <a:latin typeface="Apple SD Gothic Neo"/>
                <a:ea typeface="Apple SD Gothic Neo"/>
              </a:rPr>
              <a:t>발표 19~14주 전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Apple SD Gothic Neo"/>
                <a:ea typeface="Apple SD Gothic Neo"/>
              </a:rPr>
              <a:t>(GBM+Chronos-2f)÷2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9114" y="4645152"/>
            <a:ext cx="3248045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1C5CAB"/>
                </a:solidFill>
                <a:latin typeface="Apple SD Gothic Neo"/>
                <a:ea typeface="Apple SD Gothic Neo"/>
              </a:rPr>
              <a:t>발표 13~1주 전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Apple SD Gothic Neo"/>
                <a:ea typeface="Apple SD Gothic Neo"/>
              </a:rPr>
              <a:t>XGBoost 단독 (현행 그대로)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5349240"/>
            <a:ext cx="493776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B6B6B"/>
                </a:solidFill>
                <a:latin typeface="Apple SD Gothic Neo"/>
                <a:ea typeface="Apple SD Gothic Neo"/>
              </a:rPr>
              <a:t>국면 판단은 없습니다 — 주차에 따른 고정 교대 규칙이며, 19주 중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B6B"/>
                </a:solidFill>
                <a:latin typeface="Apple SD Gothic Neo"/>
                <a:ea typeface="Apple SD Gothic Neo"/>
              </a:rPr>
              <a:t>13주는 현행 그대로입니다. 보고 수위는 “비열등 + 개선 방향”입니다.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98755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실시간 빈티지 · 속보치 기준 · 전망주차 w[-19,-1] 평균 RMSE · 2018Q1~2025Q4(32개 분기) · 예측단위 개정(schema v2) 반영. 낮을수록 정확. 반등 분기 6개: 2018Q1·2019Q2·2020Q3·2023Q1·2024Q3·2025Q2.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4  |  문맥학습(ICL) 계열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성능 이전에, “공정한 채점” 자체가 성립하지 않습니다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B6B6B"/>
                </a:solidFill>
                <a:latin typeface="Apple SD Gothic Neo"/>
                <a:ea typeface="Apple SD Gothic Neo"/>
              </a:rPr>
              <a:t>문맥학습(ICL) = 모델 파라미터를 학습하지 않고 과거 데이터를 문맥(프롬프트)으로 제시해 예측을 얻는 방식 — LLM 활용 계열 포함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2578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LLM 기반 ICL의 구조적 한계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121408"/>
            <a:ext cx="525780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267712"/>
            <a:ext cx="5257800" cy="3840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B0532F"/>
                </a:solidFill>
                <a:latin typeface="Apple SD Gothic Neo"/>
                <a:ea typeface="Apple SD Gothic Neo"/>
              </a:rPr>
              <a:t>학습데이터 오염 — 가장 결정적입니다.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과거 GDP 실적과 경제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뉴스가 LLM 사전학습에 이미 들어 있어, “그 시점에 몰랐던 값”을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모델이 알고 있을 가능성을 배제할 수 없습니다. 실시간 재현 채점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자체가 성립하지 않아 리더보드에서 제외했습니다.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6B6B6B"/>
                </a:solidFill>
                <a:latin typeface="Apple SD Gothic Neo"/>
                <a:ea typeface="Apple SD Gothic Neo"/>
              </a:rPr>
              <a:t>당사 예비실험 결과도 ‘오염 상한’으로만 해석합니다.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B0532F"/>
                </a:solidFill>
                <a:latin typeface="Apple SD Gothic Neo"/>
                <a:ea typeface="Apple SD Gothic Neo"/>
              </a:rPr>
              <a:t>재현성과 감사가능성.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동일 입력에도 출력이 변동하고 모델 버전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변경 시 결과가 복원되지 않습니다 — 중앙은행 운영 요건(재현·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감사·설명책임)과 정면으로 충돌합니다.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B0532F"/>
                </a:solidFill>
                <a:latin typeface="Apple SD Gothic Neo"/>
                <a:ea typeface="Apple SD Gothic Neo"/>
              </a:rPr>
              <a:t>수치 정밀도.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토큰 단위 수치 처리 특성상 소수점 회귀에 부적합.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2578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직접학습 신경망 이식판의 실측 (참고)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2121408"/>
            <a:ext cx="525780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2267712"/>
            <a:ext cx="5257800" cy="2926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사내 어텐션 LSTM 계열(BISTRO 유사 구조)을 당사가 GDP 과제용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으로 재구현해 동일 규약으로 채점했습니다.</a:t>
            </a:r>
          </a:p>
          <a:p>
            <a:pPr algn="l">
              <a:spcAft>
                <a:spcPts val="25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단독 1.268 — 기준선(0.750)의 약 1.7배 오차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경기 반등 분기 2.401 — 학습분포 밖 급변기 일반화 실패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XGBoost와 오차 상관 0.847 — 같은 패널을 소비해 결합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다양성이 없고, 모든 결합 배합에서 단조 열화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원인: 월 140행 표본으로 다수 파라미터를 직접 학습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5120640"/>
            <a:ext cx="5257800" cy="8686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5120640"/>
            <a:ext cx="41148" cy="86868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5212080"/>
            <a:ext cx="48920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50"/>
              </a:spcAft>
            </a:pPr>
            <a:r>
              <a:rPr sz="930" b="0">
                <a:solidFill>
                  <a:srgbClr val="6B6B6B"/>
                </a:solidFill>
                <a:latin typeface="Apple SD Gothic Neo"/>
                <a:ea typeface="Apple SD Gothic Neo"/>
              </a:rPr>
              <a:t>유의: 본 결과는 당사 재구현 이식판에 대한 동일 규약 판정이며, 원 연구나</a:t>
            </a:r>
          </a:p>
          <a:p>
            <a:pPr algn="l">
              <a:spcAft>
                <a:spcPts val="150"/>
              </a:spcAft>
            </a:pPr>
            <a:r>
              <a:rPr sz="930" b="0">
                <a:solidFill>
                  <a:srgbClr val="6B6B6B"/>
                </a:solidFill>
                <a:latin typeface="Apple SD Gothic Neo"/>
                <a:ea typeface="Apple SD Gothic Neo"/>
              </a:rPr>
              <a:t>타 과제(물가 등) 성능에 대한 판정이 아닙니다. 원본도 동일 규약으로 채점</a:t>
            </a:r>
          </a:p>
          <a:p>
            <a:pPr algn="l">
              <a:spcAft>
                <a:spcPts val="150"/>
              </a:spcAft>
            </a:pPr>
            <a:r>
              <a:rPr sz="930" b="0">
                <a:solidFill>
                  <a:srgbClr val="6B6B6B"/>
                </a:solidFill>
                <a:latin typeface="Apple SD Gothic Neo"/>
                <a:ea typeface="Apple SD Gothic Neo"/>
              </a:rPr>
              <a:t>하면 공정 비교가 가능합니다.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98755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실시간 빈티지 · 속보치 기준 · 전망주차 w[-19,-1] 평균 RMSE · 2018Q1~2025Q4(32개 분기) · 예측단위 개정(schema v2) 반영. 낮을수록 정확.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5  |  트랜스포머류(파운데이션 모델)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점 예측의 대체재는 아니지만, 조건부 보완재로는 유효합니다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63040"/>
            <a:ext cx="6583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점 예측에 기여하기 어려운 네 가지 이유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801368"/>
            <a:ext cx="658368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38528"/>
            <a:ext cx="6583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532F"/>
                </a:solidFill>
                <a:latin typeface="Apple SD Gothic Neo"/>
                <a:ea typeface="Apple SD Gothic Neo"/>
              </a:rPr>
              <a:t>1  </a:t>
            </a:r>
            <a:r>
              <a:rPr sz="1100" b="1">
                <a:solidFill>
                  <a:srgbClr val="262626"/>
                </a:solidFill>
                <a:latin typeface="Apple SD Gothic Neo"/>
                <a:ea typeface="Apple SD Gothic Neo"/>
              </a:rPr>
              <a:t>소표본 정형 데이터는 GBDT의 영역입니다.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49424"/>
            <a:ext cx="63093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>
                <a:solidFill>
                  <a:srgbClr val="262626"/>
                </a:solidFill>
                <a:latin typeface="Apple SD Gothic Neo"/>
                <a:ea typeface="Apple SD Gothic Neo"/>
              </a:rPr>
              <a:t>월 140행·지표 34종 조건에서 튜닝된 트리 모델의 우위는 문헌 일반 결과(Grinsztajn et al., NeurIPS 2022)와 당사 실측(직접학습 신경망 전멸)이 일치합니다.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6583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532F"/>
                </a:solidFill>
                <a:latin typeface="Apple SD Gothic Neo"/>
                <a:ea typeface="Apple SD Gothic Neo"/>
              </a:rPr>
              <a:t>2  </a:t>
            </a:r>
            <a:r>
              <a:rPr sz="1100" b="1">
                <a:solidFill>
                  <a:srgbClr val="262626"/>
                </a:solidFill>
                <a:latin typeface="Apple SD Gothic Neo"/>
                <a:ea typeface="Apple SD Gothic Neo"/>
              </a:rPr>
              <a:t>사전학습 지식은 한국 거시 구조가 아닙니다.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282696"/>
            <a:ext cx="63093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>
                <a:solidFill>
                  <a:srgbClr val="262626"/>
                </a:solidFill>
                <a:latin typeface="Apple SD Gothic Neo"/>
                <a:ea typeface="Apple SD Gothic Neo"/>
              </a:rPr>
              <a:t>파운데이션 모델이 배운 것은 추세·계절성 같은 시계열의 보편 문법입니다. 지표 간 인과나 한국 특수성은 없고, 공변량 소화력도 XGBoost(34종 비선형)에 미달합니다.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05072"/>
            <a:ext cx="6583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532F"/>
                </a:solidFill>
                <a:latin typeface="Apple SD Gothic Neo"/>
                <a:ea typeface="Apple SD Gothic Neo"/>
              </a:rPr>
              <a:t>3  </a:t>
            </a:r>
            <a:r>
              <a:rPr sz="1100" b="1">
                <a:solidFill>
                  <a:srgbClr val="262626"/>
                </a:solidFill>
                <a:latin typeface="Apple SD Gothic Neo"/>
                <a:ea typeface="Apple SD Gothic Neo"/>
              </a:rPr>
              <a:t>병목은 모델이 아니라 정보입니다.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63093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>
                <a:solidFill>
                  <a:srgbClr val="262626"/>
                </a:solidFill>
                <a:latin typeface="Apple SD Gothic Neo"/>
                <a:ea typeface="Apple SD Gothic Neo"/>
              </a:rPr>
              <a:t>합성데이터로 추가 미세조정해도 예측이 거의 변하지 않았습니다(상관 0.990) — 입력 패널이 가진 정보 자체가 상한입니다.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38344"/>
            <a:ext cx="6583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532F"/>
                </a:solidFill>
                <a:latin typeface="Apple SD Gothic Neo"/>
                <a:ea typeface="Apple SD Gothic Neo"/>
              </a:rPr>
              <a:t>4  </a:t>
            </a:r>
            <a:r>
              <a:rPr sz="1100" b="1">
                <a:solidFill>
                  <a:srgbClr val="262626"/>
                </a:solidFill>
                <a:latin typeface="Apple SD Gothic Neo"/>
                <a:ea typeface="Apple SD Gothic Neo"/>
              </a:rPr>
              <a:t>분포 출력은 그대로 쓸 수 없습니다.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349240"/>
            <a:ext cx="63093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>
                <a:solidFill>
                  <a:srgbClr val="262626"/>
                </a:solidFill>
                <a:latin typeface="Apple SD Gothic Neo"/>
                <a:ea typeface="Apple SD Gothic Neo"/>
              </a:rPr>
              <a:t>원시 분위수의 실측 커버리지는 49%(명목 80%) — 과소산포로, 사후 보정이 필수입니다.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1463040"/>
            <a:ext cx="4114800" cy="4526280"/>
          </a:xfrm>
          <a:prstGeom prst="rect">
            <a:avLst/>
          </a:prstGeom>
          <a:solidFill>
            <a:srgbClr val="EE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1463040"/>
            <a:ext cx="41148" cy="452628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627632"/>
            <a:ext cx="3703320" cy="4206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08A3E"/>
                </a:solidFill>
                <a:latin typeface="Apple SD Gothic Neo"/>
                <a:ea typeface="Apple SD Gothic Neo"/>
              </a:rPr>
              <a:t>그럼에도 기여가 확인된 지점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지표 공백 구간.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발표 19~14주 전 — 해당 분기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공식지표가 나오기 전의 공백을 세계 지식과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일별 신호로 보완합니다(3장).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경기 반등기.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반등 6개 분기 평균 0.581로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전 구성 중 최강 — 주가·환율·심리 원지수가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공식 지표의 발표 시차를 메웁니다.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불확실성 정량화 재료.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보정(conformal)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결합 시 예측구간 품질 개선을 확인 — 연구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재료로 유효합니다.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8A3E"/>
                </a:solidFill>
                <a:latin typeface="Apple SD Gothic Neo"/>
                <a:ea typeface="Apple SD Gothic Neo"/>
              </a:rPr>
              <a:t>요약: 대체재가 아니라 조건부 보완재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98755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실시간 빈티지 · 속보치 기준 · 전망주차 w[-19,-1] 평균 RMSE · 2018Q1~2025Q4(32개 분기) · 예측단위 개정(schema v2) 반영. 낮을수록 정확.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6  |  공동 논문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“사전학습 시계열 모델은 언제 가치를 더하는가”를 묻는 논문을 제안드립니다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Apple SD Gothic Neo"/>
                <a:ea typeface="Apple SD Gothic Neo"/>
              </a:rPr>
              <a:t>가제: </a:t>
            </a:r>
            <a:r>
              <a:rPr sz="1150" b="1">
                <a:solidFill>
                  <a:srgbClr val="243447"/>
                </a:solidFill>
                <a:latin typeface="Apple SD Gothic Neo"/>
                <a:ea typeface="Apple SD Gothic Neo"/>
              </a:rPr>
              <a:t>When do time-series foundation models add value? A real-time evaluation of GDP nowcasting</a:t>
            </a:r>
            <a:r>
              <a:rPr sz="1050" b="0">
                <a:solidFill>
                  <a:srgbClr val="6B6B6B"/>
                </a:solidFill>
                <a:latin typeface="Apple SD Gothic Neo"/>
                <a:ea typeface="Apple SD Gothic Neo"/>
              </a:rPr>
              <a:t>   — 우월성 주장이 아닌 조건부 가치 규명 프레임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9436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43447"/>
                </a:solidFill>
                <a:latin typeface="Apple SD Gothic Neo"/>
                <a:ea typeface="Apple SD Gothic Neo"/>
              </a:rPr>
              <a:t>기여 다섯 가지 — 실측은 모두 완료되어 있습니다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167128"/>
            <a:ext cx="594360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304288"/>
            <a:ext cx="5943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8A3E"/>
                </a:solidFill>
                <a:latin typeface="Apple SD Gothic Neo"/>
                <a:ea typeface="Apple SD Gothic Neo"/>
              </a:rPr>
              <a:t>1. </a:t>
            </a: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2세대 TSFM의 실시간 빈티지 평가 최초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9464"/>
            <a:ext cx="5715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주 단위 19회 예측 그리드 — 기존 문헌은 대부분 사후 확정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7792"/>
            <a:ext cx="5943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8A3E"/>
                </a:solidFill>
                <a:latin typeface="Apple SD Gothic Neo"/>
                <a:ea typeface="Apple SD Gothic Neo"/>
              </a:rPr>
              <a:t>2. </a:t>
            </a: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전망시계 조건부 보완성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72968"/>
            <a:ext cx="5715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정보 빈곤 구간·반등기에서만 기여 — 메커니즘 있는 조건부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11296"/>
            <a:ext cx="5943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8A3E"/>
                </a:solidFill>
                <a:latin typeface="Apple SD Gothic Neo"/>
                <a:ea typeface="Apple SD Gothic Neo"/>
              </a:rPr>
              <a:t>3. </a:t>
            </a: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무개정 일별 신호의 식별 깨끗한 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76472"/>
            <a:ext cx="5715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가격 데이터는 개정이 없어 look-ahead 논란 원천 차단 (0.836→0.808)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8A3E"/>
                </a:solidFill>
                <a:latin typeface="Apple SD Gothic Neo"/>
                <a:ea typeface="Apple SD Gothic Neo"/>
              </a:rPr>
              <a:t>4. </a:t>
            </a: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TSFM 분위수 과소산포 실측과 처방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79976"/>
            <a:ext cx="5715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커버리지 49% → 컨포멀 보정으로 복원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18304"/>
            <a:ext cx="5943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8A3E"/>
                </a:solidFill>
                <a:latin typeface="Apple SD Gothic Neo"/>
                <a:ea typeface="Apple SD Gothic Neo"/>
              </a:rPr>
              <a:t>5. </a:t>
            </a: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소표본 결합 퍼즐 + 검정력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5715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학습형 전패·고정 구조 생존, MCS 전원 잔류 — ‘평가 축 재설계’ 논의로 승격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13248"/>
            <a:ext cx="594360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43447"/>
                </a:solidFill>
                <a:latin typeface="Apple SD Gothic Neo"/>
                <a:ea typeface="Apple SD Gothic Neo"/>
              </a:rPr>
              <a:t>역할 분담(안)  </a:t>
            </a: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한은: 실시간 빈티지·도메인 검증·정책 함의  /  당사: 모델·평가 인프라·재현 패키지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243447"/>
                </a:solidFill>
                <a:latin typeface="Apple SD Gothic Neo"/>
                <a:ea typeface="Apple SD Gothic Neo"/>
              </a:rPr>
              <a:t>발표 경로(안)  </a:t>
            </a: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한은 Working Paper 선행 공개 → International Journal of Forecasting 투고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828800"/>
            <a:ext cx="47548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43447"/>
                </a:solidFill>
                <a:latin typeface="Apple SD Gothic Neo"/>
                <a:ea typeface="Apple SD Gothic Neo"/>
              </a:rPr>
              <a:t>표본 한계는 Future Work가 아니라 설계로 풉니다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03720" y="2167128"/>
            <a:ext cx="475488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03720" y="2304288"/>
            <a:ext cx="4754880" cy="3657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다국가 복제.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미국 ALFRED(세인트루이스 연준 실시간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DB, 공개)·유로존 ECB 실시간 DB로 동일 프레임을 재현해,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‘단일국 32분기’라는 예상 반론에 선제 대응합니다.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사전등록 라이브 추적.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주차별 결합 구성을 고정·공개한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뒤 향후 분기를 실전 축적 — 선택편의 없는 표본외 증거를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만듭니다.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유의성 논의는 본문에서 정면 처리.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검정력 분석과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MCS를 ‘평가 방법론 기여’로 배치합니다 — 약점 고백이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아니라 논문 주장의 일부입니다.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98755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데이터 공개 방식(코드 공개 + 빈티지 접근 절차)은 초기 합의 필요. 기준선 개정 경위의 서술 수위는 공동저자 협의 사항.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7  | 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네 가지로 정리드리고, 논문 구도 협의를 요청드립니다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1490472"/>
            <a:ext cx="11091672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1600200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점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600200"/>
            <a:ext cx="6949440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XGBoost 단독(개정 후)이 기준선 — 인정합니다. 주차별 결합(조기 6주 = GBM·Chronos-2 평균 → 이후 XGBoost, 0.740)은 비열등+개선 방향의 참고 옵션입니다.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709928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08A3E"/>
                </a:solidFill>
                <a:latin typeface="Apple SD Gothic Neo"/>
                <a:ea typeface="Apple SD Gothic Neo"/>
              </a:rPr>
              <a:t>필요 시 병행 산출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14600"/>
            <a:ext cx="11091672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2624328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문맥학습(ICL)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624328"/>
            <a:ext cx="6949440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LLM 계열은 오염 문제로 실시간 채점 자체가 성립하지 않고, 직접학습 이식판은 소표본 한계를 실측했습니다.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734056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08A3E"/>
                </a:solidFill>
                <a:latin typeface="Apple SD Gothic Neo"/>
                <a:ea typeface="Apple SD Gothic Neo"/>
              </a:rPr>
              <a:t>채택 비권고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538728"/>
            <a:ext cx="11091672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3648456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트랜스포머류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648456"/>
            <a:ext cx="6949440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점 예측 대체재가 아니라 지표 공백 구간(조기 주차)·반등기의 조건부 보완재이며, 불확실성 정량화의 재료입니다.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758184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08A3E"/>
                </a:solidFill>
                <a:latin typeface="Apple SD Gothic Neo"/>
                <a:ea typeface="Apple SD Gothic Neo"/>
              </a:rPr>
              <a:t>논문 핵심 재료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562856"/>
            <a:ext cx="11091672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4672584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공동 논문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672584"/>
            <a:ext cx="6949440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“언제 가치를 더하는가” 프레임으로 기여 5건의 실측이 완료되어 있고, 다국가 복제 설계를 포함합니다.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4782312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08A3E"/>
                </a:solidFill>
                <a:latin typeface="Apple SD Gothic Neo"/>
                <a:ea typeface="Apple SD Gothic Neo"/>
              </a:rPr>
              <a:t>구도 협의 요청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586984"/>
            <a:ext cx="11091672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5925312"/>
            <a:ext cx="11064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Apple SD Gothic Neo"/>
                <a:ea typeface="Apple SD Gothic Neo"/>
              </a:rPr>
              <a:t>모든 실험은 재현 가능한 스크립트로 관리하고 있으며, 논문 착수 결정 시 재현 패키지 형태로 정리해 공유하겠습니다.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98755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실시간 빈티지 · 속보치 기준 · 전망주차 w[-19,-1] 평균 RMSE · 2018Q1~2025Q4(32개 분기) · 예측단위 개정(schema v2) 반영. 낮을수록 정확.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