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협업 기간(2026.6~8) 전체 검증 결과를 예측단위 개정(schema v2) 이후 기준으로 통합 정리한 자료. 모든 수치는 동일 채점 규약으로 재계산된 것이며, 개정 전 수치와의 혼용은 없음.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리더보드는 schema v2(원 단위 예측) 기준으로 전면 재계산. 전망시계 하이브리드의 -1.3%는 DM 검정 유의성 미달(p=0.41)이며, 7개 후보 구성 중 최선을 선택한 값이므로 '비열등+개선 방향' 수위로 보고. 통계적 우월 주장이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①의 '학습형 전패'는 우연이 아니라 구조적 결과 — 유효 표본 32개에서 추정하는 모든 추가 파라미터가 과적합 비용을 지불함. ②는 당사와 한은이 독립적으로 같은 결론에 도달했다는 점이 중요. ③이 본 리포트의 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구간 경계(-14주)는 이전 fan chart 검증에서 선정의된 것을 재사용(사후 선택 아님). 다만 조기 구간에 어떤 모델 조합을 쓸지는 후보 비교로 정했으므로 선택편의 가능성을 함께 명시하는 것이 정직한 보고.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좌측: LLM ICL은 성능 이전에 평가 타당성(오염) 문제로 실시간 나우캐스팅 채점이 성립하지 않음 — 이것이 리더보드 제외 사유. 우측: 이식판 실측은 아키텍처 계열의 소표본 한계에 대한 증거이며, 특정 연구에 대한 평가가 아님을 명시적으로 구분.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메시지: '트랜스포머가 안 된다'가 아니라 '튜닝된 GBDT가 지배하는 조건과, 사전학습 지식이 기여하는 조건이 다르다'. 좌측 4개는 실측 근거가 각각 존재. 우측 조건부 기여가 공동 논문의 핵심 주장으로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제목·프레임의 핵심은 '이긴다'가 아니라 '언제 기여하는가'. 이 구도에서는 유의성 미달이 약점이 아니라 5번 기여(평가 방법론)의 일부가 됨. 다국가 복제는 리뷰어 1순위 예상 공격(단일국 32분기)에 대한 선제 설계.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 회의 의사결정 요청 사항: ① 공동 논문 구도(제목 프레임·역할 분담·발표 경로) 협의 착수 여부 ② 하이브리드 병행 산출 여부(선택). 나머지는 보고 사항.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3200" b="1">
                <a:solidFill>
                  <a:srgbClr val="243447"/>
                </a:solidFill>
                <a:latin typeface="Apple SD Gothic Neo"/>
                <a:ea typeface="Apple SD Gothic Neo"/>
              </a:rPr>
              <a:t>GDP Nowcasting 협업 종합 리포트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0">
                <a:solidFill>
                  <a:srgbClr val="243447"/>
                </a:solidFill>
                <a:latin typeface="Apple SD Gothic Neo"/>
                <a:ea typeface="Apple SD Gothic Neo"/>
              </a:rPr>
              <a:t>검증 총괄 · 방법론 시사점 · 공동 연구 제안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6048" y="3840480"/>
            <a:ext cx="228600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31520" y="402336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6B6B6B"/>
                </a:solidFill>
                <a:latin typeface="Apple SD Gothic Neo"/>
                <a:ea typeface="Apple SD Gothic Neo"/>
              </a:rPr>
              <a:t>네이버클라우드 AX Lab  |  2026. 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262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구성: 리더보드 · 시사점 · 전망시계 진단 · 문맥학습(ICL) 방식의 한계 · 트랜스포머류의 한계와 기여 지점 · 공동 논문 방향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008A3E"/>
                </a:solidFill>
                <a:latin typeface="Apple SD Gothic Neo"/>
                <a:ea typeface="Apple SD Gothic Neo"/>
              </a:rPr>
              <a:t>01  </a:t>
            </a:r>
            <a:r>
              <a:rPr sz="1900" b="1">
                <a:solidFill>
                  <a:srgbClr val="243447"/>
                </a:solidFill>
                <a:latin typeface="Apple SD Gothic Neo"/>
                <a:ea typeface="Apple SD Gothic Neo"/>
              </a:rPr>
              <a:t>검증 리더보드 — 예측단위 개정(schema v2) 이후 통합 순위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41248"/>
            <a:ext cx="11183112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bokf_l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6949440" cy="34618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35240" y="1280160"/>
            <a:ext cx="4023360" cy="4754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읽는 법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· 전 구성 동일 규약 — 직접 비교 가능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· 개정 전 수치(예: 종전 DFM+XGBoost 0.765)는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  단위 정합성 문제로 비교 불가 — 표에서 제외</a:t>
            </a:r>
          </a:p>
          <a:p>
            <a:pPr algn="l">
              <a:spcAft>
                <a:spcPts val="3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관찰 1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개정 후 XGBoost 단독(0.750)이 사실상 기준선.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DFM 결합(0.787)을 포함한 대부분의 결합이 열세</a:t>
            </a:r>
          </a:p>
          <a:p>
            <a:pPr algn="l">
              <a:spcAft>
                <a:spcPts val="3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관찰 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이를 수치상 상회하는 유일 구성 = 전망시계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하이브리드(0.740) — 조기 주차만 사전학습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모델·GBM으로 보완, 이후는 XGBoost 그대로</a:t>
            </a:r>
          </a:p>
          <a:p>
            <a:pPr algn="l">
              <a:spcAft>
                <a:spcPts val="3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관찰 3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딥러닝 단독 최고는 Chronos-2+일별신호(0.808)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— 기준선 미달이나 특정 조건(3장)에서 우위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09360"/>
            <a:ext cx="11183112" cy="365760"/>
          </a:xfrm>
          <a:prstGeom prst="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364224"/>
            <a:ext cx="1088136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880" b="0">
                <a:solidFill>
                  <a:srgbClr val="6B6B6B"/>
                </a:solidFill>
                <a:latin typeface="Apple SD Gothic Neo"/>
                <a:ea typeface="Apple SD Gothic Neo"/>
              </a:rPr>
              <a:t>공통 검증 규약: 실시간 빈티지 · 속보치 기준 · 전망주차 w[-19,-1] 평균 RMSE · 2018Q1~2025Q4 (32개 분기) · 예측단위 개정(schema v2) 반영 · 이외 30여 개 구성(직접학습 신경망, 학습형 결합 등)은 전부 기준선 미달로 생략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008A3E"/>
                </a:solidFill>
                <a:latin typeface="Apple SD Gothic Neo"/>
                <a:ea typeface="Apple SD Gothic Neo"/>
              </a:rPr>
              <a:t>02  </a:t>
            </a:r>
            <a:r>
              <a:rPr sz="1900" b="1">
                <a:solidFill>
                  <a:srgbClr val="243447"/>
                </a:solidFill>
                <a:latin typeface="Apple SD Gothic Neo"/>
                <a:ea typeface="Apple SD Gothic Neo"/>
              </a:rPr>
              <a:t>시사점 — 32개 분기 표본이 가르쳐준 세 가지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41248"/>
            <a:ext cx="11183112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02920" y="1188720"/>
            <a:ext cx="11183112" cy="1536192"/>
          </a:xfrm>
          <a:prstGeom prst="round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548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8A3E"/>
                </a:solidFill>
                <a:latin typeface="Apple SD Gothic Neo"/>
                <a:ea typeface="Apple SD Gothic Neo"/>
              </a:rPr>
              <a:t>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335024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소표본에서는 단순한 고정 구조만 살아남습니다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719072"/>
            <a:ext cx="101498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데이터로부터 배우려는 개선책 — 결합 가중치 학습, 성과 기반 적응 가중, 잔차 보정 학습,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합성데이터 미세조정 — 을 모두 동일 규약으로 검증한 결과 전부 기준선 미달.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생존한 것은 사람이 고정한 단순 규칙(균등 평균, 주차별 교대)뿐 — 4개 계열 일관된 결론.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871216"/>
            <a:ext cx="11183112" cy="1536192"/>
          </a:xfrm>
          <a:prstGeom prst="round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548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8A3E"/>
                </a:solidFill>
                <a:latin typeface="Apple SD Gothic Neo"/>
                <a:ea typeface="Apple SD Gothic Neo"/>
              </a:rPr>
              <a:t>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0175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이 표본에서는 어떤 우월성도 통계적으로 입증되지 않습니다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3401568"/>
            <a:ext cx="101498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당사 검정력 분석: 32개 분기에서는 6% 개선도 DM p=0.088. 한은 측 MCS 검정에서도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비교 대상 12개 모형 전원이 5% Model Confidence Set에 잔류 — 동일한 결론.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따라서 점 예측 정확도 '순위 경쟁'은 이 표본에서 판정 불가능한 게임입니다.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53712"/>
            <a:ext cx="11183112" cy="1536192"/>
          </a:xfrm>
          <a:prstGeom prst="round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690872"/>
            <a:ext cx="548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8A3E"/>
                </a:solidFill>
                <a:latin typeface="Apple SD Gothic Neo"/>
                <a:ea typeface="Apple SD Gothic Neo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700016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정확도 경쟁 대신 '조건부 가치'로 질문을 바꾸면 답이 있습니다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5084064"/>
            <a:ext cx="101498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"어느 모델이 이기나"가 아니라 "어떤 조건에서 무엇이 기여하나"로 바꾸면 —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정보 빈곤 구간(발표 19~14주 전, 경기 반등기)에서 사전학습 모델의 기여가 일관되게 관찰됩니다.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이 조건부 발견이 공동 연구(6장)의 핵심 재료입니다.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309360"/>
            <a:ext cx="11183112" cy="365760"/>
          </a:xfrm>
          <a:prstGeom prst="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6364224"/>
            <a:ext cx="1088136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880" b="0">
                <a:solidFill>
                  <a:srgbClr val="6B6B6B"/>
                </a:solidFill>
                <a:latin typeface="Apple SD Gothic Neo"/>
                <a:ea typeface="Apple SD Gothic Neo"/>
              </a:rPr>
              <a:t>공통 검증 규약: 실시간 빈티지 · 속보치 기준 · 전망주차 w[-19,-1] 평균 RMSE · 2018Q1~2025Q4 (32개 분기) · 예측단위 개정(schema v2) 반영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008A3E"/>
                </a:solidFill>
                <a:latin typeface="Apple SD Gothic Neo"/>
                <a:ea typeface="Apple SD Gothic Neo"/>
              </a:rPr>
              <a:t>03  </a:t>
            </a:r>
            <a:r>
              <a:rPr sz="1900" b="1">
                <a:solidFill>
                  <a:srgbClr val="243447"/>
                </a:solidFill>
                <a:latin typeface="Apple SD Gothic Neo"/>
                <a:ea typeface="Apple SD Gothic Neo"/>
              </a:rPr>
              <a:t>전망시계 진단 — 사전학습 모델이 기여하는 조건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41248"/>
            <a:ext cx="11183112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bokf_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6035040" cy="4085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66560" y="1280160"/>
            <a:ext cx="489204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발견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· 조기 구간(발표 19~14주 전): 해당 분기 공식지표가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  거의 없는 정보 빈곤기 — XGBoost 우위 소멸,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  사전학습 모델(Chronos-2f)·GBM이 근소 우위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· 중반 이후: 지표 축적과 함께 XGBoost 독주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· 경기 반등 분기 6개 평균: Chronos-2f 0.581 &lt;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  XGBoost 0.717 — 일별 금융·심리 신호의 기여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3657600"/>
            <a:ext cx="4892040" cy="1737360"/>
          </a:xfrm>
          <a:prstGeom prst="roundRect">
            <a:avLst/>
          </a:prstGeom>
          <a:solidFill>
            <a:srgbClr val="E8F3EC"/>
          </a:solidFill>
          <a:ln w="9525">
            <a:solidFill>
              <a:srgbClr val="00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67728" y="3794760"/>
            <a:ext cx="4526280" cy="1508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008A3E"/>
                </a:solidFill>
                <a:latin typeface="Apple SD Gothic Neo"/>
                <a:ea typeface="Apple SD Gothic Neo"/>
              </a:rPr>
              <a:t>전망시계 하이브리드 (리더보드 1위 구성)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조기 주차 = (GBM + Chronos-2f) 평균,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그 외 주차 = XGBoost 그대로 — 0.740 (-1.3%)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· 국면 판단 없음 — 전망 시계에 따른 조건화는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  예측 실무의 표준 관행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· 수위: 비열등 확인 + 개선 방향 (유의성 미달 명시)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309360"/>
            <a:ext cx="11183112" cy="365760"/>
          </a:xfrm>
          <a:prstGeom prst="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64224"/>
            <a:ext cx="1088136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880" b="0">
                <a:solidFill>
                  <a:srgbClr val="6B6B6B"/>
                </a:solidFill>
                <a:latin typeface="Apple SD Gothic Neo"/>
                <a:ea typeface="Apple SD Gothic Neo"/>
              </a:rPr>
              <a:t>공통 검증 규약: 실시간 빈티지 · 속보치 기준 · 전망주차 w[-19,-1] 평균 RMSE · 2018Q1~2025Q4 (32개 분기) · 예측단위 개정(schema v2) 반영 · 반등 분기 6개: 2018Q1·2019Q2·2020Q3·2023Q1·2024Q3·2025Q2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008A3E"/>
                </a:solidFill>
                <a:latin typeface="Apple SD Gothic Neo"/>
                <a:ea typeface="Apple SD Gothic Neo"/>
              </a:rPr>
              <a:t>04  </a:t>
            </a:r>
            <a:r>
              <a:rPr sz="1900" b="1">
                <a:solidFill>
                  <a:srgbClr val="243447"/>
                </a:solidFill>
                <a:latin typeface="Apple SD Gothic Neo"/>
                <a:ea typeface="Apple SD Gothic Neo"/>
              </a:rPr>
              <a:t>문맥학습(ICL) 계열의 한계 — GDP 나우캐스팅 관점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41248"/>
            <a:ext cx="11183112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114300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ICL(In-Context Learning) = 모델 파라미터를 학습하지 않고, 과거 데이터를 문맥(프롬프트)으로 제시해 예측을 얻는 방식 (LLM 활용 계열 포함)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459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LLM 기반 ICL 예측의 구조적 한계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993392"/>
            <a:ext cx="539496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2103120"/>
            <a:ext cx="5394960" cy="3931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B0532F"/>
                </a:solidFill>
                <a:latin typeface="Apple SD Gothic Neo"/>
                <a:ea typeface="Apple SD Gothic Neo"/>
              </a:rPr>
              <a:t>① 학습데이터 오염 (가장 결정적)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과거 GDP 실적·경제 뉴스가 LLM 사전학습에 이미 포함 —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"그 시점에 몰랐던 값"을 모델이 알고 있을 가능성을 배제 불가.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262626"/>
                </a:solidFill>
                <a:latin typeface="Apple SD Gothic Neo"/>
                <a:ea typeface="Apple SD Gothic Neo"/>
              </a:rPr>
              <a:t>실시간 재현 채점 자체가 성립하지 않아 리더보드에서 제외.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당사 예비실험도 '오염 상한'으로만 해석 (공정 점수 아님)</a:t>
            </a:r>
          </a:p>
          <a:p>
            <a:pPr algn="l">
              <a:spcAft>
                <a:spcPts val="2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B0532F"/>
                </a:solidFill>
                <a:latin typeface="Apple SD Gothic Neo"/>
                <a:ea typeface="Apple SD Gothic Neo"/>
              </a:rPr>
              <a:t>② 재현성·감사가능성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동일 입력에도 출력 변동, 모델 버전 변경 시 결과 비복원 —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중앙은행 운영 요건(재현·감사·설명책임)과 정면 충돌</a:t>
            </a:r>
          </a:p>
          <a:p>
            <a:pPr algn="l">
              <a:spcAft>
                <a:spcPts val="2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B0532F"/>
                </a:solidFill>
                <a:latin typeface="Apple SD Gothic Neo"/>
                <a:ea typeface="Apple SD Gothic Neo"/>
              </a:rPr>
              <a:t>③ 수치 정밀도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토큰 단위 수치 처리 특성상 소수점 정밀 회귀에 부적합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459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직접학습 신경망 이식판의 실측 (참고)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309360" y="1993392"/>
            <a:ext cx="539496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09360" y="2103120"/>
            <a:ext cx="5394960" cy="3931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사내 어텐션 LSTM 계열(BISTRO 유사 구조)을 당사가 GDP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과제용으로 재구현해 동일 규약으로 채점한 결과:</a:t>
            </a:r>
          </a:p>
          <a:p>
            <a:pPr algn="l">
              <a:spcAft>
                <a:spcPts val="200"/>
              </a:spcAft>
            </a:pPr>
            <a:r>
              <a:rPr sz="3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단독 1.268 — 기준선(0.750)의 약 1.7배 오차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경기 반등 분기 2.401 — 학습분포 밖 급변기 일반화 실패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XGBoost와 오차 상관 0.847 — 동일 패널 소비로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결합 다양성 부재 (모든 결합 배합에서 단조 열화)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원인: 월 140행 표본으로 다수 파라미터 직접학습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6B6B6B"/>
                </a:solidFill>
                <a:latin typeface="Apple SD Gothic Neo"/>
                <a:ea typeface="Apple SD Gothic Neo"/>
              </a:rPr>
              <a:t>※ 유의: 본 결과는 당사 재구현 이식판에 대한 동일 규약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   판정이며, 원 연구·타 과제(물가 등)에서의 성능에 대한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   판정이 아님. 원본도 동일 규약 채점 시 공정 비교 가능.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309360"/>
            <a:ext cx="11183112" cy="365760"/>
          </a:xfrm>
          <a:prstGeom prst="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64224"/>
            <a:ext cx="1088136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880" b="0">
                <a:solidFill>
                  <a:srgbClr val="6B6B6B"/>
                </a:solidFill>
                <a:latin typeface="Apple SD Gothic Neo"/>
                <a:ea typeface="Apple SD Gothic Neo"/>
              </a:rPr>
              <a:t>공통 검증 규약: 실시간 빈티지 · 속보치 기준 · 전망주차 w[-19,-1] 평균 RMSE · 2018Q1~2025Q4 (32개 분기) · 예측단위 개정(schema v2) 반영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008A3E"/>
                </a:solidFill>
                <a:latin typeface="Apple SD Gothic Neo"/>
                <a:ea typeface="Apple SD Gothic Neo"/>
              </a:rPr>
              <a:t>05  </a:t>
            </a:r>
            <a:r>
              <a:rPr sz="1900" b="1">
                <a:solidFill>
                  <a:srgbClr val="243447"/>
                </a:solidFill>
                <a:latin typeface="Apple SD Gothic Neo"/>
                <a:ea typeface="Apple SD Gothic Neo"/>
              </a:rPr>
              <a:t>트랜스포머류(파운데이션 모델)가 점 예측에 기여하기 어려운 이유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41248"/>
            <a:ext cx="11183112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02920" y="1188720"/>
            <a:ext cx="6858000" cy="1115568"/>
          </a:xfrm>
          <a:prstGeom prst="round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98448"/>
            <a:ext cx="457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B0532F"/>
                </a:solidFill>
                <a:latin typeface="Apple SD Gothic Neo"/>
                <a:ea typeface="Apple SD Gothic Ne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307592"/>
            <a:ext cx="5943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소표본 정형 데이터는 GBDT의 영역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45920"/>
            <a:ext cx="598932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월 140행·지표 34종 조건에서 튜닝된 트리 모델 우위는 문헌 일반 결과(Grinsztajn et al., NeurIPS 2022)와 당사 실측(직접학습 신경망 전멸)이 일치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32304"/>
            <a:ext cx="6858000" cy="1115568"/>
          </a:xfrm>
          <a:prstGeom prst="round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542032"/>
            <a:ext cx="457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B0532F"/>
                </a:solidFill>
                <a:latin typeface="Apple SD Gothic Neo"/>
                <a:ea typeface="Apple SD Gothic Ne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551176"/>
            <a:ext cx="5943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사전학습 지식 ≠ 한국 거시 구조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889504"/>
            <a:ext cx="598932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파운데이션 모델이 배운 것은 시계열의 보편 문법(추세·계절성) — 지표 간 인과·한국 특수성은 없음. 공변량 소화력도 XGBoost(34종 비선형)에 미달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75888"/>
            <a:ext cx="6858000" cy="1115568"/>
          </a:xfrm>
          <a:prstGeom prst="round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3785616"/>
            <a:ext cx="457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B0532F"/>
                </a:solidFill>
                <a:latin typeface="Apple SD Gothic Neo"/>
                <a:ea typeface="Apple SD Gothic Neo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794760"/>
            <a:ext cx="5943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정보 상한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33088"/>
            <a:ext cx="598932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합성데이터로 추가 미세조정해도 예측이 거의 불변(상관 0.990) — 병목은 모델·표본량이 아니라 입력 패널이 가진 정보 자체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919472"/>
            <a:ext cx="6858000" cy="1115568"/>
          </a:xfrm>
          <a:prstGeom prst="round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5029200"/>
            <a:ext cx="457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B0532F"/>
                </a:solidFill>
                <a:latin typeface="Apple SD Gothic Neo"/>
                <a:ea typeface="Apple SD Gothic Neo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038344"/>
            <a:ext cx="5943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분포 출력의 과소산포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5376672"/>
            <a:ext cx="598932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원시 분위수의 실측 커버리지 49%(명목 80%) — 그대로 사용 불가, 사후 보정 필수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9520" y="1188720"/>
            <a:ext cx="4096512" cy="4937760"/>
          </a:xfrm>
          <a:prstGeom prst="roundRect">
            <a:avLst/>
          </a:prstGeom>
          <a:solidFill>
            <a:srgbClr val="E8F3EC"/>
          </a:solidFill>
          <a:ln w="9525">
            <a:solidFill>
              <a:srgbClr val="00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20" y="1371600"/>
            <a:ext cx="365760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50"/>
              </a:spcAft>
            </a:pPr>
            <a:r>
              <a:rPr sz="1250" b="1">
                <a:solidFill>
                  <a:srgbClr val="008A3E"/>
                </a:solidFill>
                <a:latin typeface="Apple SD Gothic Neo"/>
                <a:ea typeface="Apple SD Gothic Neo"/>
              </a:rPr>
              <a:t>그럼에도 기여가 확인된 지점</a:t>
            </a:r>
          </a:p>
          <a:p>
            <a:pPr algn="l">
              <a:spcAft>
                <a:spcPts val="25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5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① 정보 빈곤 구간</a:t>
            </a:r>
          </a:p>
          <a:p>
            <a:pPr algn="l">
              <a:spcAft>
                <a:spcPts val="25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발표 19~14주 전 — 공식지표 공백기에</a:t>
            </a:r>
          </a:p>
          <a:p>
            <a:pPr algn="l">
              <a:spcAft>
                <a:spcPts val="25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세계 지식 + 일별 신호로 보완 (3장)</a:t>
            </a:r>
          </a:p>
          <a:p>
            <a:pPr algn="l">
              <a:spcAft>
                <a:spcPts val="25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5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② 경기 반등기</a:t>
            </a:r>
          </a:p>
          <a:p>
            <a:pPr algn="l">
              <a:spcAft>
                <a:spcPts val="25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반등 6개 분기 평균 0.581 — 전 구성 중</a:t>
            </a:r>
          </a:p>
          <a:p>
            <a:pPr algn="l">
              <a:spcAft>
                <a:spcPts val="25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최강. 주가·환율·심리 원지수가 공식</a:t>
            </a:r>
          </a:p>
          <a:p>
            <a:pPr algn="l">
              <a:spcAft>
                <a:spcPts val="25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지표의 발표 시차를 메움</a:t>
            </a:r>
          </a:p>
          <a:p>
            <a:pPr algn="l">
              <a:spcAft>
                <a:spcPts val="25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5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③ 불확실성 정량화 재료</a:t>
            </a:r>
          </a:p>
          <a:p>
            <a:pPr algn="l">
              <a:spcAft>
                <a:spcPts val="25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보정(conformal) 결합 시 예측구간의</a:t>
            </a:r>
          </a:p>
          <a:p>
            <a:pPr algn="l">
              <a:spcAft>
                <a:spcPts val="25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품질 개선 확인 — 연구 재료로 유효</a:t>
            </a:r>
          </a:p>
          <a:p>
            <a:pPr algn="l">
              <a:spcAft>
                <a:spcPts val="25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5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요약: 대체재가 아니라 조건부 보완재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309360"/>
            <a:ext cx="11183112" cy="365760"/>
          </a:xfrm>
          <a:prstGeom prst="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364224"/>
            <a:ext cx="1088136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880" b="0">
                <a:solidFill>
                  <a:srgbClr val="6B6B6B"/>
                </a:solidFill>
                <a:latin typeface="Apple SD Gothic Neo"/>
                <a:ea typeface="Apple SD Gothic Neo"/>
              </a:rPr>
              <a:t>공통 검증 규약: 실시간 빈티지 · 속보치 기준 · 전망주차 w[-19,-1] 평균 RMSE · 2018Q1~2025Q4 (32개 분기) · 예측단위 개정(schema v2) 반영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008A3E"/>
                </a:solidFill>
                <a:latin typeface="Apple SD Gothic Neo"/>
                <a:ea typeface="Apple SD Gothic Neo"/>
              </a:rPr>
              <a:t>06  </a:t>
            </a:r>
            <a:r>
              <a:rPr sz="1900" b="1">
                <a:solidFill>
                  <a:srgbClr val="243447"/>
                </a:solidFill>
                <a:latin typeface="Apple SD Gothic Neo"/>
                <a:ea typeface="Apple SD Gothic Neo"/>
              </a:rPr>
              <a:t>공동 논문 제안 — "사전학습 시계열 모델은 언제 가치를 더하는가"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41248"/>
            <a:ext cx="11183112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1143000"/>
            <a:ext cx="1115568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62626"/>
                </a:solidFill>
                <a:latin typeface="Apple SD Gothic Neo"/>
                <a:ea typeface="Apple SD Gothic Neo"/>
              </a:rPr>
              <a:t>프레임: 우월성 주장이 아닌 조건부 가치 규명 — </a:t>
            </a: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"When do time-series foundation models add value? A real-time evaluation of GDP nowcasting"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5852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기여 (모두 실측 완료)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2066543"/>
            <a:ext cx="585216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2176272"/>
            <a:ext cx="5852160" cy="3291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1.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2세대 TSFM의 실시간 빈티지 평가 최초 사례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   주 단위 19회 예측 그리드 — 기존 문헌은 대부분 사후 확정 데이터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2.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전망시계 조건부 보완성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   정보 빈곤 구간·반등기에서만 기여 — 메커니즘 있는 조건부 발견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3.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무개정 일별 신호의 식별 깨끗한 효과 (0.836→0.808)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4.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TSFM 분위수 과소산포 실측 + 사후보정 처방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5.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소표본 결합 퍼즐 — 학습형 전패·고정 구조 생존 + 검정력 분석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   MCS 전원 생존 결과와 함께 '평가 축 재설계' 논의로 승격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20640"/>
            <a:ext cx="5852160" cy="1005840"/>
          </a:xfrm>
          <a:prstGeom prst="round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230368"/>
            <a:ext cx="54864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243447"/>
                </a:solidFill>
                <a:latin typeface="Apple SD Gothic Neo"/>
                <a:ea typeface="Apple SD Gothic Neo"/>
              </a:rPr>
              <a:t>역할 분담(안)  </a:t>
            </a: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한은: 실시간 빈티지·도메인 검증·정책 함의  |  당사: 모델·평가 인프라·실험 재현 패키지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243447"/>
                </a:solidFill>
                <a:latin typeface="Apple SD Gothic Neo"/>
                <a:ea typeface="Apple SD Gothic Neo"/>
              </a:rPr>
              <a:t>발표 경로(안)  </a:t>
            </a: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한은 Working Paper 선행 공개 → International Journal of Forecasting 투고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737360"/>
            <a:ext cx="4965192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표본 한계의 정면 돌파 (Future Work 아님 — 설계에 포함)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20840" y="2066543"/>
            <a:ext cx="4965192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0840" y="2176272"/>
            <a:ext cx="4965192" cy="2743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· 다국가 복제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  미국 ALFRED(세인트루이스 연준 실시간 DB, 공개) ·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  유로존 ECB 실시간 DB로 동일 프레임 재현 —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  3개 지역 일관 결과로 소표본 반론에 선제 대응</a:t>
            </a:r>
          </a:p>
          <a:p>
            <a:pPr algn="l">
              <a:spcAft>
                <a:spcPts val="2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· 사전등록 라이브 추적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  하이브리드 구성을 고정·공개 후 향후 분기를 실전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  축적 — 선택편의 없는 표본외 증거 확보</a:t>
            </a:r>
          </a:p>
          <a:p>
            <a:pPr algn="l">
              <a:spcAft>
                <a:spcPts val="2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· 유의성 논의는 본문에서 정면 처리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  검정력 분석 + MCS를 '평가 방법론 기여'로 배치 —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  약점 고백이 아니라 논문 주장의 일부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309360"/>
            <a:ext cx="11183112" cy="365760"/>
          </a:xfrm>
          <a:prstGeom prst="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64224"/>
            <a:ext cx="1088136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880" b="0">
                <a:solidFill>
                  <a:srgbClr val="6B6B6B"/>
                </a:solidFill>
                <a:latin typeface="Apple SD Gothic Neo"/>
                <a:ea typeface="Apple SD Gothic Neo"/>
              </a:rPr>
              <a:t>데이터 공개 방식(코드 공개 + 빈티지 데이터 접근 절차)은 초기 합의 필요 · 기준선 개정 경위의 서술 수위는 공동저자 협의 사항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008A3E"/>
                </a:solidFill>
                <a:latin typeface="Apple SD Gothic Neo"/>
                <a:ea typeface="Apple SD Gothic Neo"/>
              </a:rPr>
              <a:t>07  </a:t>
            </a:r>
            <a:r>
              <a:rPr sz="1900" b="1">
                <a:solidFill>
                  <a:srgbClr val="243447"/>
                </a:solidFill>
                <a:latin typeface="Apple SD Gothic Neo"/>
                <a:ea typeface="Apple SD Gothic Neo"/>
              </a:rPr>
              <a:t>요약 및 다음 단계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41248"/>
            <a:ext cx="11183112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02920" y="1234440"/>
            <a:ext cx="11183112" cy="1024128"/>
          </a:xfrm>
          <a:prstGeom prst="round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53312"/>
            <a:ext cx="1737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점 예측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1353312"/>
            <a:ext cx="694944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XGBoost 단독(개정 후)이 기준선 — 인정. 전망시계 하이브리드(0.740)는 비열등+개선 방향의 참고 옵션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155448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필요 시 병행 산출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04872"/>
            <a:ext cx="11183112" cy="1024128"/>
          </a:xfrm>
          <a:prstGeom prst="round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523744"/>
            <a:ext cx="1737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문맥학습(ICL)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523744"/>
            <a:ext cx="694944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LLM 계열은 오염 문제로 실시간 채점 자체가 비성립 · 직접학습 이식판은 소표본 한계 실측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2724912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채택 비권고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575304"/>
            <a:ext cx="11183112" cy="1024128"/>
          </a:xfrm>
          <a:prstGeom prst="round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694176"/>
            <a:ext cx="1737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트랜스포머류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694176"/>
            <a:ext cx="694944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점 예측 대체재 아님 — 정보 빈곤 구간·반등기의 조건부 보완재 + 불확실성 재료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3895344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논문 핵심 재료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745736"/>
            <a:ext cx="11183112" cy="1024128"/>
          </a:xfrm>
          <a:prstGeom prst="round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864608"/>
            <a:ext cx="1737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공동 논문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4864608"/>
            <a:ext cx="694944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"언제 가치를 더하는가" 프레임 · 기여 5건 실측 완료 · 다국가 복제 설계 포함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5065776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구도 협의 요청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B6B6B"/>
                </a:solidFill>
                <a:latin typeface="Apple SD Gothic Neo"/>
                <a:ea typeface="Apple SD Gothic Neo"/>
              </a:rPr>
              <a:t>모든 실험은 재현 가능한 스크립트로 관리 중이며, 논문 착수 결정 시 재현 패키지 형태로 정리해 공유 가능합니다.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309360"/>
            <a:ext cx="11183112" cy="365760"/>
          </a:xfrm>
          <a:prstGeom prst="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364224"/>
            <a:ext cx="1088136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880" b="0">
                <a:solidFill>
                  <a:srgbClr val="6B6B6B"/>
                </a:solidFill>
                <a:latin typeface="Apple SD Gothic Neo"/>
                <a:ea typeface="Apple SD Gothic Neo"/>
              </a:rPr>
              <a:t>공통 검증 규약: 실시간 빈티지 · 속보치 기준 · 전망주차 w[-19,-1] 평균 RMSE · 2018Q1~2025Q4 (32개 분기) · 예측단위 개정(schema v2) 반영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