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567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리더보드는 schema v2(원 단위 예측) 기준으로 전면 재계산. 주차별 결합의 -1.3%는 DM 검정 유의성 미달(p=0.41)이며,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1의 '학습형 전패'는 우연이 아니라 구조적 결과 — 유효 표본 32개에서 추정하는 모든 추가 파라미터가 과적합 비용을 지불함. 2는 당사와 한은이 독립적으로 같은 결론에 도달했다는 점이 중요. 3이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주차별 결합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별첨 취지: 본문 결론(트랜스포머류 = 조건부 보완재)을 바꾸지 않는 보강 자료. 한은 측의 'Chronos-2 vs BISTRO 차이' 질문에 대응. 회의에서 다룰지는 현장 판단 — 본문 7장까지로 마쳐도 완결됨. BISTRO 관련 서술은 사실·수치 중심으로 유지(공개 체크포인트, 논문 표준 사용법 명시).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548640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423160"/>
            <a:ext cx="10515600" cy="1463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  <a:p>
            <a:pPr algn="l">
              <a:spcAft>
                <a:spcPts val="200"/>
              </a:spcAft>
            </a:pPr>
            <a:endParaRPr sz="3300" b="1">
              <a:solidFill>
                <a:srgbClr val="243447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pple SD Gothic Neo"/>
                <a:ea typeface="Apple SD Gothic Neo"/>
              </a:rPr>
              <a:t>검증 총괄과 방법론 시사점, 그리고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058400" cy="8229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두 달간 40여 개 모형 구성을 동일 규약으로 검증한 결과를 정리하고,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“사전학습 시계열 모델은 언제 가치를 더하는가”라는 공동 연구 방향을 제안드립니다.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548640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8.  |  한국은행 디지털혁신실 협업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검증 총괄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개정 이후 기준선은 XGBoost 단독 — 이를 넘는 구성은 주차별 결합 하나였습니다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l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6858000" cy="3416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600200"/>
            <a:ext cx="41148" cy="120700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91271" y="1600200"/>
            <a:ext cx="3794760" cy="12801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개정 전 수치는 표에서 제외했습니다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종전 최고로 보고되던 DFM+XGBoost 0.765는 예측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단위 정합성 문제로 비교 불가 — 개정 후 같은 구성은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0.787로, XGBoost 단독(0.750)보다 오히려 열세입니다.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063240"/>
            <a:ext cx="41148" cy="120700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91271" y="3063240"/>
            <a:ext cx="3794760" cy="12801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유일하게 앞선 구성 (0.740, -1.3%)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전에는 GBM·Chronos-2 예측의 평균,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13주 전부터는 XGBoost 단독 — 주차별 교대입니다.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다만 이 개선폭은 통계적 유의성에 미달합니다(3장).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52628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1" y="4526280"/>
            <a:ext cx="3794760" cy="10972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 단독 최고는 0.808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Chronos-2 + 일별신호. 기준선에는 미달하지만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특정 조건에서 일관된 우위가 있습니다(3장).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직접학습 신경망·학습형 결합 등 30여 개 구성은 전부 기준선 미달로 생략.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32개 분기 표본이 가르쳐준 것은 세 가지입니다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600200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984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1.  소표본에서는 단순한 고정 구조만 살아남았습니다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10332720" cy="9144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가중치 학습, 성과 기반 적응 가중, 잔차 보정 학습, 합성데이터 미세조정 — “데이터로부터 배우는”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개선책 네 계열을 모두 동일 규약으로 검증한 결과 전부 기준선 미달이었습니다. 살아남은 것은 사람이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고정한 단순 규칙(균등 평균, 주차별 교대)뿐입니다.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72968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106984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2.  이 표본에서는 어떤 우월성도 통계적으로 입증되지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57015"/>
            <a:ext cx="10332720" cy="9144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분석으로는 32개 분기에서 6% 개선도 DM p=0.088에 그칩니다. 귀 기관의 MCS 검정에서도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잔류했습니다 — 양측 분석이 같은 결론입니다.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점 예측 정확도의 “순위 경쟁”은 이 표본에서 판정이 불가능한 게임입니다.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45736"/>
            <a:ext cx="41148" cy="12344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745736"/>
            <a:ext cx="106984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3.  질문을 “누가 이기나”에서 “언제 기여하나”로 바꾸면 답이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9783"/>
            <a:ext cx="10332720" cy="9144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모형 간 우열 대신 조건별 기여를 보면 — 해당 분기 지표가 발표되기 전인 조기 전망주차와 경기 반등기에서 사전학습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모델의 기여가 일관되게 관찰됩니다. 이 조건부 발견이 공동 연구 제안(6장)의 핵심 재료입니다.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전망시계 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해당 분기 지표가 나오기 전(조기 구간)에는 XGBoost의 우위가 사라집니다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horiz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5943600" cy="4023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54480"/>
            <a:ext cx="4937760" cy="19659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구간(발표 19~14주 전)은 해당 분기의 공식지표가 거의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없는 시기입니다. 이때는 튜닝된 XGBoost의 우위가 사라지고,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지식과 일별 신호(주가·환율·심리 원지수)를 쓰는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모델이 근소하게 앞섭니다.</a:t>
            </a:r>
          </a:p>
          <a:p>
            <a:pPr algn="l">
              <a:spcAft>
                <a:spcPts val="200"/>
              </a:spcAft>
            </a:pPr>
            <a:endParaRPr sz="1050" b="1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반등 분기 6개 평균에서도 같은 패턴입니다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 0.581 &lt; XGBoost 0.717. 공식 지표의 발표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시차를 일별 금융·심리 신호가 메우는 구간입니다.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703320"/>
            <a:ext cx="493776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리더보드 1위 구성 — 실제 결합 방식 (0.740)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0840" y="4041648"/>
            <a:ext cx="4937760" cy="0"/>
          </a:xfrm>
          <a:prstGeom prst="line">
            <a:avLst/>
          </a:prstGeom>
          <a:ln w="12700">
            <a:solidFill>
              <a:srgbClr val="008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766559" y="4224528"/>
            <a:ext cx="1515978" cy="36576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19114" y="4224528"/>
            <a:ext cx="3248045" cy="365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40" y="4279392"/>
            <a:ext cx="1607418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6주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9114" y="4279392"/>
            <a:ext cx="3248045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13주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99" y="4645152"/>
            <a:ext cx="1973178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발표 19~14주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(GBM+Chronos-2f)÷2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9114" y="4645152"/>
            <a:ext cx="3248045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C5CAB"/>
                </a:solidFill>
                <a:latin typeface="Apple SD Gothic Neo"/>
                <a:ea typeface="Apple SD Gothic Neo"/>
              </a:rPr>
              <a:t>발표 13~1주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 (현행 그대로)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349240"/>
            <a:ext cx="4937760" cy="6400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국면 판단은 없습니다 — 주차에 따른 고정 교대 규칙이며, 19주 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13주는 현행 그대로입니다. 보고 수위는 “비열등 + 개선 방향”입니다.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반등 분기 6개: 2018Q1·2019Q2·2020Q3·2023Q1·2024Q3·2025Q2.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문맥학습(ICL)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 이전에, “공정한 채점” 자체가 성립하지 않습니다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문맥학습(ICL) = 모델 파라미터를 학습하지 않고 과거 데이터를 문맥(프롬프트)으로 제시해 예측을 얻는 방식 — LLM 활용 계열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25780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ICL의 구조적 한계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267712"/>
            <a:ext cx="5257800" cy="38404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학습데이터 오염 — 가장 결정적입니다.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실적과 경제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뉴스가 LLM 사전학습에 이미 들어 있어, “그 시점에 몰랐던 값”을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모델이 알고 있을 가능성을 배제할 수 없습니다. 실시간 재현 채점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자체가 성립하지 않아 리더보드에서 제외했습니다.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 결과도 ‘오염 상한’으로만 해석합니다.</a:t>
            </a:r>
          </a:p>
          <a:p>
            <a:pPr algn="l">
              <a:spcAft>
                <a:spcPts val="200"/>
              </a:spcAft>
            </a:pPr>
            <a:endParaRPr sz="930" b="0">
              <a:solidFill>
                <a:srgbClr val="6B6B6B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재현성과 감사가능성.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출력이 변동하고 모델 버전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변경 시 결과가 복원되지 않습니다 — 중앙은행 운영 요건(재현·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감사·설명책임)과 정면으로 충돌합니다.</a:t>
            </a:r>
          </a:p>
          <a:p>
            <a:pPr algn="l">
              <a:spcAft>
                <a:spcPts val="20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수치 정밀도.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회귀에 부적합.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5780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소형 신경망 이식판의 실측 (참고)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0" y="2267712"/>
            <a:ext cx="5257800" cy="29260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직접학습 어텐션 LSTM 계열(과제특화 소형 모델)을 당사가 GDP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과제용으로 재구현해 동일 규약으로 채점했습니다.</a:t>
            </a:r>
          </a:p>
          <a:p>
            <a:pPr algn="l">
              <a:spcAft>
                <a:spcPts val="25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같은 패널을 소비해 결합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다양성이 없고, 모든 결합 배합에서 단조 열화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파라미터를 직접 학습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5120640"/>
            <a:ext cx="525780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5120640"/>
            <a:ext cx="41148" cy="8686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5212080"/>
            <a:ext cx="4892040" cy="7315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결과는 당사 재구현 이식판에 대한 동일 규약 판정이며, 특정 원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연구나 타 과제(물가 등) 성능에 대한 판정이 아닙니다. 사전학습 FM 계열의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동일 프로토콜 비교는 별도 1p(부품 비교) 자료에 정리되어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트랜스포머류(파운데이션 모델)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예측의 대체재는 아니지만, 조건부 보완재로는 유효합니다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463040"/>
            <a:ext cx="6583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예측에 기여하기 어려운 네 가지 이유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801368"/>
            <a:ext cx="65836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938528"/>
            <a:ext cx="6583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1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정형 데이터는 GBDT의 영역입니다.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630936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모델의 우위는 문헌 일반 결과(Grinsztajn et al., NeurIPS 2022)와 당사 실측(직접학습 신경망 전멸)이 일치합니다.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6583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2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지식은 한국 거시 구조가 아닙니다.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82696"/>
            <a:ext cx="630936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추세·계절성 같은 시계열의 보편 문법입니다. 지표 간 인과나 한국 특수성은 없고, 공변량 소화력도 XGBoost(34종 비선형)에 미달합니다.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5072"/>
            <a:ext cx="6583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3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병목은 모델이 아니라 정보입니다.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15968"/>
            <a:ext cx="630936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변하지 않았습니다(상관 0.990) — 입력 패널이 가진 정보 자체가 상한입니다.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38344"/>
            <a:ext cx="65836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4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분포 출력은 그대로 쓸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49240"/>
            <a:ext cx="630936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커버리지는 49%(명목 80%) — 과소산포로, 사후 보정이 필수입니다.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463040"/>
            <a:ext cx="4114800" cy="452628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543800" y="1463040"/>
            <a:ext cx="41148" cy="45262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1627632"/>
            <a:ext cx="3703320" cy="4206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00"/>
              </a:spcAft>
            </a:pPr>
            <a:endParaRPr sz="1250" b="1">
              <a:solidFill>
                <a:srgbClr val="008A3E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지표 공백 구간.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 해당 분기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공식지표가 나오기 전의 공백을 세계 지식과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일별 신호로 보완합니다(3장).</a:t>
            </a:r>
          </a:p>
          <a:p>
            <a:pPr algn="l">
              <a:spcAft>
                <a:spcPts val="20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경기 반등기.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전 구성 중 최강 — 주가·환율·심리 원지수가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 지표의 발표 시차를 메웁니다.</a:t>
            </a:r>
          </a:p>
          <a:p>
            <a:pPr algn="l">
              <a:spcAft>
                <a:spcPts val="20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불확실성 정량화 재료.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시 예측구간 품질 개선을 확인 — 연구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재료로 유효합니다.</a:t>
            </a:r>
          </a:p>
          <a:p>
            <a:pPr algn="l">
              <a:spcAft>
                <a:spcPts val="20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공동 논문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“사전학습 시계열 모델은 언제 가치를 더하는가”를 묻는 논문을 제안드립니다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가제: </a:t>
            </a: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When do time-series foundation models add value? A real-time evaluation of GDP nowcasting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 — 우월성 주장이 아닌 조건부 가치 규명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94360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다섯 가지 — 실측은 모두 완료되어 있습니다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67128"/>
            <a:ext cx="59436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304288"/>
            <a:ext cx="5943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9464"/>
            <a:ext cx="57150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주 단위 19회 예측 그리드 — 기존 문헌은 대부분 사후 확정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5943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57150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정보 빈곤 구간·반등기에서만 기여 — 메커니즘 있는 조건부 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5943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57150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가격 데이터는 개정이 없어 look-ahead 논란 원천 차단 (0.836→0.808)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실측과 처방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9976"/>
            <a:ext cx="57150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커버리지 49% → 컨포멀 보정으로 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18304"/>
            <a:ext cx="5943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+ 검정력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7150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학습형 전패·고정 구조 생존, MCS 전원 잔류 — ‘평가 축 재설계’ 논의로 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13248"/>
            <a:ext cx="5943600" cy="6400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/  당사: 모델·평가 인프라·재현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28800"/>
            <a:ext cx="47548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한계는 Future Work가 아니라 설계로 풉니다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167128"/>
            <a:ext cx="47548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304288"/>
            <a:ext cx="4754880" cy="3657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다국가 복제.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미국 ALFRED(세인트루이스 연준 실시간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DB, 공개)·유로존 ECB 실시간 DB로 동일 프레임을 재현해,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‘단일국 32분기’라는 예상 반론에 선제 대응합니다.</a:t>
            </a:r>
          </a:p>
          <a:p>
            <a:pPr algn="l">
              <a:spcAft>
                <a:spcPts val="20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사전등록 라이브 추적.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 구성을 고정·공개한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뒤 향후 분기를 실전 축적 — 선택편의 없는 표본외 증거를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만듭니다.</a:t>
            </a:r>
          </a:p>
          <a:p>
            <a:pPr algn="l">
              <a:spcAft>
                <a:spcPts val="200"/>
              </a:spcAft>
            </a:pPr>
            <a:endParaRPr sz="1050" b="0">
              <a:solidFill>
                <a:srgbClr val="262626"/>
              </a:solidFill>
              <a:latin typeface="Apple SD Gothic Neo"/>
              <a:ea typeface="Apple SD Gothic Neo"/>
            </a:endParaRP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유의성 논의는 본문에서 정면 처리.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 분석과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MCS를 ‘평가 방법론 기여’로 배치합니다 — 약점 고백이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아니라 논문 주장의 일부입니다.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데이터 공개 방식(코드 공개 + 빈티지 접근 절차)은 초기 합의 필요. 기준선 개정 경위의 서술 수위는 공동저자 협의 사항.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네 가지로 정리드리고, 논문 구도 협의를 요청드립니다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490472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1600200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6949440" cy="777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인정합니다. 주차별 결합(조기 6주 = GBM·Chronos-2 평균 → 이후 XGBoost, 0.740)은 비열등+개선 방향의 참고 옵션입니다.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14600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2624328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624328"/>
            <a:ext cx="6949440" cy="777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성립하지 않고, 직접학습 이식판은 소표본 한계를 실측했습니다.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734056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38728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648456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48456"/>
            <a:ext cx="6949440" cy="777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대체재가 아니라 지표 공백 구간(조기 주차)·반등기의 조건부 보완재이며, 불확실성 정량화의 재료입니다.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758184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62856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672584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672584"/>
            <a:ext cx="6949440" cy="777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“언제 가치를 더하는가” 프레임으로 기여 5건의 실측이 완료되어 있고, 다국가 복제 설계를 포함합니다.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782312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5586984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관리하고 있으며, 논문 착수 결정 시 재현 패키지 형태로 정리해 공유하겠습니다.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별첨  |  시계열 FM 부품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부품으로서의 시계열 FM(ICL) 비교 — 조기 슬롯 자격은 Chronos-2만 충족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실험 설계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검증된 주차별 결합의 조기 슬롯에 시계열 FM을 부품으로 장착해 비교. 두 모델 모두 파라미터 갱신 없이 과거 데이터를 문맥으로 사용(ICL·zero-shot), 입력·과제·평가 완전 동일 — DFM 스냅샷 + 공변량 10종 + 빠른신호 4종, 분기말 외삽, 32분기 실시간 그리드.</a:t>
            </a:r>
          </a:p>
          <a:p>
            <a:pPr algn="l">
              <a:spcAft>
                <a:spcPts val="200"/>
              </a:spcAft>
            </a:pPr>
            <a:r>
              <a:rPr sz="930" b="1">
                <a:solidFill>
                  <a:srgbClr val="243447"/>
                </a:solidFill>
                <a:latin typeface="Apple SD Gothic Neo"/>
                <a:ea typeface="Apple SD Gothic Neo"/>
              </a:rPr>
              <a:t>비교 대상  </a:t>
            </a: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Chronos-2(아마존, 120M) vs BISTRO(BIS WP 1337, Moirai-base 91M을 BIS 거시 4,925계열로 미세조정 — 공개 체크포인트) · 참고: 직접학습 LSTM · LLM 기반 ICL은 학습데이터 오염으로 채점 제외.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30368"/>
            <a:ext cx="64922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결과 요약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0468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577840"/>
            <a:ext cx="6492240" cy="777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성능: Chronos-2f 0.808 &lt; BISTRO 0.871 ≈ 기반 Moirai-small 0.873 — BIS 거시 미세조정의 효과는 소폭(조기 구간 1.021→1.005)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장착: Chronos-2f만 개선(0.750→0.740). BISTRO는 동률(0.750), 두 FM 병용(0.744)도 C2f 단독에 미달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참고: 직접학습 LSTM은 동일 입력에도 1.019(조기 1.286) — 소표본 직접학습 한계 재확인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258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371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— 조기 구간에서 GBM과 대등할 것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 단독: Chronos-2f 0.924 ≈ GBM 0.924 (충족) /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BISTRO 1.005 · LSTM 1.286 (미충족)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결과가 자격 판정과 일치: C2f 0.740(개선) / BISTRO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0.750(동률) / 병용 0.744 — C2f 단독 미달 (오차 상관 0.926)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29000"/>
            <a:ext cx="41148" cy="224028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35240" y="3429000"/>
            <a:ext cx="4023359" cy="22860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16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성능 차이의 원인 — 공변량 절제 실험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같은 빠른신호(주가·환율) 추가 시: </a:t>
            </a:r>
            <a:r>
              <a:rPr sz="88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880" b="1">
                <a:solidFill>
                  <a:srgbClr val="B0532F"/>
                </a:solidFill>
                <a:latin typeface="Apple SD Gothic Neo"/>
                <a:ea typeface="Apple SD Gothic Neo"/>
              </a:rPr>
              <a:t>BISTRO +0.1% 무이득</a:t>
            </a: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 (0.870→0.871)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 추가: BISTRO -0.5% — 미미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원인은 사전학습의 채점 범위 차이: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- Moirai/BISTRO: (공변량, 타깃)과거 →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(공변량, 타깃)미래 전부 채점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공변량도 예측 대상(이웃). 거시 미세조정 후에도 구조 동일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- Chronos-2: (공변량, 타깃)과거 →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타깃만 채점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공변량은 힌트. 힌트 없이는 손실을 줄일 수 없는 사례로 훈련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체급 유사(91M vs 120M) → 격차 원인은 체급이 아닌 훈련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06440"/>
            <a:ext cx="420624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52360" y="5806440"/>
            <a:ext cx="41148" cy="6400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35240" y="5852160"/>
            <a:ext cx="3840479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유의  개선폭은 모두 통계적 유의성 미달(DM p&gt;0.18) — 비열등·개선 방향 수위.</a:t>
            </a:r>
          </a:p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BISTRO는 공개 체크포인트를 논문 표준 사용법(zero-shot) 그대로 적용, 한국 GDP</a:t>
            </a:r>
          </a:p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과제용 추가 미세조정 없음. 저자: Koyuncu·Kwon·Lombardi·Perez-Cruz·Shin.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슬롯 교체 = 조기(발표 19~14주 전)=(GBM+부품)÷2, 이후 XGBoost. 조기 경계(-14주)는 예측구간 보정에서 선정의된 값 — 조기 4~7주 어디로 잘라도 0.740~0.741로 동일(경계 비의존). BISTRO 출처: github.com/bis-med-it/bistro (Apache 2.0).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2577</Words>
  <Application>Microsoft Macintosh PowerPoint</Application>
  <PresentationFormat>와이드스크린</PresentationFormat>
  <Paragraphs>199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Apple SD Gothic Neo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김용민</cp:lastModifiedBy>
  <cp:revision>1</cp:revision>
  <dcterms:created xsi:type="dcterms:W3CDTF">2013-01-27T09:14:16Z</dcterms:created>
  <dcterms:modified xsi:type="dcterms:W3CDTF">2026-08-18T05:07:11Z</dcterms:modified>
  <cp:category/>
</cp:coreProperties>
</file>