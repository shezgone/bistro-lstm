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3개월 여정의 한 줄 요약: 정면 승부(국면전환) → 통계적 벽 확인 → 축 전환(조건부 가치) → 고객이 협업 확대를 제안하는 위치까지. 발표 시간 10분 기준, 2·5·9번 장이 핵심.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여정의 구조가 메시지: 우리는 실패를 숨기지 않고 기록했고, 그 기록(무엇이 왜 안 되는가)이 지금 한은과의 공동 논문 재료가 됨. 8월 기준선 격변 때 당일 재검증으로 대응한 것이 신뢰의 전환점. (구두 보충용 — 문서 명시 금지: BISTRO 논문의 1저자가 현 신임 총재(BIS 재직 시)이며, 디지털혁신실의 해석 질의가 이 프로젝트의 기점. 8월의 원본 실측·LoRA 개선으로 출발 질문에 답을 완성한 수미상관 구조.)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통계학 배경 청중 핵심 장. 메시지: 점수보다 채점의 무결성에 먼저 투자했고, 그것이 고객 신뢰(코드 개정 당일 대응)와 연구 신뢰(seed 사고 적발) 양쪽에서 배당을 지급함.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(발표자 참고 — 본문 언급 없음) 대표님이 과거 한은 맥락에서 HMM을 언급한 바 있음. 이 국면전환 연구가 정확히 그 계보(Markov-switching)이며 성능상 전 여정 최고(0.718)였음 — 질문이 나오면 구두로 '대표님이 보셨던 방향이 성능으로는 옳았고, 수용성 문제로 전망시계 조건화로 번역해 최종 구성에 계승했다'로 답변. 선제 언급은 하지 않음.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통계학자 청중에게 가장 공명할 장. '못 이겨서 물러선 것'이 아니라 '검정력 계산이 먼저 있었고, 판정 가능한 질문으로 옮긴 것'. 한은 MCS가 독립적으로 같은 결론에 도달한 것이 이 판단의 외부 검증.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FDE 가치가 가장 선명한 장. 고객 결함을 비난 없이 '개정'으로 프레임하고, 우리 무효 수치(0.746 신기록 포함)도 함께 폐기하는 대칭성을 보임 — 이 대응 이후 한은이 자료를 자기 레포에 커밋하고 협업 확대를 제안하는 관계로 전환됨.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우측 차트가 이 장의 핵심 — 정보가 쌓여도(우측으로 갈수록) BISTRO 오차는 평탄, XGB·DFM은 하락. 한은이 자체적으로 발견한 진단을 우리가 재현·원인 규명·해법(다음 장)까지 이은 흐름.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장의 정치적 의미: 한은(이창훈 과장)이 8/25에 제안한 적응학습 방향을 우리가 3일 만에 첫 실증 — '제안이 옳았다'는 실증 선물로 협업 확대 논의의 주도권 확보. 실패한 변형(v2)·seed 사고도 기록으로 남겨 신뢰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 읽기: 왼쪽부터 성능 계보. 회색 마지막 막대(v3 0.718)가 '보류된 최고 기록'으로 남아 있음 — 대표님의 국면 직관이 숫자로는 여전히 1등이라는 점을 시각적으로 보여주는 장치이기도 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FDE 활동의 실체를 보여주는 장. 핵심 주장: 고객의 커밋을 읽는 능력(diff에서 단위 결함·실험 설계를 독해)과 재현 가능한 코드로 회신하는 속도(당일 재검증, 3일 내 실증)가 FDE의 차별점. 기밀 관리도 언급 가능 — 한은 빈티지 데이터는 저장소 분리·커밋 금지 규칙 유지.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문장이 대표 보고의 결론 — FDE 모델의 가치 입증. 다음 결정 3건 중 대표 승인이 필요한 것은 특별히 없으며(진행 보고), 논문 저자 구성 등 회사 차원 조율이 필요해지면 별도 보고 예정.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Apple SD Gothic Neo"/>
                <a:ea typeface="Apple SD Gothic Neo"/>
              </a:rPr>
              <a:t>네이버클라우드 AX Forward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86000"/>
            <a:ext cx="10789920" cy="1554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3100" b="1">
                <a:solidFill>
                  <a:srgbClr val="243447"/>
                </a:solidFill>
                <a:latin typeface="Apple SD Gothic Neo"/>
                <a:ea typeface="Apple SD Gothic Neo"/>
              </a:rPr>
              <a:t>한국은행 GDP Nowcasting 협업 — 3개월의 여정</a:t>
            </a:r>
          </a:p>
          <a:p>
            <a:pPr algn="l">
              <a:spcAft>
                <a:spcPts val="200"/>
              </a:spcAft>
            </a:pPr>
            <a:r>
              <a:rPr sz="8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262626"/>
                </a:solidFill>
                <a:latin typeface="Apple SD Gothic Neo"/>
                <a:ea typeface="Apple SD Gothic Neo"/>
              </a:rPr>
              <a:t>국면전환 가설에서 파운데이션 모델 적응학습까지, 그리고 공동 연구 어젠다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13232" y="3977639"/>
            <a:ext cx="3840480" cy="0"/>
          </a:xfrm>
          <a:prstGeom prst="line">
            <a:avLst/>
          </a:prstGeom>
          <a:ln w="2032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13232" y="4160520"/>
            <a:ext cx="1024128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Apple SD Gothic Neo"/>
                <a:ea typeface="Apple SD Gothic Neo"/>
              </a:rPr>
              <a:t>40여 개 모형 구성 · 실험 스크립트 50여 종 · 동일 규약 실시간 재현 채점 608발 × 32개 분기.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6B6B6B"/>
                </a:solidFill>
                <a:latin typeface="Apple SD Gothic Neo"/>
                <a:ea typeface="Apple SD Gothic Neo"/>
              </a:rPr>
              <a:t>정확도 신기록(-2.3%)과 함께, 한은이 협업 범위 확대를 먼저 제안해온 상태입니다.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6035040"/>
            <a:ext cx="731520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6B6B6B"/>
                </a:solidFill>
                <a:latin typeface="Apple SD Gothic Neo"/>
                <a:ea typeface="Apple SD Gothic Neo"/>
              </a:rPr>
              <a:t>2026. 9.  |  대표 보고  |  작성: 김용민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1  |  과제와 여정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한 문장 요약 — 정면 승부에서 시작해, 게임의 규칙을 다시 정의하는 것으로 끝났습니다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71600"/>
            <a:ext cx="41148" cy="804672"/>
          </a:xfrm>
          <a:prstGeom prst="rect">
            <a:avLst/>
          </a:prstGeom>
          <a:solidFill>
            <a:srgbClr val="1C5CA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C5CAB"/>
                </a:solidFill>
                <a:latin typeface="Apple SD Gothic Neo"/>
                <a:ea typeface="Apple SD Gothic Neo"/>
              </a:rPr>
              <a:t>6월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71600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착수·재현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371600"/>
            <a:ext cx="7406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 측의 시계열 파운데이션 모델(BISTRO, BIS WP 1337) 해석 질의에서 출발 — 현행 시스템(DFM+XGBoost)을 실시간 빈티지로 재현해 검증 기반 확립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40864"/>
            <a:ext cx="41148" cy="804672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340864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7월 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40864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국면전환 연구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340864"/>
            <a:ext cx="7406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국면별 모델 교대(v1→v3)로 최고 성능 도달 — 그러나 방법론 수용성 문제로 채택 보류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310128"/>
            <a:ext cx="41148" cy="804672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310128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7월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310128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축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310128"/>
            <a:ext cx="7406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"32개 분기에선 누구도 우승을 증명 못 한다"(검정력 분석) → 조건부 가치·분포로 성과 재정의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79392"/>
            <a:ext cx="41148" cy="804672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279392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B6B6B"/>
                </a:solidFill>
                <a:latin typeface="Apple SD Gothic Neo"/>
                <a:ea typeface="Apple SD Gothic Neo"/>
              </a:rPr>
              <a:t>8월 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4279392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기준선 격변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279392"/>
            <a:ext cx="7406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한은이 자체 코드의 단위 결함을 개정 — 전 실험 즉시 재검증, XGBoost 단독이 새 기준선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48656"/>
            <a:ext cx="41148" cy="804672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48656"/>
            <a:ext cx="12344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A3E"/>
                </a:solidFill>
                <a:latin typeface="Apple SD Gothic Neo"/>
                <a:ea typeface="Apple SD Gothic Neo"/>
              </a:rPr>
              <a:t>8월 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248656"/>
            <a:ext cx="201168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적응학습 실증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248656"/>
            <a:ext cx="74066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 제안(적응학습)을 당사가 첫 실증 — LoRA + 임계 규칙으로 32분기 신기록(0.733)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2  |  검증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모든 주장의 바닥에 하나의 채점 규약 — 실시간 재현, 예외 없음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486400" cy="4206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설계 원칙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실시간 빈티지: 각 예측 시점에 '그때 존재했던' 데이터만 사용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  — look-ahead 원천 차단, 개정 이력 보존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정답 = 속보치, 분기당 19회 주간 갱신 예측 (총 608발)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2018Q1~2025Q4, 코로나 급변기 포함 전 구간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통계적 안전장치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검정: Diebold-Mariano(HAC), Model Confidence Set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검정력 분석: 이 표본에선 6% 개선도 p≈0.09 — 사전 확인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사전 등록: 임계값·설정을 실험 전 문서로 고정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seed 3회 반복 · 선택편의 명시 · 경계 민감도 검사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단일 실행/단일 분기 수치는 판정에 사용하지 않음 (원칙)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325880"/>
            <a:ext cx="5257800" cy="402336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0" y="1325880"/>
            <a:ext cx="41148" cy="402336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508760"/>
            <a:ext cx="4846320" cy="3749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이 규약이 실전에서 일한 순간들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 코드 개정(8월) 때: 규약이 이미 서 있어 당일로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40여 구성 전면 재채점 — 기준선 교체에 즉시 대응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seed 미전파 결함 2건을 반복 원칙이 적발 — 행운의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단일 실행이 '신기록'으로 보고될 뻔한 것을 차단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한은의 자체 MCS 검정이 당사 검정력 분석과 동일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결론에 도달 — 양측이 같은 언어로 논의하게 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3  |  1막 · 국면전환 연구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성능은 최고였으나, 채택되지 않는 이유를 배웠습니다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577840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접근 — 국면전환(regime-switching) 계보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경기 국면(급변·안정·반등)마다 최적 모형이 다르다는 가설로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국면 감지 + 모델 교대 구조를 3차례 고도화 (v1→v3) 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잠재 국면이 관측을 지배한다는 계량경제학의 고전적 발상.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결과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v3 = 0.718 — 전체 여정 통틀어 최고 성능 (방향은 옳았음)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DM p=0.088 — 표본 한계로 유의성 문턱 미달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B0532F"/>
                </a:solidFill>
                <a:latin typeface="Apple SD Gothic Neo"/>
                <a:ea typeface="Apple SD Gothic Neo"/>
              </a:rPr>
              <a:t>채택 보류의 이유 (성능이 아니라 수용성)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 실무 책임자: "현재 시점에 국면을 실시간으로 단정하는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것이 맞는가" — 중앙은행 운영 요건(설명책임)과의 충돌.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증명을 계속하는 대신 자산화(부품 재사용·논문화)로 전환.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92240" y="1325880"/>
            <a:ext cx="5166360" cy="4023360"/>
          </a:xfrm>
          <a:prstGeom prst="rect">
            <a:avLst/>
          </a:prstGeom>
          <a:solidFill>
            <a:srgbClr val="EE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325880"/>
            <a:ext cx="41148" cy="40233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1508760"/>
            <a:ext cx="4754880" cy="3749039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008A3E"/>
                </a:solidFill>
                <a:latin typeface="Apple SD Gothic Neo"/>
                <a:ea typeface="Apple SD Gothic Neo"/>
              </a:rPr>
              <a:t>이 연구가 남긴 자산 (이후 전부 재사용됨)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"반등 국면에서 사전학습 모델이 강하다"는 발견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→ 이후 FM 검증·조기 슬롯 설계의 출발점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국면 신호(심리 저점 통과 등) → 설명 리포트 재료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'이산 국면 단정' 대신 '전망시계 조건화'라는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수용 가능한 프레임 발견 — 최종 구성의 뼈대</a:t>
            </a:r>
          </a:p>
          <a:p>
            <a:pPr algn="l">
              <a:spcAft>
                <a:spcPts val="300"/>
              </a:spcAft>
            </a:pPr>
            <a:r>
              <a:rPr sz="4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잠재 국면을 명시적으로 감지하는 대신, 국면 정보가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자연히 실리는 조건(전망 주차·일별 신호)으로 우회 —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같은 직관의 운영 가능한 번역이었습니다.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 v3 상세: 반등 국면 감지 시 사전학습 모델 결합으로 교대하는 3-arm 구조.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4  |  2막 · 통계적 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"이 표본에서는 누구도 우승을 증명할 수 없다" — 그래서 게임을 바꿨습니다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577840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검정력 분석이 말해준 것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표본 = 32개 분기. 주간 19발은 분기 내 강한 상관 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유효 표본은 사실상 32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이 표본에서 6.2% 개선도 DM p=0.088 — 5% 문턱을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넘으려면 표본이 수 배 필요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한은의 자체 MCS: 비교 12개 모형 전원이 5% 신뢰집합에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잔류 — 독립적으로 같은 결론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1">
                <a:solidFill>
                  <a:srgbClr val="B0532F"/>
                </a:solidFill>
                <a:latin typeface="Apple SD Gothic Neo"/>
                <a:ea typeface="Apple SD Gothic Neo"/>
              </a:rPr>
              <a:t>따라서 — 점 RMSE '순위 경쟁'은 판정 불가능한 게임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325880"/>
            <a:ext cx="5166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성과 축의 재정의 (7월 말 결정)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92240" y="1691640"/>
            <a:ext cx="5166360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92240" y="1828800"/>
            <a:ext cx="5166360" cy="3474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① 점추정 —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'비열등 + 개선 방향' 수위로만 주장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② 조건부 가치 —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"언제 무엇이 기여하는가"는 유의성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 없이도 성립하는 기술적(descriptive) 발견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③ 분포 —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예측구간 커버리지는 즉시 검증 가능한 축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 (컨포멀 보정으로 명목 80% → 실측 81~87% 달성)</a:t>
            </a:r>
          </a:p>
          <a:p>
            <a:pPr algn="l">
              <a:spcAft>
                <a:spcPts val="300"/>
              </a:spcAft>
            </a:pPr>
            <a:r>
              <a:rPr sz="1100" b="1">
                <a:solidFill>
                  <a:srgbClr val="262626"/>
                </a:solidFill>
                <a:latin typeface="Apple SD Gothic Neo"/>
                <a:ea typeface="Apple SD Gothic Neo"/>
              </a:rPr>
              <a:t>④ 방법론 — </a:t>
            </a: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검정력·선택편의·재현성 자체를 기여로</a:t>
            </a:r>
          </a:p>
          <a:p>
            <a:pPr algn="l">
              <a:spcAft>
                <a:spcPts val="3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이 재정의가 이후 모든 산출물의 문법이 됐고,</a:t>
            </a:r>
          </a:p>
          <a:p>
            <a:pPr algn="l">
              <a:spcAft>
                <a:spcPts val="3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공동 논문 프레임("언제 가치를 더하는가")의 원형입니다.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5  |  3막 · 기준선 격변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고객의 코드 개정에 당일 대응 — 위기가 신뢰의 전환점이 됐습니다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486400" cy="40233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무슨 일이 있었나 (8월 초)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한은이 자체 ML 예측치의 단위 정합성 결함을 발견·개정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— 표준화값이 원단위와 혼합 채점되던 문제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종전 공식 기준 'DFM+XGBoost 0.765'가 무효화,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당사의 종전 기록·게이트 수치도 함께 무효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당사 대응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개정 코드 수신 당일 40여 구성 전면 재채점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신 기준선 확정: XGBoost 단독 0.750 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"결합이 항상 낫다"던 종전 서사가 결함의 산물이었음을 확인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한은의 대규모 후보 탐색(911개)에는 선택편의 관점을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정중히 제기 — 그들 자신의 MCS 논리로</a:t>
            </a:r>
          </a:p>
        </p:txBody>
      </p:sp>
      <p:pic>
        <p:nvPicPr>
          <p:cNvPr id="6" name="Picture 5" descr="bokf_l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463040"/>
            <a:ext cx="5577840" cy="277857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 개정 전 수치와의 혼용 없음 — 이후 모든 수치는 개정(schema v2) 기준.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6  |  4막 · 파운데이션 모델 전수 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"어떤 딥러닝이 되는가"를 조건으로 답했습니다 — BIS 모델 원본 실측 포함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486400" cy="4114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전수 검증의 결론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직접학습 신경망(LSTM·NCDE 등): 전멸 — 월 140행 소표본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사전학습 FM(Chronos-2·Moirai/BISTRO): 유효 —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단 '어느 조건에서'가 갈림 (조기 주차·반등기 한정)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BIS 공개 거시 FM(BISTRO, WP1337)을 확보해 동일 규약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직접 실측 — 한은 관심 질문에 원본 기준으로 답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핵심 진단 — '힌트 흡수력'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같은 일별 신호(주가·환율)를 줘도 활용도가 다름: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Chronos-2 -3.4% vs BISTRO 무이득 (절제 실험)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원인 = 사전학습 채점 범위 차이 (타깃만 vs 전 변량)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— 주차별 오차 평탄성(한은 진단)의 원인을 규명</a:t>
            </a:r>
          </a:p>
        </p:txBody>
      </p:sp>
      <p:pic>
        <p:nvPicPr>
          <p:cNvPr id="6" name="Picture 5" descr="weekly_absor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669280" cy="3012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 절제(ablation): 공변량을 단계적으로 제거·추가해 기여를 분리하는 실험.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7  |  5막 · 적응학습(LoRA) 실증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한은이 제안한 방향을 당사가 먼저 실증 — 평탄성이 풀리기 시작했습니다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325880"/>
            <a:ext cx="5486400" cy="41148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실험 (양 모델 동일 레시피, seed 3회)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학습 = 과거 빈티지 경로(당시 가용 정보 + 관측 플래그,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라벨은 실제 속보치), 연 1회 fresh 재적응, release-safe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적응 규모 = 전체 파라미터의 0.6% (LoRA rank 8)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결과 (3-seed 예측 평균)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BISTRO 0.596 → 0.560 (-6.0%) — 평탄성 부분 해소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Chronos-2 0.619 → 0.564 (-8.9%)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한은의 출력층 교체 실험(실패)과 대조 —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  "적응의 깊이"가 관건임을 규명</a:t>
            </a:r>
          </a:p>
          <a:p>
            <a:pPr algn="l">
              <a:spcAft>
                <a:spcPts val="200"/>
              </a:spcAft>
            </a:pPr>
            <a:r>
              <a:rPr sz="5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정직한 각주: BISTRO 쪽 seed 분산 큼(±0.028) — 단일 실행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불신 원칙이 여기서도 작동, 3-seed 평균만 보고</a:t>
            </a:r>
          </a:p>
        </p:txBody>
      </p:sp>
      <p:pic>
        <p:nvPicPr>
          <p:cNvPr id="6" name="Picture 5" descr="lora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45920"/>
            <a:ext cx="5669280" cy="221558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평가창 2021~2025(적응 데이터 확보 구간) · LoRA = 저계수 어댑터를 주의층에 삽입하는 경량 미세조정.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8  |  종합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최종 구성 — 기준선 대비 -2.3%, 여정의 모든 발견이 한 구조에 들어있습니다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ceo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327020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498079" y="1554480"/>
            <a:ext cx="41148" cy="210312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59" y="1554480"/>
            <a:ext cx="4114800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최종 운영 권고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기본 = XGBoost 단독 (한은 개정판)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조기 6주(지표 공백기) = FM 결합으로 교대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· 적응 이력 12분기 미만 → zero-shot 부품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· 12분기 이상 → LoRA 적응 부품 (임계 규칙)</a:t>
            </a:r>
          </a:p>
          <a:p>
            <a:pPr algn="l">
              <a:spcAft>
                <a:spcPts val="250"/>
              </a:spcAft>
            </a:pPr>
            <a:r>
              <a:rPr sz="400" b="0">
                <a:solidFill>
                  <a:srgbClr val="262626"/>
                </a:solidFill>
                <a:latin typeface="Apple SD Gothic Neo"/>
                <a:ea typeface="Apple SD Gothic Neo"/>
              </a:rPr>
              <a:t/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임계 12분기는 사전 등록값 — 초소형 적응(3~7분기)이</a:t>
            </a:r>
          </a:p>
          <a:p>
            <a:pPr algn="l">
              <a:spcAft>
                <a:spcPts val="250"/>
              </a:spcAft>
            </a:pPr>
            <a:r>
              <a:rPr sz="950" b="0">
                <a:solidFill>
                  <a:srgbClr val="6B6B6B"/>
                </a:solidFill>
                <a:latin typeface="Apple SD Gothic Neo"/>
                <a:ea typeface="Apple SD Gothic Neo"/>
              </a:rPr>
              <a:t>코로나 구간에서 역효과임을 실측으로 확인한 결과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3886200"/>
            <a:ext cx="41148" cy="210312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59" y="3886200"/>
            <a:ext cx="4114800" cy="21945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5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수위 (일관 유지)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-2.3%는 DM p=0.185 — 관례상 비유의,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'비열등 + 개선 방향'으로만 주장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단, 여정 전체에서 가장 낮은 p·최다 승수(18/32)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· 국면전환 v3(0.718)는 참고 기록 — 성능은 더 좋으나</a:t>
            </a:r>
          </a:p>
          <a:p>
            <a:pPr algn="l">
              <a:spcAft>
                <a:spcPts val="25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  수용성 문제로 보류된 연구 자산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9  |  일하는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회의보다 커밋 — 모든 협업이 GitHub 문서·코드 리뷰로 진행됐습니다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1298448"/>
            <a:ext cx="110642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한은이 코드와 리포트를 커밋하면, 당사가 커밋 단위로 리뷰·재검증하고 재현 가능한 스크립트와 문서로 회신하는 비동기 협업 — 요구사항 분석이 곧 코드 리뷰였습니다.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39496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43447"/>
                </a:solidFill>
                <a:latin typeface="Apple SD Gothic Neo"/>
                <a:ea typeface="Apple SD Gothic Neo"/>
              </a:rPr>
              <a:t>이창훈 과장(한은)의 커밋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828800"/>
            <a:ext cx="530352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008A3E"/>
                </a:solidFill>
                <a:latin typeface="Apple SD Gothic Neo"/>
                <a:ea typeface="Apple SD Gothic Neo"/>
              </a:rPr>
              <a:t>당사의 응답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157984"/>
            <a:ext cx="11091672" cy="0"/>
          </a:xfrm>
          <a:prstGeom prst="line">
            <a:avLst/>
          </a:prstGeom>
          <a:ln w="12700">
            <a:solidFill>
              <a:srgbClr val="C9C9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48640" y="2286000"/>
            <a:ext cx="41148" cy="105156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286000"/>
            <a:ext cx="5212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8/4  "코드 수정 및 산출물 저장"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596896"/>
            <a:ext cx="52578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예측단위 개정(schema v2) — diff에서 단위 결함 수정과 검증 로직 강화를 파악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2286000"/>
            <a:ext cx="41148" cy="10515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286000"/>
            <a:ext cx="2377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당일 재검증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96896"/>
            <a:ext cx="50749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40여 구성 전면 재채점 → 신 기준선(XGBoost 단독) 확정, 당사 종전 기록도 함께 폐기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93008"/>
            <a:ext cx="41148" cy="105156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493008"/>
            <a:ext cx="5212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8/25  "Add BISTRO nowcasting experiments..."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3803904"/>
            <a:ext cx="52578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실험 코드 16종 + 테스트 + 회의자료(typ) 3.7만 줄 — 코드에서 실험 설계·한계까지 독해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3493008"/>
            <a:ext cx="41148" cy="10515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10528" y="3493008"/>
            <a:ext cx="2377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익일 진단 재현 → 3일 내 첫 실증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3803904"/>
            <a:ext cx="50749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주차별 흡수력 진단 재현·원인 규명(회의대응 1p) → 그들이 제안만 한 적응학습을 LoRA로 첫 실측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700016"/>
            <a:ext cx="41148" cy="105156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700016"/>
            <a:ext cx="52120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</a:rPr>
              <a:t>(수신 확인도 커밋으로)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10912"/>
            <a:ext cx="52578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6B6B6B"/>
                </a:solidFill>
                <a:latin typeface="Apple SD Gothic Neo"/>
                <a:ea typeface="Apple SD Gothic Neo"/>
              </a:rPr>
              <a:t>당사 종합리포트 PDF를 한은이 자기 저장소에 커밋 — 산출물이 고객의 공식 기록에 편입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700016"/>
            <a:ext cx="41148" cy="105156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10528" y="4700016"/>
            <a:ext cx="237744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08A3E"/>
                </a:solidFill>
                <a:latin typeface="Apple SD Gothic Neo"/>
                <a:ea typeface="Apple SD Gothic Neo"/>
              </a:rPr>
              <a:t>산출물 = 코드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0528" y="5010912"/>
            <a:ext cx="507492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930" b="0">
                <a:solidFill>
                  <a:srgbClr val="262626"/>
                </a:solidFill>
                <a:latin typeface="Apple SD Gothic Neo"/>
                <a:ea typeface="Apple SD Gothic Neo"/>
              </a:rPr>
              <a:t>실험 스크립트 50여 종을 결과·교훈 주석과 함께 커밋 — 실패(기각 실험)도 재현 가능한 기록으로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solidFill>
            <a:srgbClr val="F5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5943600"/>
            <a:ext cx="41148" cy="45720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016752"/>
            <a:ext cx="10698480" cy="320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243447"/>
                </a:solidFill>
                <a:latin typeface="Apple SD Gothic Neo"/>
                <a:ea typeface="Apple SD Gothic Neo"/>
              </a:rPr>
              <a:t>이 방식의 가치: 협업의 전 과정이 커밋 로그로 남아 재현·감사가 가능 — 중앙은행과 일하는 형식 그 자체가 신뢰의 근거가 됩니다.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당사 저장소 커밋 90여 건(6~8월) · 한은 저장소는 pull 전용(푸시하지 않음) — 산출물은 문서·PDF로 전달.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05156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6B6B6B"/>
                </a:solidFill>
                <a:latin typeface="Apple SD Gothic Neo"/>
                <a:ea typeface="Apple SD Gothic Neo"/>
              </a:rPr>
              <a:t>10  |  성과와 다음 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243447"/>
                </a:solidFill>
                <a:latin typeface="Apple SD Gothic Neo"/>
                <a:ea typeface="Apple SD Gothic Neo"/>
              </a:rPr>
              <a:t>협업의 위치가 바뀌었습니다 — 검증 파트너에서 공동 연구 파트너로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1115568"/>
            <a:ext cx="11091672" cy="0"/>
          </a:xfrm>
          <a:prstGeom prst="line">
            <a:avLst/>
          </a:prstGeom>
          <a:ln w="15240">
            <a:solidFill>
              <a:srgbClr val="2434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48640" y="1371600"/>
            <a:ext cx="41148" cy="1005840"/>
          </a:xfrm>
          <a:prstGeom prst="rect">
            <a:avLst/>
          </a:prstGeom>
          <a:solidFill>
            <a:srgbClr val="00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협업 관계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88920" y="1371600"/>
            <a:ext cx="87782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한은이 당사 자료를 자체 저장소에 수록하고, 적응학습으로의 협업 범위 확대를 먼저 제안 — 역할 분담 협의 중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60320"/>
            <a:ext cx="41148" cy="10058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560320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기술 자산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560320"/>
            <a:ext cx="87782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실시간 검증 하네스 · 일별 빠른신호 파이프라인 · FM 절제/흡수력 진단 프레임 · LoRA 적응 러너 — 전부 재현 가능 스크립트로 관리 (50여 종)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749039"/>
            <a:ext cx="41148" cy="1005840"/>
          </a:xfrm>
          <a:prstGeom prst="rect">
            <a:avLst/>
          </a:prstGeom>
          <a:solidFill>
            <a:srgbClr val="2434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공동 논문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749039"/>
            <a:ext cx="87782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"사전학습 시계열 모델은 언제 가치를 더하는가" — 기여 5건 실측 완료 + 적응학습 장(章) 추가. 한은 WP 선행 후 국제 학술지(IJF) 투고 구도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37759"/>
            <a:ext cx="41148" cy="1005840"/>
          </a:xfrm>
          <a:prstGeom prst="rect">
            <a:avLst/>
          </a:prstGeom>
          <a:solidFill>
            <a:srgbClr val="B053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937759"/>
            <a:ext cx="192024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243447"/>
                </a:solidFill>
                <a:latin typeface="Apple SD Gothic Neo"/>
                <a:ea typeface="Apple SD Gothic Neo"/>
              </a:rPr>
              <a:t>다음 결정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4937759"/>
            <a:ext cx="8778240" cy="8229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262626"/>
                </a:solidFill>
                <a:latin typeface="Apple SD Gothic Neo"/>
                <a:ea typeface="Apple SD Gothic Neo"/>
              </a:rPr>
              <a:t>① 적응학습 역할 분담 확정(당사: Chronos-2 트랙·적응 안정화) ② 논문 집필 착수 ③ 운영 권고안의 병행 산출 개시 여부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243447"/>
                </a:solidFill>
                <a:latin typeface="Apple SD Gothic Neo"/>
                <a:ea typeface="Apple SD Gothic Neo"/>
              </a:rPr>
              <a:t>FDE로서의 3개월: 출발점이었던 BISTRO 해석 질의에 원본 실측과 적응 개선으로 답하며 한 바퀴를 완성 — 고객의 결함엔 당일 재검증으로, 진단엔 원인 규명으로, 제안엔 첫 실증으로.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92240"/>
            <a:ext cx="1060704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6B6B6B"/>
                </a:solidFill>
                <a:latin typeface="Apple SD Gothic Neo"/>
                <a:ea typeface="Apple SD Gothic Neo"/>
              </a:rPr>
              <a:t>주: 공통 규약: 한은 실시간 빈티지 · 속보치 기준 · 전망주차 w[-19,-1] 평균 RMSE · 2018Q1~2025Q4(32개 분기). 낮을수록 정확.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750040" y="6492240"/>
            <a:ext cx="365760" cy="2286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6B6B6B"/>
                </a:solidFill>
                <a:latin typeface="Apple SD Gothic Neo"/>
                <a:ea typeface="Apple SD Gothic Neo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