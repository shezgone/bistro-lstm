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5553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 (참고: 대표님은 한은 FDE 전사 사례 보고 — 1순위 규정 온톨로지, 코딩 어시스턴트 등 — 를 이미 받으심. 본 덱은 그 지도에서 우선순위 2위 '시계열 Track1'의 상세 보고에 해당. 시계열 Track2(뉴스 인과관계, 데이터사이언스팀 이현규 과장)와는 별개 트랙.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여정의</a:t>
            </a:r>
            <a:r>
              <a:rPr dirty="0"/>
              <a:t> </a:t>
            </a:r>
            <a:r>
              <a:rPr dirty="0" err="1"/>
              <a:t>구조가</a:t>
            </a:r>
            <a:r>
              <a:rPr dirty="0"/>
              <a:t> </a:t>
            </a:r>
            <a:r>
              <a:rPr dirty="0" err="1"/>
              <a:t>메시지</a:t>
            </a:r>
            <a:r>
              <a:rPr dirty="0"/>
              <a:t>: </a:t>
            </a:r>
            <a:r>
              <a:rPr dirty="0" err="1"/>
              <a:t>우리는</a:t>
            </a:r>
            <a:r>
              <a:rPr dirty="0"/>
              <a:t> </a:t>
            </a:r>
            <a:r>
              <a:rPr dirty="0" err="1"/>
              <a:t>실패를</a:t>
            </a:r>
            <a:r>
              <a:rPr dirty="0"/>
              <a:t> </a:t>
            </a:r>
            <a:r>
              <a:rPr dirty="0" err="1"/>
              <a:t>숨기지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</a:t>
            </a:r>
            <a:r>
              <a:rPr dirty="0" err="1"/>
              <a:t>기록했고</a:t>
            </a:r>
            <a:r>
              <a:rPr dirty="0"/>
              <a:t>, </a:t>
            </a:r>
            <a:r>
              <a:rPr dirty="0" err="1"/>
              <a:t>그</a:t>
            </a:r>
            <a:r>
              <a:rPr dirty="0"/>
              <a:t> </a:t>
            </a:r>
            <a:r>
              <a:rPr dirty="0" err="1"/>
              <a:t>기록</a:t>
            </a:r>
            <a:r>
              <a:rPr dirty="0"/>
              <a:t>(</a:t>
            </a:r>
            <a:r>
              <a:rPr dirty="0" err="1"/>
              <a:t>무엇이</a:t>
            </a:r>
            <a:r>
              <a:rPr dirty="0"/>
              <a:t> </a:t>
            </a:r>
            <a:r>
              <a:rPr dirty="0" err="1"/>
              <a:t>왜</a:t>
            </a:r>
            <a:r>
              <a:rPr dirty="0"/>
              <a:t> </a:t>
            </a:r>
            <a:r>
              <a:rPr dirty="0" err="1"/>
              <a:t>안</a:t>
            </a:r>
            <a:r>
              <a:rPr dirty="0"/>
              <a:t> </a:t>
            </a:r>
            <a:r>
              <a:rPr dirty="0" err="1"/>
              <a:t>되는가</a:t>
            </a:r>
            <a:r>
              <a:rPr dirty="0"/>
              <a:t>)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지금</a:t>
            </a:r>
            <a:r>
              <a:rPr dirty="0"/>
              <a:t> </a:t>
            </a:r>
            <a:r>
              <a:rPr dirty="0" err="1"/>
              <a:t>한은과의</a:t>
            </a:r>
            <a:r>
              <a:rPr dirty="0"/>
              <a:t> </a:t>
            </a:r>
            <a:r>
              <a:rPr dirty="0" err="1"/>
              <a:t>공동</a:t>
            </a:r>
            <a:r>
              <a:rPr dirty="0"/>
              <a:t> </a:t>
            </a:r>
            <a:r>
              <a:rPr dirty="0" err="1"/>
              <a:t>논문</a:t>
            </a:r>
            <a:r>
              <a:rPr dirty="0"/>
              <a:t> </a:t>
            </a:r>
            <a:r>
              <a:rPr dirty="0" err="1"/>
              <a:t>재료가</a:t>
            </a:r>
            <a:r>
              <a:rPr dirty="0"/>
              <a:t> </a:t>
            </a:r>
            <a:r>
              <a:rPr dirty="0" err="1"/>
              <a:t>됨</a:t>
            </a:r>
            <a:r>
              <a:rPr dirty="0"/>
              <a:t>. 8월 </a:t>
            </a:r>
            <a:r>
              <a:rPr dirty="0" err="1"/>
              <a:t>기준선</a:t>
            </a:r>
            <a:r>
              <a:rPr dirty="0"/>
              <a:t> </a:t>
            </a:r>
            <a:r>
              <a:rPr dirty="0" err="1"/>
              <a:t>격변</a:t>
            </a:r>
            <a:r>
              <a:rPr dirty="0"/>
              <a:t> </a:t>
            </a:r>
            <a:r>
              <a:rPr dirty="0" err="1"/>
              <a:t>때</a:t>
            </a:r>
            <a:r>
              <a:rPr dirty="0"/>
              <a:t> </a:t>
            </a:r>
            <a:r>
              <a:rPr dirty="0" err="1"/>
              <a:t>당일</a:t>
            </a:r>
            <a:r>
              <a:rPr dirty="0"/>
              <a:t> </a:t>
            </a:r>
            <a:r>
              <a:rPr dirty="0" err="1"/>
              <a:t>재검증으로</a:t>
            </a:r>
            <a:r>
              <a:rPr dirty="0"/>
              <a:t> </a:t>
            </a:r>
            <a:r>
              <a:rPr dirty="0" err="1"/>
              <a:t>대응한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신뢰의</a:t>
            </a:r>
            <a:r>
              <a:rPr dirty="0"/>
              <a:t> </a:t>
            </a:r>
            <a:r>
              <a:rPr dirty="0" err="1"/>
              <a:t>전환점</a:t>
            </a:r>
            <a:r>
              <a:rPr dirty="0"/>
              <a:t>. (</a:t>
            </a:r>
            <a:r>
              <a:rPr dirty="0" err="1"/>
              <a:t>구두</a:t>
            </a:r>
            <a:r>
              <a:rPr dirty="0"/>
              <a:t> </a:t>
            </a:r>
            <a:r>
              <a:rPr dirty="0" err="1"/>
              <a:t>보충용</a:t>
            </a:r>
            <a:r>
              <a:rPr dirty="0"/>
              <a:t> — </a:t>
            </a:r>
            <a:r>
              <a:rPr dirty="0" err="1"/>
              <a:t>문서</a:t>
            </a:r>
            <a:r>
              <a:rPr dirty="0"/>
              <a:t> </a:t>
            </a:r>
            <a:r>
              <a:rPr dirty="0" err="1"/>
              <a:t>명시</a:t>
            </a:r>
            <a:r>
              <a:rPr dirty="0"/>
              <a:t> </a:t>
            </a:r>
            <a:r>
              <a:rPr dirty="0" err="1"/>
              <a:t>금지</a:t>
            </a:r>
            <a:r>
              <a:rPr dirty="0"/>
              <a:t>: BISTRO </a:t>
            </a:r>
            <a:r>
              <a:rPr dirty="0" err="1"/>
              <a:t>논문의</a:t>
            </a:r>
            <a:r>
              <a:rPr dirty="0"/>
              <a:t> 1저자가 </a:t>
            </a:r>
            <a:r>
              <a:rPr dirty="0" err="1"/>
              <a:t>현</a:t>
            </a:r>
            <a:r>
              <a:rPr dirty="0"/>
              <a:t> </a:t>
            </a:r>
            <a:r>
              <a:rPr dirty="0" err="1"/>
              <a:t>신임</a:t>
            </a:r>
            <a:r>
              <a:rPr dirty="0"/>
              <a:t> </a:t>
            </a:r>
            <a:r>
              <a:rPr dirty="0" err="1"/>
              <a:t>총재</a:t>
            </a:r>
            <a:r>
              <a:rPr dirty="0"/>
              <a:t>(BIS </a:t>
            </a:r>
            <a:r>
              <a:rPr dirty="0" err="1"/>
              <a:t>재직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)</a:t>
            </a:r>
            <a:r>
              <a:rPr dirty="0" err="1"/>
              <a:t>이며</a:t>
            </a:r>
            <a:r>
              <a:rPr dirty="0"/>
              <a:t>, </a:t>
            </a:r>
            <a:r>
              <a:rPr dirty="0" err="1"/>
              <a:t>디지털혁신실의</a:t>
            </a:r>
            <a:r>
              <a:rPr dirty="0"/>
              <a:t> </a:t>
            </a:r>
            <a:r>
              <a:rPr dirty="0" err="1"/>
              <a:t>해석</a:t>
            </a:r>
            <a:r>
              <a:rPr dirty="0"/>
              <a:t> </a:t>
            </a:r>
            <a:r>
              <a:rPr dirty="0" err="1"/>
              <a:t>질의가</a:t>
            </a:r>
            <a:r>
              <a:rPr dirty="0"/>
              <a:t>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프로젝트의</a:t>
            </a:r>
            <a:r>
              <a:rPr dirty="0"/>
              <a:t> </a:t>
            </a:r>
            <a:r>
              <a:rPr dirty="0" err="1"/>
              <a:t>기점</a:t>
            </a:r>
            <a:r>
              <a:rPr dirty="0"/>
              <a:t>. 8월의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실측·LoRA</a:t>
            </a:r>
            <a:r>
              <a:rPr dirty="0"/>
              <a:t> </a:t>
            </a:r>
            <a:r>
              <a:rPr dirty="0" err="1"/>
              <a:t>개선으로</a:t>
            </a:r>
            <a:r>
              <a:rPr dirty="0"/>
              <a:t> </a:t>
            </a:r>
            <a:r>
              <a:rPr dirty="0" err="1"/>
              <a:t>출발</a:t>
            </a:r>
            <a:r>
              <a:rPr dirty="0"/>
              <a:t> </a:t>
            </a:r>
            <a:r>
              <a:rPr dirty="0" err="1"/>
              <a:t>질문에</a:t>
            </a:r>
            <a:r>
              <a:rPr dirty="0"/>
              <a:t> </a:t>
            </a:r>
            <a:r>
              <a:rPr dirty="0" err="1"/>
              <a:t>답을</a:t>
            </a:r>
            <a:r>
              <a:rPr dirty="0"/>
              <a:t> </a:t>
            </a:r>
            <a:r>
              <a:rPr dirty="0" err="1"/>
              <a:t>완성한</a:t>
            </a:r>
            <a:r>
              <a:rPr dirty="0"/>
              <a:t> </a:t>
            </a:r>
            <a:r>
              <a:rPr dirty="0" err="1"/>
              <a:t>수미상관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FDE 활동의 실체를 보여주는 장. 양방향 초상: 한은은 데이터·기준점을 명확히 하는 파트너(빈티지 정비, 자기 결함 개정, 실험 코드 공개)였고, 당사는 그 커밋을 읽고(diff에서 단위 결함·실험 설계 독해) 재현 가능한 코드로 빠르게 회신(당일 재검증, 3일 내 실증)하는 파트너. 기밀 관리 구두 포인트 — 한은 빈티지 데이터는 저장소 분리·커밋 금지 규칙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 (조직 지형 구두 보충: 경제모형실 산학협력의 학계 파트너는 서범석 교수로 파악 — 문서 명시는 피하고 구두로만. BISTRO 관련 대외 서술은 항상 '동일 규약 실측·공개 체크포인트 기준' 프레임 유지.)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2286000"/>
            <a:ext cx="10789920" cy="1448473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60" b="1" dirty="0" err="1">
                <a:solidFill>
                  <a:srgbClr val="243447"/>
                </a:solidFill>
                <a:latin typeface="NanumSquare Neo Heavy" pitchFamily="2" charset="-127"/>
                <a:ea typeface="NanumSquare Neo Heavy" pitchFamily="2" charset="-127"/>
              </a:rPr>
              <a:t>한국은행</a:t>
            </a:r>
            <a:r>
              <a:rPr sz="3560" b="1" dirty="0">
                <a:solidFill>
                  <a:srgbClr val="243447"/>
                </a:solidFill>
                <a:latin typeface="NanumSquare Neo Heavy" pitchFamily="2" charset="-127"/>
                <a:ea typeface="NanumSquare Neo Heavy" pitchFamily="2" charset="-127"/>
              </a:rPr>
              <a:t> GDP Nowcasting </a:t>
            </a:r>
            <a:r>
              <a:rPr sz="3560" b="1" dirty="0" err="1">
                <a:solidFill>
                  <a:srgbClr val="243447"/>
                </a:solidFill>
                <a:latin typeface="NanumSquare Neo Heavy" pitchFamily="2" charset="-127"/>
                <a:ea typeface="NanumSquare Neo Heavy" pitchFamily="2" charset="-127"/>
              </a:rPr>
              <a:t>협업</a:t>
            </a:r>
            <a:r>
              <a:rPr sz="3560" b="1" dirty="0">
                <a:solidFill>
                  <a:srgbClr val="243447"/>
                </a:solidFill>
                <a:latin typeface="NanumSquare Neo Heavy" pitchFamily="2" charset="-127"/>
                <a:ea typeface="NanumSquare Neo Heavy" pitchFamily="2" charset="-127"/>
              </a:rPr>
              <a:t> — 3개월의 </a:t>
            </a:r>
            <a:r>
              <a:rPr sz="3560" b="1" dirty="0" err="1">
                <a:solidFill>
                  <a:srgbClr val="243447"/>
                </a:solidFill>
                <a:latin typeface="NanumSquare Neo Heavy" pitchFamily="2" charset="-127"/>
                <a:ea typeface="NanumSquare Neo Heavy" pitchFamily="2" charset="-127"/>
              </a:rPr>
              <a:t>여정</a:t>
            </a:r>
            <a:endParaRPr sz="3560" b="1" dirty="0">
              <a:solidFill>
                <a:srgbClr val="243447"/>
              </a:solidFill>
              <a:latin typeface="NanumSquare Neo Heavy" pitchFamily="2" charset="-127"/>
              <a:ea typeface="NanumSquare Neo Heavy" pitchFamily="2" charset="-127"/>
            </a:endParaRPr>
          </a:p>
          <a:p>
            <a:pPr algn="l">
              <a:spcAft>
                <a:spcPts val="200"/>
              </a:spcAft>
            </a:pPr>
            <a:endParaRPr sz="3560" b="1" dirty="0">
              <a:solidFill>
                <a:srgbClr val="243447"/>
              </a:solidFill>
              <a:latin typeface="NanumSquare Neo Heavy" pitchFamily="2" charset="-127"/>
              <a:ea typeface="NanumSquare Neo Heavy" pitchFamily="2" charset="-127"/>
            </a:endParaRPr>
          </a:p>
          <a:p>
            <a:pPr algn="l">
              <a:spcAft>
                <a:spcPts val="200"/>
              </a:spcAft>
            </a:pP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국면전환</a:t>
            </a:r>
            <a:r>
              <a:rPr sz="1839" b="1" dirty="0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 </a:t>
            </a: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가설에서</a:t>
            </a:r>
            <a:r>
              <a:rPr sz="1839" b="1" dirty="0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 </a:t>
            </a: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파운데이션</a:t>
            </a:r>
            <a:r>
              <a:rPr sz="1839" b="1" dirty="0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 </a:t>
            </a: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모델</a:t>
            </a:r>
            <a:r>
              <a:rPr sz="1839" b="1" dirty="0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 </a:t>
            </a: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적응학습까지</a:t>
            </a:r>
            <a:r>
              <a:rPr sz="1839" b="1" dirty="0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, </a:t>
            </a: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그리고</a:t>
            </a:r>
            <a:r>
              <a:rPr sz="1839" b="1" dirty="0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 </a:t>
            </a: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공동</a:t>
            </a:r>
            <a:r>
              <a:rPr sz="1839" b="1" dirty="0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 </a:t>
            </a: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연구</a:t>
            </a:r>
            <a:r>
              <a:rPr sz="1839" b="1" dirty="0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 </a:t>
            </a:r>
            <a:r>
              <a:rPr sz="1839" b="1" dirty="0" err="1">
                <a:solidFill>
                  <a:srgbClr val="262626"/>
                </a:solidFill>
                <a:latin typeface="NanumSquare Neo Heavy" pitchFamily="2" charset="-127"/>
                <a:ea typeface="NanumSquare Neo Heavy" pitchFamily="2" charset="-127"/>
              </a:rPr>
              <a:t>어젠다</a:t>
            </a:r>
            <a:endParaRPr sz="1839" b="1" dirty="0">
              <a:solidFill>
                <a:srgbClr val="262626"/>
              </a:solidFill>
              <a:latin typeface="NanumSquare Neo Heavy" pitchFamily="2" charset="-127"/>
              <a:ea typeface="NanumSquare Neo Heavy" pitchFamily="2" charset="-127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80" b="0">
                <a:solidFill>
                  <a:srgbClr val="6B6B6B"/>
                </a:solidFill>
                <a:latin typeface="NanumSquare"/>
                <a:ea typeface="NanumSquare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380" b="0">
                <a:solidFill>
                  <a:srgbClr val="6B6B6B"/>
                </a:solidFill>
                <a:latin typeface="NanumSquare"/>
                <a:ea typeface="NanumSquare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715000"/>
            <a:ext cx="1024128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0">
                <a:solidFill>
                  <a:srgbClr val="6B6B6B"/>
                </a:solidFill>
                <a:latin typeface="NanumSquare"/>
                <a:ea typeface="NanumSquare"/>
              </a:rPr>
              <a:t>한은–네이버 2026년 협력과제 8건 중 우선순위 2위 「시계열 Track1 (거시경제 예측)」 — 한은 담당: 이창훈·윤희근 (디지털혁신실)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035040"/>
            <a:ext cx="7315200" cy="21236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60" b="0" dirty="0">
                <a:solidFill>
                  <a:srgbClr val="6B6B6B"/>
                </a:solidFill>
                <a:latin typeface="NanumSquare"/>
                <a:ea typeface="NanumSquare"/>
              </a:rPr>
              <a:t>2026. 9.  |  </a:t>
            </a:r>
            <a:r>
              <a:rPr lang="en-US" sz="1260" b="0" dirty="0">
                <a:solidFill>
                  <a:srgbClr val="6B6B6B"/>
                </a:solidFill>
                <a:latin typeface="NanumSquare"/>
                <a:ea typeface="NanumSquare"/>
              </a:rPr>
              <a:t>AX Forward Lab </a:t>
            </a:r>
            <a:r>
              <a:rPr sz="1260" b="0" dirty="0">
                <a:solidFill>
                  <a:srgbClr val="6B6B6B"/>
                </a:solidFill>
                <a:latin typeface="NanumSquare"/>
                <a:ea typeface="NanumSquare"/>
              </a:rPr>
              <a:t>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요약 — 정확도 경쟁에서 출발해, 평가 기준을 함께 다시 세우는 데까지 왔습니다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298448"/>
            <a:ext cx="41148" cy="73152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12344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6B6B6B"/>
                </a:solidFill>
                <a:latin typeface="NanumSquare"/>
                <a:ea typeface="NanumSquare"/>
              </a:rPr>
              <a:t>~5월 (전사)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298448"/>
            <a:ext cx="201168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CPI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298448"/>
            <a:ext cx="7406640" cy="39805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물가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(CPI)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예측으로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시작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소형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특화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모델·FM·언어모델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HCX·Claude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) 3계열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비교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체계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구축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. </a:t>
            </a:r>
            <a:endParaRPr lang="en-US" sz="115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spcAft>
                <a:spcPts val="200"/>
              </a:spcAft>
            </a:pP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6월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한은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요청으로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대상을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GDP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성장률로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전환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(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검증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하네스는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계승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" cy="73152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12344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1C5CAB"/>
                </a:solidFill>
                <a:latin typeface="NanumSquare"/>
                <a:ea typeface="NanumSquare"/>
              </a:rPr>
              <a:t>6월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148840"/>
            <a:ext cx="201168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착수·재현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148840"/>
            <a:ext cx="7406640" cy="600677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한은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측의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시계열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파운데이션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모델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(BISTRO, BIS WP 1337)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해석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질의에서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출발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. </a:t>
            </a:r>
            <a:endParaRPr lang="en-US" sz="115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spcAft>
                <a:spcPts val="200"/>
              </a:spcAft>
            </a:pP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FDE Consulting &amp;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Planning팀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김지혜·김민승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과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초기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방향성을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함께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수립하고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, </a:t>
            </a:r>
            <a:endParaRPr lang="en-US" sz="115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현행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시스템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DFM+XGBoost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실시간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빈티지로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재현</a:t>
            </a:r>
            <a:endParaRPr sz="1150" b="0" dirty="0">
              <a:solidFill>
                <a:srgbClr val="262626"/>
              </a:solidFill>
              <a:latin typeface="NanumSquare"/>
              <a:ea typeface="NanumSquare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8640" y="2999232"/>
            <a:ext cx="41148" cy="73152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999232"/>
            <a:ext cx="12344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B0532F"/>
                </a:solidFill>
                <a:latin typeface="NanumSquare"/>
                <a:ea typeface="NanumSquare"/>
              </a:rPr>
              <a:t>7월 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999232"/>
            <a:ext cx="201168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국면전환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999232"/>
            <a:ext cx="7406640" cy="6858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49624"/>
            <a:ext cx="41148" cy="7315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849624"/>
            <a:ext cx="12344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7월 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849624"/>
            <a:ext cx="201168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 dirty="0" err="1">
                <a:solidFill>
                  <a:srgbClr val="243447"/>
                </a:solidFill>
                <a:latin typeface="NanumSquare"/>
                <a:ea typeface="NanumSquare"/>
              </a:rPr>
              <a:t>축</a:t>
            </a:r>
            <a:r>
              <a:rPr sz="132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320" b="1" dirty="0" err="1">
                <a:solidFill>
                  <a:srgbClr val="243447"/>
                </a:solidFill>
                <a:latin typeface="NanumSquare"/>
                <a:ea typeface="NanumSquare"/>
              </a:rPr>
              <a:t>전환</a:t>
            </a:r>
            <a:endParaRPr sz="1320" b="1" dirty="0">
              <a:solidFill>
                <a:srgbClr val="243447"/>
              </a:solidFill>
              <a:latin typeface="NanumSquare"/>
              <a:ea typeface="NanumSquare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160520" y="3849624"/>
            <a:ext cx="7406640" cy="6858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00016"/>
            <a:ext cx="41148" cy="73152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700016"/>
            <a:ext cx="12344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6B6B6B"/>
                </a:solidFill>
                <a:latin typeface="NanumSquare"/>
                <a:ea typeface="NanumSquare"/>
              </a:rPr>
              <a:t>8월 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700016"/>
            <a:ext cx="2011680" cy="22159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320" b="1" dirty="0" err="1">
                <a:solidFill>
                  <a:srgbClr val="243447"/>
                </a:solidFill>
                <a:latin typeface="NanumSquare"/>
                <a:ea typeface="NanumSquare"/>
              </a:rPr>
              <a:t>BaseLine</a:t>
            </a:r>
            <a:r>
              <a:rPr lang="ko-KR" altLang="en-US" sz="1320" b="1" dirty="0">
                <a:solidFill>
                  <a:srgbClr val="243447"/>
                </a:solidFill>
                <a:latin typeface="NanumSquare"/>
                <a:ea typeface="NanumSquare"/>
              </a:rPr>
              <a:t> 조정</a:t>
            </a:r>
            <a:endParaRPr sz="1320" b="1" dirty="0">
              <a:solidFill>
                <a:srgbClr val="243447"/>
              </a:solidFill>
              <a:latin typeface="NanumSquare"/>
              <a:ea typeface="NanumSquare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160520" y="4700016"/>
            <a:ext cx="7406640" cy="19543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한은이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lang="ko-KR" altLang="en-US"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전처리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코드의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lang="ko-KR" altLang="en-US" sz="1150" dirty="0">
                <a:solidFill>
                  <a:srgbClr val="262626"/>
                </a:solidFill>
                <a:latin typeface="NanumSquare"/>
                <a:ea typeface="NanumSquare"/>
              </a:rPr>
              <a:t>버그 수정 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실험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즉시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재검증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,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XGBoost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단독이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새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기준선</a:t>
            </a:r>
            <a:endParaRPr sz="1150" b="0" dirty="0">
              <a:solidFill>
                <a:srgbClr val="262626"/>
              </a:solidFill>
              <a:latin typeface="NanumSquare"/>
              <a:ea typeface="NanumSquare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48640" y="5550407"/>
            <a:ext cx="41148" cy="7315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550407"/>
            <a:ext cx="12344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008A3E"/>
                </a:solidFill>
                <a:latin typeface="NanumSquare"/>
                <a:ea typeface="NanumSquare"/>
              </a:rPr>
              <a:t>8월 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50407"/>
            <a:ext cx="201168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적응학습 실증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5550407"/>
            <a:ext cx="7406640" cy="6858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주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: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공통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규약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: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한은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실시간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빈티지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·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속보치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기준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·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전망주차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w[-19,-1]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평균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RMSE · 2018Q1~2025Q4(32개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분기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).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낮을수록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정확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37022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설계 원칙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실시간 빈티지: 각 예측 시점에 '그때 존재했던' 데이터만 사용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090" b="0">
                <a:solidFill>
                  <a:srgbClr val="6B6B6B"/>
                </a:solidFill>
                <a:latin typeface="NanumSquare"/>
                <a:ea typeface="NanumSquare"/>
              </a:rPr>
              <a:t>  — look-ahead 원천 차단, 개정 이력 보존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정답 = 속보치, 분기당 19회 주간 갱신 예측 (총 608발)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2018Q1~2025Q4, 코로나 급변기 포함 전 구간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endParaRPr sz="1210" b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통계적 안전장치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검정: Diebold-Mariano(HAC), Model Confidence Set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검정력 분석: 이 표본에선 6% 개선도 p≈0.09 — 사전 확인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사전 등록: 임계값·설정을 실험 전 문서로 고정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seed 3회 반복 · 선택편의 명시 · 경계 민감도 검사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257217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이 규약이 실전에서 일한 순간들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endParaRPr sz="1380" b="1">
              <a:solidFill>
                <a:srgbClr val="243447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 코드 개정(8월) 때: 규약이 이미 서 있어 당일로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40여 구성 전면 재채점 — 기준선 교체에 즉시 대응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seed 미전파 결함 2건을 반복 원칙이 적발 — 행운의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단일 실행이 '신기록'으로 보고될 뻔한 것을 차단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한은의 자체 MCS 검정이 당사 검정력 분석과 동일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8797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접근</a:t>
            </a:r>
            <a:r>
              <a:rPr sz="1440" b="1" dirty="0">
                <a:solidFill>
                  <a:srgbClr val="243447"/>
                </a:solidFill>
                <a:latin typeface="NanumSquare"/>
                <a:ea typeface="NanumSquare"/>
              </a:rPr>
              <a:t> — </a:t>
            </a: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국면전환</a:t>
            </a:r>
            <a:r>
              <a:rPr sz="1440" b="1" dirty="0">
                <a:solidFill>
                  <a:srgbClr val="243447"/>
                </a:solidFill>
                <a:latin typeface="NanumSquare"/>
                <a:ea typeface="NanumSquare"/>
              </a:rPr>
              <a:t>(regime-switching) </a:t>
            </a: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계보</a:t>
            </a:r>
            <a:endParaRPr sz="1440" b="1" dirty="0">
              <a:solidFill>
                <a:srgbClr val="243447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경기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국면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급변·안정·반등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마다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최적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모형이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다르다는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가설로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국면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감지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+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모델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교대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구조를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3차례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고도화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(v1→v3) —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잠재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국면이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관측을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지배한다는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계량경제학의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고전적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발상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결과</a:t>
            </a:r>
            <a:endParaRPr sz="1440" b="1" dirty="0">
              <a:solidFill>
                <a:srgbClr val="243447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v3 = 0.718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전체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여정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통틀어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최고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성능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방향은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옳았음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DM p=0.088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표본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한계로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유의성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문턱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미달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 dirty="0" err="1">
                <a:solidFill>
                  <a:srgbClr val="B0532F"/>
                </a:solidFill>
                <a:latin typeface="NanumSquare"/>
                <a:ea typeface="NanumSquare"/>
              </a:rPr>
              <a:t>채택</a:t>
            </a:r>
            <a:r>
              <a:rPr sz="1440" b="1" dirty="0">
                <a:solidFill>
                  <a:srgbClr val="B0532F"/>
                </a:solidFill>
                <a:latin typeface="NanumSquare"/>
                <a:ea typeface="NanumSquare"/>
              </a:rPr>
              <a:t> </a:t>
            </a:r>
            <a:r>
              <a:rPr sz="1440" b="1" dirty="0" err="1">
                <a:solidFill>
                  <a:srgbClr val="B0532F"/>
                </a:solidFill>
                <a:latin typeface="NanumSquare"/>
                <a:ea typeface="NanumSquare"/>
              </a:rPr>
              <a:t>보류의</a:t>
            </a:r>
            <a:r>
              <a:rPr sz="1440" b="1" dirty="0">
                <a:solidFill>
                  <a:srgbClr val="B0532F"/>
                </a:solidFill>
                <a:latin typeface="NanumSquare"/>
                <a:ea typeface="NanumSquare"/>
              </a:rPr>
              <a:t> </a:t>
            </a:r>
            <a:r>
              <a:rPr sz="1440" b="1" dirty="0" err="1">
                <a:solidFill>
                  <a:srgbClr val="B0532F"/>
                </a:solidFill>
                <a:latin typeface="NanumSquare"/>
                <a:ea typeface="NanumSquare"/>
              </a:rPr>
              <a:t>이유</a:t>
            </a:r>
            <a:r>
              <a:rPr sz="1440" b="1" dirty="0">
                <a:solidFill>
                  <a:srgbClr val="B0532F"/>
                </a:solidFill>
                <a:latin typeface="NanumSquare"/>
                <a:ea typeface="NanumSquare"/>
              </a:rPr>
              <a:t> (</a:t>
            </a:r>
            <a:r>
              <a:rPr sz="1440" b="1" dirty="0" err="1">
                <a:solidFill>
                  <a:srgbClr val="B0532F"/>
                </a:solidFill>
                <a:latin typeface="NanumSquare"/>
                <a:ea typeface="NanumSquare"/>
              </a:rPr>
              <a:t>성능이</a:t>
            </a:r>
            <a:r>
              <a:rPr sz="1440" b="1" dirty="0">
                <a:solidFill>
                  <a:srgbClr val="B0532F"/>
                </a:solidFill>
                <a:latin typeface="NanumSquare"/>
                <a:ea typeface="NanumSquare"/>
              </a:rPr>
              <a:t> </a:t>
            </a:r>
            <a:r>
              <a:rPr sz="1440" b="1" dirty="0" err="1">
                <a:solidFill>
                  <a:srgbClr val="B0532F"/>
                </a:solidFill>
                <a:latin typeface="NanumSquare"/>
                <a:ea typeface="NanumSquare"/>
              </a:rPr>
              <a:t>아니라</a:t>
            </a:r>
            <a:r>
              <a:rPr sz="1440" b="1" dirty="0">
                <a:solidFill>
                  <a:srgbClr val="B0532F"/>
                </a:solidFill>
                <a:latin typeface="NanumSquare"/>
                <a:ea typeface="NanumSquare"/>
              </a:rPr>
              <a:t> </a:t>
            </a:r>
            <a:r>
              <a:rPr sz="1440" b="1" dirty="0" err="1">
                <a:solidFill>
                  <a:srgbClr val="B0532F"/>
                </a:solidFill>
                <a:latin typeface="NanumSquare"/>
                <a:ea typeface="NanumSquare"/>
              </a:rPr>
              <a:t>수용성</a:t>
            </a:r>
            <a:r>
              <a:rPr sz="1440" b="1" dirty="0">
                <a:solidFill>
                  <a:srgbClr val="B0532F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한은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실무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책임자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: "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현재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시점에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국면을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실시간으로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단정하는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것이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맞는가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"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중앙은행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운영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요건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설명책임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과의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충돌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증명을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계속하는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대신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자산화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부품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재사용·논문화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전환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525517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380" b="1">
                <a:solidFill>
                  <a:srgbClr val="008A3E"/>
                </a:solidFill>
                <a:latin typeface="NanumSquare"/>
                <a:ea typeface="NanumSquare"/>
              </a:rPr>
              <a:t>이 연구가 남긴 자산 (이후 전부 재사용됨)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endParaRPr sz="1380" b="1">
              <a:solidFill>
                <a:srgbClr val="008A3E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"반등 국면에서 사전학습 모델이 강하다"는 발견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→ 이후 FM 검증·조기 슬롯 설계의 출발점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국면 신호(심리 저점 통과 등) → 설명 리포트 재료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'이산 국면 단정' 대신 '전망시계 조건화'라는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수용 가능한 프레임 발견 — 최종 구성의 뼈대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endParaRPr sz="1210" b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잠재 국면을 명시적으로 감지하는 대신, 국면 정보가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자연히 실리는 조건(전망 주차·일별 신호)으로 우회 —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"이 표본에서는 어떤 모형의 우위도 증명이 어렵다" — 그래서 평가의 축을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3407087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검정력 분석이 말해준 것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GDP는 분기 지표 — 1년에 관측 4개, 8년을 다 모아도 32개.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저표본에서 패턴을 찾아야 하는 과제의 구조적 어려움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주간 19발은 분기 내 강한 상관 —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유효 표본은 사실상 32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이 표본에서 6.2% 개선도 DM p=0.088 — 5% 문턱을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넘으려면 표본이 수 배 필요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한은의 자체 MCS: 비교 12개 모형 전원이 5% 신뢰집합에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잔류 — 독립적으로 같은 결론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endParaRPr sz="1210" b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380" b="1">
                <a:solidFill>
                  <a:srgbClr val="B0532F"/>
                </a:solidFill>
                <a:latin typeface="NanumSquare"/>
                <a:ea typeface="NanumSquare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285764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① </a:t>
            </a:r>
            <a:r>
              <a:rPr sz="1260" b="1" dirty="0" err="1">
                <a:solidFill>
                  <a:srgbClr val="262626"/>
                </a:solidFill>
                <a:latin typeface="NanumSquare"/>
                <a:ea typeface="NanumSquare"/>
              </a:rPr>
              <a:t>점추정</a:t>
            </a: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'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비열등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+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개선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방향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'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수위로만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주장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② </a:t>
            </a:r>
            <a:r>
              <a:rPr sz="1260" b="1" dirty="0" err="1">
                <a:solidFill>
                  <a:srgbClr val="262626"/>
                </a:solidFill>
                <a:latin typeface="NanumSquare"/>
                <a:ea typeface="NanumSquare"/>
              </a:rPr>
              <a:t>조건부</a:t>
            </a: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62626"/>
                </a:solidFill>
                <a:latin typeface="NanumSquare"/>
                <a:ea typeface="NanumSquare"/>
              </a:rPr>
              <a:t>가치</a:t>
            </a: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"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언제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무엇이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기여하는가"는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유의성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없이도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성립하는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기술적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(descriptive)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발견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③ </a:t>
            </a:r>
            <a:r>
              <a:rPr sz="1260" b="1" dirty="0" err="1">
                <a:solidFill>
                  <a:srgbClr val="262626"/>
                </a:solidFill>
                <a:latin typeface="NanumSquare"/>
                <a:ea typeface="NanumSquare"/>
              </a:rPr>
              <a:t>분포</a:t>
            </a: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예측구간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커버리지는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즉시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검증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가능한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축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 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컨포멀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보정으로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명목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80% →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실측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81~87%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달성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④ </a:t>
            </a:r>
            <a:r>
              <a:rPr sz="1260" b="1" dirty="0" err="1">
                <a:solidFill>
                  <a:srgbClr val="262626"/>
                </a:solidFill>
                <a:latin typeface="NanumSquare"/>
                <a:ea typeface="NanumSquare"/>
              </a:rPr>
              <a:t>방법론</a:t>
            </a:r>
            <a:r>
              <a:rPr sz="1260" b="1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검정력·선택편의·재현성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자체를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기여로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재정의가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이후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모든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산출물의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문법이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됐고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,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공동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논문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프레임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("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언제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가치를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더하는가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")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의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원형입니다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한은의 코드 개정에 당일 재검증으로 대응했습니다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37299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무슨 일이 있었나 (8월 초)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한은이 자체 ML 예측치의 단위 정합성 결함을 발견·개정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— 표준화값이 원단위와 혼합 채점되던 문제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종전 공식 기준 'DFM+XGBoost 0.765'가 무효화,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당사의 종전 기록·게이트 수치도 함께 무효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endParaRPr sz="1210" b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당사 대응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개정 코드 수신 당일 40여 구성 전면 재채점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신 기준선 확정: XGBoost 단독 0.750 —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"결합이 항상 낫다"던 종전 서사가 결함의 산물이었음을 확인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한은의 대규모 후보 탐색(911개)에는 선택편의 관점을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657" y="1744614"/>
            <a:ext cx="6749186" cy="31758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딥러닝은 조건부로 유효했습니다 — BIS 공개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64479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전수</a:t>
            </a:r>
            <a:r>
              <a:rPr sz="144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검증의</a:t>
            </a:r>
            <a:r>
              <a:rPr sz="144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결론</a:t>
            </a:r>
            <a:endParaRPr sz="1440" b="1" dirty="0">
              <a:solidFill>
                <a:srgbClr val="243447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언어모델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Claude·HCX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시계열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활용도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타진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가능성은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관찰됐으나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통계적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유의성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미확보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,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학습데이터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오염으로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실시간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공정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채점이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성립하지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않아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채택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제외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직접학습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신경망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(LSTM·NCDE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):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전멸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140행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소표본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사전학습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FM(Chronos-2·Moirai/BISTRO):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유효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—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단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'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어느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조건에서'가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갈림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조기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주차·반등기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한정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BIS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공개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거시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FM(BISTRO, WP1337)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확보해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동일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규약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직접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실측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한은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관심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질문에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원본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기준으로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답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핵심</a:t>
            </a:r>
            <a:r>
              <a:rPr sz="144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진단</a:t>
            </a:r>
            <a:r>
              <a:rPr sz="1440" b="1" dirty="0">
                <a:solidFill>
                  <a:srgbClr val="243447"/>
                </a:solidFill>
                <a:latin typeface="NanumSquare"/>
                <a:ea typeface="NanumSquare"/>
              </a:rPr>
              <a:t> — '</a:t>
            </a: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힌트</a:t>
            </a:r>
            <a:r>
              <a:rPr sz="144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440" b="1" dirty="0" err="1">
                <a:solidFill>
                  <a:srgbClr val="243447"/>
                </a:solidFill>
                <a:latin typeface="NanumSquare"/>
                <a:ea typeface="NanumSquare"/>
              </a:rPr>
              <a:t>흡수력</a:t>
            </a:r>
            <a:r>
              <a:rPr sz="1440" b="1" dirty="0">
                <a:solidFill>
                  <a:srgbClr val="243447"/>
                </a:solidFill>
                <a:latin typeface="NanumSquare"/>
                <a:ea typeface="NanumSquare"/>
              </a:rPr>
              <a:t>'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같은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일별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신호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주가·환율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를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줘도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활용도가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다름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: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Chronos-2 -3.4% vs BISTRO 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무이득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 (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절제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1" dirty="0" err="1">
                <a:solidFill>
                  <a:srgbClr val="262626"/>
                </a:solidFill>
                <a:latin typeface="NanumSquare"/>
                <a:ea typeface="NanumSquare"/>
              </a:rPr>
              <a:t>실험</a:t>
            </a:r>
            <a:r>
              <a:rPr sz="1210" b="1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원인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=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사전학습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채점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범위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차이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타깃만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vs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변량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주차별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오차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평탄성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한은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진단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원인을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규명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9755" y="1618488"/>
            <a:ext cx="6236208" cy="32516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한은이 제안한 적응학습을 당사가 먼저 실증했습니다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실험 (양 모델 동일 레시피, seed 3회)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학습 = 과거 빈티지 경로(당시 가용 정보 + 관측 플래그,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라벨은 실제 속보치), 연 1회 fresh 재적응, release-safe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적응 규모 = 전체 파라미터의 0.6% (LoRA rank 8)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endParaRPr sz="1210" b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결과 (3-seed 예측 평균)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BISTRO 0.596 → 0.560 (-6.0%) — 평탄성 부분 해소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Chronos-2 0.619 → 0.564 (-8.9%)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한은의 출력층 교체 실험(실패)과 대조 —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  "적응의 깊이"가 관건임을 규명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endParaRPr sz="1210" b="1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090" b="0">
                <a:solidFill>
                  <a:srgbClr val="6B6B6B"/>
                </a:solidFill>
                <a:latin typeface="NanumSquare"/>
                <a:ea typeface="NanumSquare"/>
              </a:rPr>
              <a:t>정직한 각주: BISTRO 쪽 seed 분산 큼(±0.028) — 단일 실행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090" b="0">
                <a:solidFill>
                  <a:srgbClr val="6B6B6B"/>
                </a:solidFill>
                <a:latin typeface="NanumSquare"/>
                <a:ea typeface="NanumSquare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862" y="1692983"/>
            <a:ext cx="6859829" cy="268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최종 구성 — 기준선 대비 -2.3%, 지금까지의 발견을 하나의 구성으로 정리했습니다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6766560" cy="324922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48035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380" b="1" dirty="0" err="1">
                <a:solidFill>
                  <a:srgbClr val="243447"/>
                </a:solidFill>
                <a:latin typeface="NanumSquare"/>
                <a:ea typeface="NanumSquare"/>
              </a:rPr>
              <a:t>최종</a:t>
            </a:r>
            <a:r>
              <a:rPr sz="138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380" b="1" dirty="0" err="1">
                <a:solidFill>
                  <a:srgbClr val="243447"/>
                </a:solidFill>
                <a:latin typeface="NanumSquare"/>
                <a:ea typeface="NanumSquare"/>
              </a:rPr>
              <a:t>운영</a:t>
            </a:r>
            <a:r>
              <a:rPr sz="138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380" b="1" dirty="0" err="1">
                <a:solidFill>
                  <a:srgbClr val="243447"/>
                </a:solidFill>
                <a:latin typeface="NanumSquare"/>
                <a:ea typeface="NanumSquare"/>
              </a:rPr>
              <a:t>권고</a:t>
            </a:r>
            <a:endParaRPr sz="1380" b="1" dirty="0">
              <a:solidFill>
                <a:srgbClr val="243447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기본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=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XGBoost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단독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한은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개정판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조기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6주(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지표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공백기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 = FM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결합으로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교대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·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적응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이력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12분기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미만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→ zero-shot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부품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· 12분기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이상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→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LoRA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적응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부품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(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임계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규칙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임계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12분기는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사전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등록값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—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초소형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적응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(3~7분기)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이</a:t>
            </a:r>
            <a:endParaRPr sz="1090" b="0" dirty="0">
              <a:solidFill>
                <a:srgbClr val="6B6B6B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코로나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구간에서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역효과임을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실측으로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확인한</a:t>
            </a:r>
            <a:r>
              <a:rPr sz="1090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1090" b="0" dirty="0" err="1">
                <a:solidFill>
                  <a:srgbClr val="6B6B6B"/>
                </a:solidFill>
                <a:latin typeface="NanumSquare"/>
                <a:ea typeface="NanumSquare"/>
              </a:rPr>
              <a:t>결과</a:t>
            </a:r>
            <a:endParaRPr sz="1090" b="0" dirty="0">
              <a:solidFill>
                <a:srgbClr val="6B6B6B"/>
              </a:solidFill>
              <a:latin typeface="NanumSquare"/>
              <a:ea typeface="NanumSquare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498079" y="4208931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59" y="4273480"/>
            <a:ext cx="4114800" cy="189737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380" b="1" dirty="0" err="1">
                <a:solidFill>
                  <a:srgbClr val="243447"/>
                </a:solidFill>
                <a:latin typeface="NanumSquare"/>
                <a:ea typeface="NanumSquare"/>
              </a:rPr>
              <a:t>수위</a:t>
            </a:r>
            <a:r>
              <a:rPr sz="1380" b="1" dirty="0">
                <a:solidFill>
                  <a:srgbClr val="243447"/>
                </a:solidFill>
                <a:latin typeface="NanumSquare"/>
                <a:ea typeface="NanumSquare"/>
              </a:rPr>
              <a:t> (</a:t>
            </a:r>
            <a:r>
              <a:rPr sz="1380" b="1" dirty="0" err="1">
                <a:solidFill>
                  <a:srgbClr val="243447"/>
                </a:solidFill>
                <a:latin typeface="NanumSquare"/>
                <a:ea typeface="NanumSquare"/>
              </a:rPr>
              <a:t>일관</a:t>
            </a:r>
            <a:r>
              <a:rPr sz="138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380" b="1" dirty="0" err="1">
                <a:solidFill>
                  <a:srgbClr val="243447"/>
                </a:solidFill>
                <a:latin typeface="NanumSquare"/>
                <a:ea typeface="NanumSquare"/>
              </a:rPr>
              <a:t>유지</a:t>
            </a:r>
            <a:r>
              <a:rPr sz="1380" b="1" dirty="0">
                <a:solidFill>
                  <a:srgbClr val="243447"/>
                </a:solidFill>
                <a:latin typeface="NanumSquare"/>
                <a:ea typeface="NanumSquare"/>
              </a:rPr>
              <a:t>)</a:t>
            </a: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-2.3%는 DM p=0.185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관례상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비유의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,</a:t>
            </a: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'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비열등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+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개선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방향'으로만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주장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단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,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여정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전체에서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가장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낮은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p·최다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승수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(18/32)</a:t>
            </a: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·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국면전환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v3(0.718)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참고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기록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—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성능은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더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좋으나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lnSpc>
                <a:spcPct val="150000"/>
              </a:lnSpc>
              <a:spcAft>
                <a:spcPts val="250"/>
              </a:spcAft>
            </a:pP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수용성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문제로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보류된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연구</a:t>
            </a:r>
            <a:r>
              <a:rPr sz="121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210" b="0" dirty="0" err="1">
                <a:solidFill>
                  <a:srgbClr val="262626"/>
                </a:solidFill>
                <a:latin typeface="NanumSquare"/>
                <a:ea typeface="NanumSquare"/>
              </a:rPr>
              <a:t>자산</a:t>
            </a:r>
            <a:endParaRPr sz="1210" b="0" dirty="0">
              <a:solidFill>
                <a:srgbClr val="262626"/>
              </a:solidFill>
              <a:latin typeface="NanumSquare"/>
              <a:ea typeface="NanumSquare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9  |  일하는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모든 협업을 GitHub 문서와 코드 리뷰로 진행했습니다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한은이 코드와 리포트를 커밋하면, 당사가 커밋 단위로 리뷰·재검증하고 재현 가능한 스크립트와 문서로 회신하는 비동기 협업 방식이었습니다. 고객 코드를 읽는 것이 요구사항 분석이었습니다.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이창훈 과장(한은)의 커밋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008A3E"/>
                </a:solidFill>
                <a:latin typeface="NanumSquare"/>
                <a:ea typeface="NanumSquare"/>
              </a:rPr>
              <a:t>당사의 응답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7984"/>
            <a:ext cx="1109167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226771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521208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6월~  빈티지 데이터셋·평가 기준 정비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60320"/>
            <a:ext cx="5257800" cy="56692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6B6B6B"/>
                </a:solidFill>
                <a:latin typeface="NanumSquare"/>
                <a:ea typeface="NanumSquare"/>
              </a:rPr>
              <a:t>주간 실시간 빈티지(73개 지표)·기준모형 예측·평가 그리드를 정비해 제공 — 협업의 공통 잣대를 한은이 먼저 명확히 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267712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265176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008A3E"/>
                </a:solidFill>
                <a:latin typeface="NanumSquare"/>
                <a:ea typeface="NanumSquare"/>
              </a:rPr>
              <a:t>그 잣대 위에 하네스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074920" cy="56692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262626"/>
                </a:solidFill>
                <a:latin typeface="NanumSquare"/>
                <a:ea typeface="NanumSquare"/>
              </a:rPr>
              <a:t>한은 제공 빈티지 데이터셋·전처리 코드를 그대로 재사용해 재현 채점 체계 구축 — 이후 모든 실험(양측)이 같은 잣대로 비교 가능해짐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36976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3236976"/>
            <a:ext cx="521208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8/4  "코드 수정 및 산출물 저장"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29584"/>
            <a:ext cx="5257800" cy="56692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6B6B6B"/>
                </a:solidFill>
                <a:latin typeface="NanumSquare"/>
                <a:ea typeface="NanumSquare"/>
              </a:rPr>
              <a:t>예측단위 개정(schema v2) + 구버전 산출물 차단 검증 로직 — 기준점을 스스로 바로잡음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36976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3236976"/>
            <a:ext cx="265176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008A3E"/>
                </a:solidFill>
                <a:latin typeface="NanumSquare"/>
                <a:ea typeface="NanumSquare"/>
              </a:rPr>
              <a:t>당일 재검증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9584"/>
            <a:ext cx="5074920" cy="56692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262626"/>
                </a:solidFill>
                <a:latin typeface="NanumSquare"/>
                <a:ea typeface="NanumSquare"/>
              </a:rPr>
              <a:t>40여 구성 전면 재채점 → 신 기준선(XGBoost 단독) 확정, 당사 종전 기록도 함께 폐기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06240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4206240"/>
            <a:ext cx="521208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8/25  "Add BISTRO nowcasting experiments..."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98848"/>
            <a:ext cx="5257800" cy="56692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6B6B6B"/>
                </a:solidFill>
                <a:latin typeface="NanumSquare"/>
                <a:ea typeface="NanumSquare"/>
              </a:rPr>
              <a:t>실험 코드 16종 + 테스트 + 회의자료 3.7만 줄 — 코드에서 실험 설계·한계까지 독해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206240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0528" y="4206240"/>
            <a:ext cx="265176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008A3E"/>
                </a:solidFill>
                <a:latin typeface="NanumSquare"/>
                <a:ea typeface="NanumSquare"/>
              </a:rPr>
              <a:t>익일 진단 재현 → 3일 내 첫 실증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498848"/>
            <a:ext cx="5074920" cy="56692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262626"/>
                </a:solidFill>
                <a:latin typeface="NanumSquare"/>
                <a:ea typeface="NanumSquare"/>
              </a:rPr>
              <a:t>주차별 흡수력 진단 재현·원인 규명 → 그들이 제안만 한 적응학습을 LoRA로 첫 실측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175504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5175504"/>
            <a:ext cx="521208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(수신 확인도 커밋으로)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468112"/>
            <a:ext cx="5257800" cy="56692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6B6B6B"/>
                </a:solidFill>
                <a:latin typeface="NanumSquare"/>
                <a:ea typeface="NanumSquare"/>
              </a:rPr>
              <a:t>당사 종합리포트 PDF를 한은이 자기 저장소에 커밋 — 산출물이 고객의 공식 기록에 편입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517550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10528" y="5175504"/>
            <a:ext cx="265176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008A3E"/>
                </a:solidFill>
                <a:latin typeface="NanumSquare"/>
                <a:ea typeface="NanumSquare"/>
              </a:rPr>
              <a:t>산출물 = 코드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468112"/>
            <a:ext cx="5074920" cy="56692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262626"/>
                </a:solidFill>
                <a:latin typeface="NanumSquare"/>
                <a:ea typeface="NanumSquare"/>
              </a:rPr>
              <a:t>실험 스크립트 50여 종을 결과·교훈 주석과 함께 커밋 — 실패(기각 실험)도 재현 가능한 기록으로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80176"/>
            <a:ext cx="11091672" cy="49377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5980176"/>
            <a:ext cx="41148" cy="493776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6035040"/>
            <a:ext cx="10698480" cy="42062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NanumSquare"/>
                <a:ea typeface="NanumSquare"/>
              </a:rPr>
              <a:t>모든 과정이 커밋 기록으로 남아 언제든 재현하고 감사할 수 있습니다 — 실험 코드의 재현성도 서로 확인하며 진행했습니다.</a:t>
            </a:r>
          </a:p>
          <a:p>
            <a:pPr algn="l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(한은의 개정 수치를 당사가 재계산으로 일치 확인, 당사의 조기 결합 아이디어를 한은이 자체 탐색으로 재현)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667777"/>
            <a:ext cx="10607040" cy="15991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주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: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당사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저장소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커밋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90여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건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(6~8월) ·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한은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저장소는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pull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전용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(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푸시하지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않음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) —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산출물은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문서·PDF로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전달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10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검증 파트너에서 공동 연구 파트너로 — 협업의 성격이 달라졌습니다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25880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9202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고객 조직 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25880"/>
            <a:ext cx="8778240" cy="600677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디지털혁신실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(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협업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파트너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)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딥러닝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기반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나우캐스팅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시스템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개선을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,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경제모형실은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전문가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판단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기반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전망을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맡는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구도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endParaRPr lang="en-US" sz="115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경제모형실이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최근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산학협력으로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BISTRO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시계열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모델을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연구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중이어서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두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조직은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경쟁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관계로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보임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. </a:t>
            </a:r>
            <a:endParaRPr lang="en-US" sz="1150" b="0" dirty="0">
              <a:solidFill>
                <a:srgbClr val="262626"/>
              </a:solidFill>
              <a:latin typeface="NanumSquare"/>
              <a:ea typeface="NanumSquare"/>
            </a:endParaRPr>
          </a:p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당사의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BISTRO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원본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실측·적응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실증은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파트너가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이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지형에서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기술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근거를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갖게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하는</a:t>
            </a:r>
            <a:r>
              <a:rPr sz="1150" b="0" dirty="0">
                <a:solidFill>
                  <a:srgbClr val="262626"/>
                </a:solidFill>
                <a:latin typeface="NanumSquare"/>
                <a:ea typeface="NanumSquare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NanumSquare"/>
                <a:ea typeface="NanumSquare"/>
              </a:rPr>
              <a:t>위치</a:t>
            </a:r>
            <a:endParaRPr sz="1150" b="0" dirty="0">
              <a:solidFill>
                <a:srgbClr val="262626"/>
              </a:solidFill>
              <a:latin typeface="NanumSquare"/>
              <a:ea typeface="NanumSquare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229514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295144"/>
            <a:ext cx="19202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협업 관계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295144"/>
            <a:ext cx="8778240" cy="8229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64408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19202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기술 자산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264408"/>
            <a:ext cx="8778240" cy="8229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3367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233672"/>
            <a:ext cx="19202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공동 논문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233672"/>
            <a:ext cx="8778240" cy="8229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02936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202936"/>
            <a:ext cx="1920240" cy="3657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다음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202936"/>
            <a:ext cx="8778240" cy="8229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99632"/>
            <a:ext cx="10972800" cy="431913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FDE로서의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3개월 —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출발점이었던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BISTRO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해석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질의에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원본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실측과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적응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개선으로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답했습니다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. </a:t>
            </a:r>
            <a:endParaRPr lang="en-US" sz="1260" b="1" dirty="0">
              <a:solidFill>
                <a:srgbClr val="243447"/>
              </a:solidFill>
              <a:latin typeface="NanumSquare"/>
              <a:ea typeface="NanumSquare"/>
            </a:endParaRPr>
          </a:p>
          <a:p>
            <a:pPr algn="l">
              <a:spcAft>
                <a:spcPts val="200"/>
              </a:spcAft>
            </a:pP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코드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개정에는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당일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재검증으로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,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진단에는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원인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규명으로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,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제안에는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첫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실증으로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 </a:t>
            </a:r>
            <a:r>
              <a:rPr sz="1260" b="1" dirty="0" err="1">
                <a:solidFill>
                  <a:srgbClr val="243447"/>
                </a:solidFill>
                <a:latin typeface="NanumSquare"/>
                <a:ea typeface="NanumSquare"/>
              </a:rPr>
              <a:t>대응했습니다</a:t>
            </a:r>
            <a:r>
              <a:rPr sz="1260" b="1" dirty="0">
                <a:solidFill>
                  <a:srgbClr val="243447"/>
                </a:solidFill>
                <a:latin typeface="NanumSquare"/>
                <a:ea typeface="NanumSquare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678536"/>
            <a:ext cx="10607040" cy="15991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주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: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공통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규약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: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한은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실시간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빈티지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·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속보치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기준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·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전망주차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w[-19,-1]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평균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RMSE · 2018Q1~2025Q4(32개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분기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).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낮을수록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 </a:t>
            </a:r>
            <a:r>
              <a:rPr sz="919" b="0" dirty="0" err="1">
                <a:solidFill>
                  <a:srgbClr val="6B6B6B"/>
                </a:solidFill>
                <a:latin typeface="NanumSquare"/>
                <a:ea typeface="NanumSquare"/>
              </a:rPr>
              <a:t>정확</a:t>
            </a:r>
            <a:r>
              <a:rPr sz="919" b="0" dirty="0">
                <a:solidFill>
                  <a:srgbClr val="6B6B6B"/>
                </a:solidFill>
                <a:latin typeface="NanumSquare"/>
                <a:ea typeface="NanumSquare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2935</Words>
  <Application>Microsoft Macintosh PowerPoint</Application>
  <PresentationFormat>와이드스크린</PresentationFormat>
  <Paragraphs>233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NanumSquare</vt:lpstr>
      <vt:lpstr>NanumSquare Neo Heavy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김용민</cp:lastModifiedBy>
  <cp:revision>3</cp:revision>
  <dcterms:created xsi:type="dcterms:W3CDTF">2013-01-27T09:14:16Z</dcterms:created>
  <dcterms:modified xsi:type="dcterms:W3CDTF">2026-09-01T03:47:10Z</dcterms:modified>
  <cp:category/>
</cp:coreProperties>
</file>